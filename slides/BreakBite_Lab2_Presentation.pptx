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hyperlink" Target="https://github.com/baonv0817/PRM323-Lab2-Group2"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4.png"/><Relationship Id="rId4" Type="http://schemas.openxmlformats.org/officeDocument/2006/relationships/image" Target="../media/image3.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png"/><Relationship Id="rId8" Type="http://schemas.openxmlformats.org/officeDocument/2006/relationships/image" Target="../media/image17.png"/><Relationship Id="rId9" Type="http://schemas.openxmlformats.org/officeDocument/2006/relationships/image" Target="../media/image2.png"/><Relationship Id="rId10" Type="http://schemas.openxmlformats.org/officeDocument/2006/relationships/image" Target="../media/image1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4.png"/><Relationship Id="rId4" Type="http://schemas.openxmlformats.org/officeDocument/2006/relationships/image" Target="../media/image22.png"/><Relationship Id="rId5" Type="http://schemas.openxmlformats.org/officeDocument/2006/relationships/image" Target="../media/image19.png"/><Relationship Id="rId6" Type="http://schemas.openxmlformats.org/officeDocument/2006/relationships/image" Target="../media/image11.png"/><Relationship Id="rId7" Type="http://schemas.openxmlformats.org/officeDocument/2006/relationships/image" Target="../media/image6.png"/><Relationship Id="rId8"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3.png"/><Relationship Id="rId4" Type="http://schemas.openxmlformats.org/officeDocument/2006/relationships/image" Target="../media/image24.png"/><Relationship Id="rId5" Type="http://schemas.openxmlformats.org/officeDocument/2006/relationships/image" Target="../media/image1.png"/><Relationship Id="rId6" Type="http://schemas.openxmlformats.org/officeDocument/2006/relationships/image" Target="../media/image2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8F5"/>
        </a:solidFill>
        <a:effectLst/>
      </p:bgPr>
    </p:bg>
    <p:spTree>
      <p:nvGrpSpPr>
        <p:cNvPr id="1" name=""/>
        <p:cNvGrpSpPr/>
        <p:nvPr/>
      </p:nvGrpSpPr>
      <p:grpSpPr/>
      <p:sp>
        <p:nvSpPr>
          <p:cNvPr id="2" name="Oval 1"/>
          <p:cNvSpPr/>
          <p:nvPr/>
        </p:nvSpPr>
        <p:spPr>
          <a:xfrm>
            <a:off x="6812280" y="685800"/>
            <a:ext cx="5577840" cy="5577840"/>
          </a:xfrm>
          <a:prstGeom prst="ellipse">
            <a:avLst/>
          </a:prstGeom>
          <a:solidFill>
            <a:srgbClr val="FFF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086600" y="2331720"/>
            <a:ext cx="1522476" cy="3383280"/>
          </a:xfrm>
          <a:prstGeom prst="roundRect">
            <a:avLst>
              <a:gd name="adj" fmla="val 7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mage.png"/>
          <p:cNvPicPr>
            <a:picLocks noChangeAspect="1"/>
          </p:cNvPicPr>
          <p:nvPr/>
        </p:nvPicPr>
        <p:blipFill>
          <a:blip r:embed="rId2"/>
          <a:stretch>
            <a:fillRect/>
          </a:stretch>
        </p:blipFill>
        <p:spPr>
          <a:xfrm>
            <a:off x="7086600" y="2331720"/>
            <a:ext cx="1522476" cy="3383280"/>
          </a:xfrm>
          <a:prstGeom prst="rect">
            <a:avLst/>
          </a:prstGeom>
        </p:spPr>
      </p:pic>
      <p:sp>
        <p:nvSpPr>
          <p:cNvPr id="5" name="Rounded Rectangle 4"/>
          <p:cNvSpPr/>
          <p:nvPr/>
        </p:nvSpPr>
        <p:spPr>
          <a:xfrm>
            <a:off x="10058400" y="2331720"/>
            <a:ext cx="1522476" cy="3383280"/>
          </a:xfrm>
          <a:prstGeom prst="roundRect">
            <a:avLst>
              <a:gd name="adj" fmla="val 7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3"/>
          <a:stretch>
            <a:fillRect/>
          </a:stretch>
        </p:blipFill>
        <p:spPr>
          <a:xfrm>
            <a:off x="10058400" y="2331720"/>
            <a:ext cx="1522476" cy="3383280"/>
          </a:xfrm>
          <a:prstGeom prst="rect">
            <a:avLst/>
          </a:prstGeom>
        </p:spPr>
      </p:pic>
      <p:sp>
        <p:nvSpPr>
          <p:cNvPr id="7" name="Rounded Rectangle 6"/>
          <p:cNvSpPr/>
          <p:nvPr/>
        </p:nvSpPr>
        <p:spPr>
          <a:xfrm>
            <a:off x="8549640" y="1234440"/>
            <a:ext cx="1892807" cy="4206240"/>
          </a:xfrm>
          <a:prstGeom prst="roundRect">
            <a:avLst>
              <a:gd name="adj" fmla="val 7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4"/>
          <a:stretch>
            <a:fillRect/>
          </a:stretch>
        </p:blipFill>
        <p:spPr>
          <a:xfrm>
            <a:off x="8549640" y="1234440"/>
            <a:ext cx="1892807" cy="4206240"/>
          </a:xfrm>
          <a:prstGeom prst="rect">
            <a:avLst/>
          </a:prstGeom>
        </p:spPr>
      </p:pic>
      <p:pic>
        <p:nvPicPr>
          <p:cNvPr id="9" name="Picture 8" descr="image.png"/>
          <p:cNvPicPr>
            <a:picLocks noChangeAspect="1"/>
          </p:cNvPicPr>
          <p:nvPr/>
        </p:nvPicPr>
        <p:blipFill>
          <a:blip r:embed="rId5"/>
          <a:stretch>
            <a:fillRect/>
          </a:stretch>
        </p:blipFill>
        <p:spPr>
          <a:xfrm>
            <a:off x="731520" y="731520"/>
            <a:ext cx="822960" cy="822960"/>
          </a:xfrm>
          <a:prstGeom prst="rect">
            <a:avLst/>
          </a:prstGeom>
        </p:spPr>
      </p:pic>
      <p:sp>
        <p:nvSpPr>
          <p:cNvPr id="10" name="TextBox 9"/>
          <p:cNvSpPr txBox="1"/>
          <p:nvPr/>
        </p:nvSpPr>
        <p:spPr>
          <a:xfrm>
            <a:off x="731520" y="1691640"/>
            <a:ext cx="6035040" cy="1188720"/>
          </a:xfrm>
          <a:prstGeom prst="rect">
            <a:avLst/>
          </a:prstGeom>
          <a:noFill/>
        </p:spPr>
        <p:txBody>
          <a:bodyPr wrap="square" lIns="0" rIns="0" tIns="0" bIns="0" anchor="t">
            <a:spAutoFit/>
          </a:bodyPr>
          <a:lstStyle/>
          <a:p>
            <a:pPr algn="l">
              <a:spcAft>
                <a:spcPts val="300"/>
              </a:spcAft>
            </a:pPr>
            <a:r>
              <a:rPr sz="7200" b="1">
                <a:solidFill>
                  <a:srgbClr val="622B14"/>
                </a:solidFill>
                <a:latin typeface="Trebuchet MS"/>
              </a:rPr>
              <a:t>BreakBite</a:t>
            </a:r>
          </a:p>
        </p:txBody>
      </p:sp>
      <p:sp>
        <p:nvSpPr>
          <p:cNvPr id="11" name="TextBox 10"/>
          <p:cNvSpPr txBox="1"/>
          <p:nvPr/>
        </p:nvSpPr>
        <p:spPr>
          <a:xfrm>
            <a:off x="731520" y="2926080"/>
            <a:ext cx="5852160" cy="548640"/>
          </a:xfrm>
          <a:prstGeom prst="rect">
            <a:avLst/>
          </a:prstGeom>
          <a:noFill/>
        </p:spPr>
        <p:txBody>
          <a:bodyPr wrap="square" lIns="0" rIns="0" tIns="0" bIns="0" anchor="t">
            <a:spAutoFit/>
          </a:bodyPr>
          <a:lstStyle/>
          <a:p>
            <a:pPr algn="l">
              <a:spcAft>
                <a:spcPts val="300"/>
              </a:spcAft>
            </a:pPr>
            <a:r>
              <a:rPr sz="2800" b="1">
                <a:solidFill>
                  <a:srgbClr val="B45309"/>
                </a:solidFill>
                <a:latin typeface="Trebuchet MS"/>
              </a:rPr>
              <a:t>Đặt món trước, nhận tại quầy.</a:t>
            </a:r>
          </a:p>
        </p:txBody>
      </p:sp>
      <p:sp>
        <p:nvSpPr>
          <p:cNvPr id="12" name="TextBox 11"/>
          <p:cNvSpPr txBox="1"/>
          <p:nvPr/>
        </p:nvSpPr>
        <p:spPr>
          <a:xfrm>
            <a:off x="731520" y="3520440"/>
            <a:ext cx="5852160" cy="731520"/>
          </a:xfrm>
          <a:prstGeom prst="rect">
            <a:avLst/>
          </a:prstGeom>
          <a:noFill/>
        </p:spPr>
        <p:txBody>
          <a:bodyPr wrap="square" lIns="0" rIns="0" tIns="0" bIns="0" anchor="t">
            <a:spAutoFit/>
          </a:bodyPr>
          <a:lstStyle/>
          <a:p>
            <a:pPr algn="l">
              <a:spcAft>
                <a:spcPts val="300"/>
              </a:spcAft>
            </a:pPr>
            <a:r>
              <a:rPr sz="1800" b="0">
                <a:solidFill>
                  <a:srgbClr val="6B5F55"/>
                </a:solidFill>
                <a:latin typeface="Calibri"/>
              </a:rPr>
              <a:t>Ăn kịp trong 15 phút giữa hai slot, không phải xếp hàng.</a:t>
            </a:r>
          </a:p>
        </p:txBody>
      </p:sp>
      <p:sp>
        <p:nvSpPr>
          <p:cNvPr id="13" name="Rounded Rectangle 12"/>
          <p:cNvSpPr/>
          <p:nvPr/>
        </p:nvSpPr>
        <p:spPr>
          <a:xfrm>
            <a:off x="731520" y="4343400"/>
            <a:ext cx="2148840" cy="365760"/>
          </a:xfrm>
          <a:prstGeom prst="roundRect">
            <a:avLst>
              <a:gd name="adj" fmla="val 50000"/>
            </a:avLst>
          </a:prstGeom>
          <a:solidFill>
            <a:srgbClr val="FFF1DE"/>
          </a:solidFill>
          <a:ln w="9525">
            <a:solidFill>
              <a:srgbClr val="F69D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343400"/>
            <a:ext cx="2148840" cy="365760"/>
          </a:xfrm>
          <a:prstGeom prst="rect">
            <a:avLst/>
          </a:prstGeom>
          <a:noFill/>
        </p:spPr>
        <p:txBody>
          <a:bodyPr wrap="square" lIns="0" rIns="0" tIns="0" bIns="0" anchor="ctr">
            <a:spAutoFit/>
          </a:bodyPr>
          <a:lstStyle/>
          <a:p>
            <a:pPr algn="ctr">
              <a:spcAft>
                <a:spcPts val="300"/>
              </a:spcAft>
            </a:pPr>
            <a:r>
              <a:rPr sz="1300" b="1">
                <a:solidFill>
                  <a:srgbClr val="B45309"/>
                </a:solidFill>
                <a:latin typeface="Calibri"/>
              </a:rPr>
              <a:t>App khách · 30 màn</a:t>
            </a:r>
          </a:p>
        </p:txBody>
      </p:sp>
      <p:sp>
        <p:nvSpPr>
          <p:cNvPr id="15" name="Rounded Rectangle 14"/>
          <p:cNvSpPr/>
          <p:nvPr/>
        </p:nvSpPr>
        <p:spPr>
          <a:xfrm>
            <a:off x="3017520" y="4343400"/>
            <a:ext cx="2377440" cy="365760"/>
          </a:xfrm>
          <a:prstGeom prst="roundRect">
            <a:avLst>
              <a:gd name="adj" fmla="val 50000"/>
            </a:avLst>
          </a:prstGeom>
          <a:solidFill>
            <a:srgbClr val="FFF1DE"/>
          </a:solidFill>
          <a:ln w="9525">
            <a:solidFill>
              <a:srgbClr val="F69D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017520" y="4343400"/>
            <a:ext cx="2377440" cy="365760"/>
          </a:xfrm>
          <a:prstGeom prst="rect">
            <a:avLst/>
          </a:prstGeom>
          <a:noFill/>
        </p:spPr>
        <p:txBody>
          <a:bodyPr wrap="square" lIns="0" rIns="0" tIns="0" bIns="0" anchor="ctr">
            <a:spAutoFit/>
          </a:bodyPr>
          <a:lstStyle/>
          <a:p>
            <a:pPr algn="ctr">
              <a:spcAft>
                <a:spcPts val="300"/>
              </a:spcAft>
            </a:pPr>
            <a:r>
              <a:rPr sz="1300" b="1">
                <a:solidFill>
                  <a:srgbClr val="B45309"/>
                </a:solidFill>
                <a:latin typeface="Calibri"/>
              </a:rPr>
              <a:t>App người bán · 15 màn</a:t>
            </a:r>
          </a:p>
        </p:txBody>
      </p:sp>
      <p:sp>
        <p:nvSpPr>
          <p:cNvPr id="17" name="TextBox 16"/>
          <p:cNvSpPr txBox="1"/>
          <p:nvPr/>
        </p:nvSpPr>
        <p:spPr>
          <a:xfrm>
            <a:off x="731520" y="4983480"/>
            <a:ext cx="5943600" cy="1371600"/>
          </a:xfrm>
          <a:prstGeom prst="rect">
            <a:avLst/>
          </a:prstGeom>
          <a:noFill/>
        </p:spPr>
        <p:txBody>
          <a:bodyPr wrap="square" lIns="0" rIns="0" tIns="0" bIns="0" anchor="t">
            <a:spAutoFit/>
          </a:bodyPr>
          <a:lstStyle/>
          <a:p>
            <a:pPr algn="l">
              <a:spcAft>
                <a:spcPts val="300"/>
              </a:spcAft>
            </a:pPr>
            <a:r>
              <a:rPr sz="1400" b="1">
                <a:solidFill>
                  <a:srgbClr val="622B14"/>
                </a:solidFill>
                <a:latin typeface="Calibri"/>
              </a:rPr>
              <a:t>PRM323 · Lab 2 · Nhóm 2 · SE1919</a:t>
            </a:r>
          </a:p>
          <a:p>
            <a:pPr algn="l">
              <a:spcAft>
                <a:spcPts val="300"/>
              </a:spcAft>
            </a:pPr>
            <a:r>
              <a:rPr sz="1100" b="0">
                <a:solidFill>
                  <a:srgbClr val="6B5F55"/>
                </a:solidFill>
                <a:latin typeface="Calibri"/>
              </a:rPr>
              <a:t>Nguyễn Viết Bảo (SE183398) · Đỗ Hoàng Gia Bảo (SE193119) · Nguyễn Quốc Hoàng Pháp (SE190175) · Nguyễn Hoàng An (SE193905) · Nguyễn Thành Danh (SE193274)</a:t>
            </a:r>
          </a:p>
        </p:txBody>
      </p:sp>
      <p:sp>
        <p:nvSpPr>
          <p:cNvPr id="18" name="TextBox 17"/>
          <p:cNvSpPr txBox="1"/>
          <p:nvPr/>
        </p:nvSpPr>
        <p:spPr>
          <a:xfrm>
            <a:off x="731520" y="5989320"/>
            <a:ext cx="5943600" cy="274320"/>
          </a:xfrm>
          <a:prstGeom prst="rect">
            <a:avLst/>
          </a:prstGeom>
          <a:noFill/>
        </p:spPr>
        <p:txBody>
          <a:bodyPr wrap="square" lIns="0" rIns="0" tIns="0" bIns="0" anchor="t">
            <a:spAutoFit/>
          </a:bodyPr>
          <a:lstStyle/>
          <a:p>
            <a:pPr algn="l">
              <a:spcAft>
                <a:spcPts val="300"/>
              </a:spcAft>
            </a:pPr>
            <a:r>
              <a:rPr sz="1100" b="0">
                <a:solidFill>
                  <a:srgbClr val="B45309"/>
                </a:solidFill>
                <a:latin typeface="Calibri"/>
                <a:hlinkClick r:id="rId6"/>
              </a:rPr>
              <a:t>GitHub: github.com/baonv0817/PRM323-Lab2-Group2   ·   Figma: mở file thiết kế</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8F5"/>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548640" y="384048"/>
            <a:ext cx="566928" cy="566928"/>
          </a:xfrm>
          <a:prstGeom prst="rect">
            <a:avLst/>
          </a:prstGeom>
        </p:spPr>
      </p:pic>
      <p:sp>
        <p:nvSpPr>
          <p:cNvPr id="3" name="TextBox 2"/>
          <p:cNvSpPr txBox="1"/>
          <p:nvPr/>
        </p:nvSpPr>
        <p:spPr>
          <a:xfrm>
            <a:off x="1280160" y="329184"/>
            <a:ext cx="10241280" cy="548640"/>
          </a:xfrm>
          <a:prstGeom prst="rect">
            <a:avLst/>
          </a:prstGeom>
          <a:noFill/>
        </p:spPr>
        <p:txBody>
          <a:bodyPr wrap="square" lIns="0" rIns="0" tIns="0" bIns="0" anchor="ctr">
            <a:spAutoFit/>
          </a:bodyPr>
          <a:lstStyle/>
          <a:p>
            <a:pPr algn="l">
              <a:spcAft>
                <a:spcPts val="300"/>
              </a:spcAft>
            </a:pPr>
            <a:r>
              <a:rPr sz="2800" b="1">
                <a:solidFill>
                  <a:srgbClr val="622B14"/>
                </a:solidFill>
                <a:latin typeface="Trebuchet MS"/>
              </a:rPr>
              <a:t>Vấn đề và người dùng</a:t>
            </a:r>
          </a:p>
        </p:txBody>
      </p:sp>
      <p:sp>
        <p:nvSpPr>
          <p:cNvPr id="4" name="TextBox 3"/>
          <p:cNvSpPr txBox="1"/>
          <p:nvPr/>
        </p:nvSpPr>
        <p:spPr>
          <a:xfrm>
            <a:off x="1280160" y="868680"/>
            <a:ext cx="10241280" cy="320040"/>
          </a:xfrm>
          <a:prstGeom prst="rect">
            <a:avLst/>
          </a:prstGeom>
          <a:noFill/>
        </p:spPr>
        <p:txBody>
          <a:bodyPr wrap="square" lIns="0" rIns="0" tIns="0" bIns="0" anchor="t">
            <a:spAutoFit/>
          </a:bodyPr>
          <a:lstStyle/>
          <a:p>
            <a:pPr algn="l">
              <a:spcAft>
                <a:spcPts val="300"/>
              </a:spcAft>
            </a:pPr>
            <a:r>
              <a:rPr sz="1400" b="0">
                <a:solidFill>
                  <a:srgbClr val="6B5F55"/>
                </a:solidFill>
                <a:latin typeface="Calibri"/>
              </a:rPr>
              <a:t>Sinh viên chỉ có 15 phút giữa hai slot</a:t>
            </a:r>
          </a:p>
        </p:txBody>
      </p:sp>
      <p:sp>
        <p:nvSpPr>
          <p:cNvPr id="5" name="Rounded Rectangle 4"/>
          <p:cNvSpPr/>
          <p:nvPr/>
        </p:nvSpPr>
        <p:spPr>
          <a:xfrm>
            <a:off x="1280160" y="1207008"/>
            <a:ext cx="822960" cy="45720"/>
          </a:xfrm>
          <a:prstGeom prst="roundRect">
            <a:avLst>
              <a:gd name="adj" fmla="val 50000"/>
            </a:avLst>
          </a:prstGeom>
          <a:solidFill>
            <a:srgbClr val="F69D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28232"/>
            <a:ext cx="8686800" cy="228600"/>
          </a:xfrm>
          <a:prstGeom prst="rect">
            <a:avLst/>
          </a:prstGeom>
          <a:noFill/>
        </p:spPr>
        <p:txBody>
          <a:bodyPr wrap="square" lIns="0" rIns="0" tIns="0" bIns="0" anchor="t">
            <a:spAutoFit/>
          </a:bodyPr>
          <a:lstStyle/>
          <a:p>
            <a:pPr algn="l">
              <a:spcAft>
                <a:spcPts val="300"/>
              </a:spcAft>
            </a:pPr>
            <a:r>
              <a:rPr sz="1000" b="0">
                <a:solidFill>
                  <a:srgbClr val="6B5F55"/>
                </a:solidFill>
                <a:latin typeface="Calibri"/>
              </a:rPr>
              <a:t>Minh chứng: ux/p0-problem-framing.md · ux/persona.md</a:t>
            </a:r>
          </a:p>
        </p:txBody>
      </p:sp>
      <p:sp>
        <p:nvSpPr>
          <p:cNvPr id="7" name="TextBox 6"/>
          <p:cNvSpPr txBox="1"/>
          <p:nvPr/>
        </p:nvSpPr>
        <p:spPr>
          <a:xfrm>
            <a:off x="9692640" y="6428232"/>
            <a:ext cx="1920240" cy="228600"/>
          </a:xfrm>
          <a:prstGeom prst="rect">
            <a:avLst/>
          </a:prstGeom>
          <a:noFill/>
        </p:spPr>
        <p:txBody>
          <a:bodyPr wrap="square" lIns="0" rIns="0" tIns="0" bIns="0" anchor="t">
            <a:spAutoFit/>
          </a:bodyPr>
          <a:lstStyle/>
          <a:p>
            <a:pPr algn="r">
              <a:spcAft>
                <a:spcPts val="300"/>
              </a:spcAft>
            </a:pPr>
            <a:r>
              <a:rPr sz="1000" b="0">
                <a:solidFill>
                  <a:srgbClr val="6B5F55"/>
                </a:solidFill>
                <a:latin typeface="Calibri"/>
              </a:rPr>
              <a:t>BreakBite · 2 / 16</a:t>
            </a:r>
          </a:p>
        </p:txBody>
      </p:sp>
      <p:sp>
        <p:nvSpPr>
          <p:cNvPr id="8" name="Rounded Rectangle 7"/>
          <p:cNvSpPr/>
          <p:nvPr/>
        </p:nvSpPr>
        <p:spPr>
          <a:xfrm>
            <a:off x="548640" y="1463040"/>
            <a:ext cx="6858000" cy="1737360"/>
          </a:xfrm>
          <a:prstGeom prst="roundRect">
            <a:avLst>
              <a:gd name="adj" fmla="val 4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600200"/>
            <a:ext cx="6400800" cy="1554480"/>
          </a:xfrm>
          <a:prstGeom prst="rect">
            <a:avLst/>
          </a:prstGeom>
          <a:noFill/>
        </p:spPr>
        <p:txBody>
          <a:bodyPr wrap="square" lIns="0" rIns="0" tIns="0" bIns="0" anchor="t">
            <a:spAutoFit/>
          </a:bodyPr>
          <a:lstStyle/>
          <a:p>
            <a:pPr algn="l">
              <a:spcAft>
                <a:spcPts val="600"/>
              </a:spcAft>
            </a:pPr>
            <a:r>
              <a:rPr sz="1100" b="1">
                <a:solidFill>
                  <a:srgbClr val="6B5F55"/>
                </a:solidFill>
                <a:latin typeface="Calibri"/>
              </a:rPr>
              <a:t>VẤN ĐỀ</a:t>
            </a:r>
          </a:p>
          <a:p>
            <a:pPr algn="l">
              <a:spcAft>
                <a:spcPts val="600"/>
              </a:spcAft>
            </a:pPr>
            <a:r>
              <a:rPr sz="1700" b="0">
                <a:solidFill>
                  <a:srgbClr val="622B14"/>
                </a:solidFill>
                <a:latin typeface="Calibri"/>
              </a:rPr>
              <a:t>Sinh viên có lịch học dày chỉ có khoảng 15 phút giữa hai slot, nhưng hàng chờ căn tin dồn đúng giờ nghỉ, nên họ bỏ bữa hoặc vào lớp trễ.</a:t>
            </a:r>
          </a:p>
          <a:p>
            <a:pPr algn="l">
              <a:spcAft>
                <a:spcPts val="600"/>
              </a:spcAft>
            </a:pPr>
            <a:r>
              <a:rPr sz="1400" b="1">
                <a:solidFill>
                  <a:srgbClr val="B45309"/>
                </a:solidFill>
                <a:latin typeface="Calibri"/>
              </a:rPr>
              <a:t>Làm sao để sinh viên có đồ ăn trong giờ nghỉ ngắn mà không phải xếp hàng?</a:t>
            </a:r>
          </a:p>
        </p:txBody>
      </p:sp>
      <p:sp>
        <p:nvSpPr>
          <p:cNvPr id="10" name="Rounded Rectangle 9"/>
          <p:cNvSpPr/>
          <p:nvPr/>
        </p:nvSpPr>
        <p:spPr>
          <a:xfrm>
            <a:off x="548640" y="3383280"/>
            <a:ext cx="3383280" cy="1234440"/>
          </a:xfrm>
          <a:prstGeom prst="roundRect">
            <a:avLst>
              <a:gd name="adj" fmla="val 4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age.png"/>
          <p:cNvPicPr>
            <a:picLocks noChangeAspect="1"/>
          </p:cNvPicPr>
          <p:nvPr/>
        </p:nvPicPr>
        <p:blipFill>
          <a:blip r:embed="rId2"/>
          <a:stretch>
            <a:fillRect/>
          </a:stretch>
        </p:blipFill>
        <p:spPr>
          <a:xfrm>
            <a:off x="731520" y="3566160"/>
            <a:ext cx="502920" cy="502920"/>
          </a:xfrm>
          <a:prstGeom prst="rect">
            <a:avLst/>
          </a:prstGeom>
        </p:spPr>
      </p:pic>
      <p:sp>
        <p:nvSpPr>
          <p:cNvPr id="12" name="TextBox 11"/>
          <p:cNvSpPr txBox="1"/>
          <p:nvPr/>
        </p:nvSpPr>
        <p:spPr>
          <a:xfrm>
            <a:off x="1371600" y="3566160"/>
            <a:ext cx="2423160" cy="1005840"/>
          </a:xfrm>
          <a:prstGeom prst="rect">
            <a:avLst/>
          </a:prstGeom>
          <a:noFill/>
        </p:spPr>
        <p:txBody>
          <a:bodyPr wrap="square" lIns="0" rIns="0" tIns="0" bIns="0" anchor="t">
            <a:spAutoFit/>
          </a:bodyPr>
          <a:lstStyle/>
          <a:p>
            <a:pPr algn="l">
              <a:spcAft>
                <a:spcPts val="300"/>
              </a:spcAft>
            </a:pPr>
            <a:r>
              <a:rPr sz="1400" b="1">
                <a:solidFill>
                  <a:srgbClr val="622B14"/>
                </a:solidFill>
                <a:latin typeface="Calibri"/>
              </a:rPr>
              <a:t>Hàng chờ đúng giờ nghỉ</a:t>
            </a:r>
          </a:p>
          <a:p>
            <a:pPr algn="l">
              <a:spcAft>
                <a:spcPts val="300"/>
              </a:spcAft>
            </a:pPr>
            <a:r>
              <a:rPr sz="1200" b="0">
                <a:solidFill>
                  <a:srgbClr val="6B5F55"/>
                </a:solidFill>
                <a:latin typeface="Calibri"/>
              </a:rPr>
              <a:t>Bỏ bữa hoặc vào lớp trễ</a:t>
            </a:r>
          </a:p>
        </p:txBody>
      </p:sp>
      <p:sp>
        <p:nvSpPr>
          <p:cNvPr id="13" name="Rounded Rectangle 12"/>
          <p:cNvSpPr/>
          <p:nvPr/>
        </p:nvSpPr>
        <p:spPr>
          <a:xfrm>
            <a:off x="4023359" y="3383280"/>
            <a:ext cx="3383280" cy="1234440"/>
          </a:xfrm>
          <a:prstGeom prst="roundRect">
            <a:avLst>
              <a:gd name="adj" fmla="val 4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3"/>
          <a:stretch>
            <a:fillRect/>
          </a:stretch>
        </p:blipFill>
        <p:spPr>
          <a:xfrm>
            <a:off x="4206240" y="3566160"/>
            <a:ext cx="502920" cy="502920"/>
          </a:xfrm>
          <a:prstGeom prst="rect">
            <a:avLst/>
          </a:prstGeom>
        </p:spPr>
      </p:pic>
      <p:sp>
        <p:nvSpPr>
          <p:cNvPr id="15" name="TextBox 14"/>
          <p:cNvSpPr txBox="1"/>
          <p:nvPr/>
        </p:nvSpPr>
        <p:spPr>
          <a:xfrm>
            <a:off x="4846320" y="3566160"/>
            <a:ext cx="2423160" cy="1005840"/>
          </a:xfrm>
          <a:prstGeom prst="rect">
            <a:avLst/>
          </a:prstGeom>
          <a:noFill/>
        </p:spPr>
        <p:txBody>
          <a:bodyPr wrap="square" lIns="0" rIns="0" tIns="0" bIns="0" anchor="t">
            <a:spAutoFit/>
          </a:bodyPr>
          <a:lstStyle/>
          <a:p>
            <a:pPr algn="l">
              <a:spcAft>
                <a:spcPts val="300"/>
              </a:spcAft>
            </a:pPr>
            <a:r>
              <a:rPr sz="1400" b="1">
                <a:solidFill>
                  <a:srgbClr val="622B14"/>
                </a:solidFill>
                <a:latin typeface="Calibri"/>
              </a:rPr>
              <a:t>Không biết trước</a:t>
            </a:r>
          </a:p>
          <a:p>
            <a:pPr algn="l">
              <a:spcAft>
                <a:spcPts val="300"/>
              </a:spcAft>
            </a:pPr>
            <a:r>
              <a:rPr sz="1200" b="0">
                <a:solidFill>
                  <a:srgbClr val="6B5F55"/>
                </a:solidFill>
                <a:latin typeface="Calibri"/>
              </a:rPr>
              <a:t>Quán mở hay đóng, còn món, bao lâu xong</a:t>
            </a:r>
          </a:p>
        </p:txBody>
      </p:sp>
      <p:sp>
        <p:nvSpPr>
          <p:cNvPr id="16" name="Rounded Rectangle 15"/>
          <p:cNvSpPr/>
          <p:nvPr/>
        </p:nvSpPr>
        <p:spPr>
          <a:xfrm>
            <a:off x="548640" y="4754880"/>
            <a:ext cx="3383280" cy="1234440"/>
          </a:xfrm>
          <a:prstGeom prst="roundRect">
            <a:avLst>
              <a:gd name="adj" fmla="val 4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image.png"/>
          <p:cNvPicPr>
            <a:picLocks noChangeAspect="1"/>
          </p:cNvPicPr>
          <p:nvPr/>
        </p:nvPicPr>
        <p:blipFill>
          <a:blip r:embed="rId4"/>
          <a:stretch>
            <a:fillRect/>
          </a:stretch>
        </p:blipFill>
        <p:spPr>
          <a:xfrm>
            <a:off x="731520" y="4937760"/>
            <a:ext cx="502920" cy="502920"/>
          </a:xfrm>
          <a:prstGeom prst="rect">
            <a:avLst/>
          </a:prstGeom>
        </p:spPr>
      </p:pic>
      <p:sp>
        <p:nvSpPr>
          <p:cNvPr id="18" name="TextBox 17"/>
          <p:cNvSpPr txBox="1"/>
          <p:nvPr/>
        </p:nvSpPr>
        <p:spPr>
          <a:xfrm>
            <a:off x="1371600" y="4937760"/>
            <a:ext cx="2423160" cy="1005840"/>
          </a:xfrm>
          <a:prstGeom prst="rect">
            <a:avLst/>
          </a:prstGeom>
          <a:noFill/>
        </p:spPr>
        <p:txBody>
          <a:bodyPr wrap="square" lIns="0" rIns="0" tIns="0" bIns="0" anchor="t">
            <a:spAutoFit/>
          </a:bodyPr>
          <a:lstStyle/>
          <a:p>
            <a:pPr algn="l">
              <a:spcAft>
                <a:spcPts val="300"/>
              </a:spcAft>
            </a:pPr>
            <a:r>
              <a:rPr sz="1400" b="1">
                <a:solidFill>
                  <a:srgbClr val="622B14"/>
                </a:solidFill>
                <a:latin typeface="Calibri"/>
              </a:rPr>
              <a:t>Phí phát sinh</a:t>
            </a:r>
          </a:p>
          <a:p>
            <a:pPr algn="l">
              <a:spcAft>
                <a:spcPts val="300"/>
              </a:spcAft>
            </a:pPr>
            <a:r>
              <a:rPr sz="1200" b="0">
                <a:solidFill>
                  <a:srgbClr val="6B5F55"/>
                </a:solidFill>
                <a:latin typeface="Calibri"/>
              </a:rPr>
              <a:t>Tổng tiền chỉ hiện ở bước cuối</a:t>
            </a:r>
          </a:p>
        </p:txBody>
      </p:sp>
      <p:sp>
        <p:nvSpPr>
          <p:cNvPr id="19" name="Rounded Rectangle 18"/>
          <p:cNvSpPr/>
          <p:nvPr/>
        </p:nvSpPr>
        <p:spPr>
          <a:xfrm>
            <a:off x="4023359" y="4754880"/>
            <a:ext cx="3383280" cy="1234440"/>
          </a:xfrm>
          <a:prstGeom prst="roundRect">
            <a:avLst>
              <a:gd name="adj" fmla="val 4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mage.png"/>
          <p:cNvPicPr>
            <a:picLocks noChangeAspect="1"/>
          </p:cNvPicPr>
          <p:nvPr/>
        </p:nvPicPr>
        <p:blipFill>
          <a:blip r:embed="rId5"/>
          <a:stretch>
            <a:fillRect/>
          </a:stretch>
        </p:blipFill>
        <p:spPr>
          <a:xfrm>
            <a:off x="4206240" y="4937760"/>
            <a:ext cx="502920" cy="502920"/>
          </a:xfrm>
          <a:prstGeom prst="rect">
            <a:avLst/>
          </a:prstGeom>
        </p:spPr>
      </p:pic>
      <p:sp>
        <p:nvSpPr>
          <p:cNvPr id="21" name="TextBox 20"/>
          <p:cNvSpPr txBox="1"/>
          <p:nvPr/>
        </p:nvSpPr>
        <p:spPr>
          <a:xfrm>
            <a:off x="4846320" y="4937760"/>
            <a:ext cx="2423160" cy="1005840"/>
          </a:xfrm>
          <a:prstGeom prst="rect">
            <a:avLst/>
          </a:prstGeom>
          <a:noFill/>
        </p:spPr>
        <p:txBody>
          <a:bodyPr wrap="square" lIns="0" rIns="0" tIns="0" bIns="0" anchor="t">
            <a:spAutoFit/>
          </a:bodyPr>
          <a:lstStyle/>
          <a:p>
            <a:pPr algn="l">
              <a:spcAft>
                <a:spcPts val="300"/>
              </a:spcAft>
            </a:pPr>
            <a:r>
              <a:rPr sz="1400" b="1">
                <a:solidFill>
                  <a:srgbClr val="622B14"/>
                </a:solidFill>
                <a:latin typeface="Calibri"/>
              </a:rPr>
              <a:t>Lỗi thanh toán</a:t>
            </a:r>
          </a:p>
          <a:p>
            <a:pPr algn="l">
              <a:spcAft>
                <a:spcPts val="300"/>
              </a:spcAft>
            </a:pPr>
            <a:r>
              <a:rPr sz="1200" b="0">
                <a:solidFill>
                  <a:srgbClr val="6B5F55"/>
                </a:solidFill>
                <a:latin typeface="Calibri"/>
              </a:rPr>
              <a:t>Mất giỏ hàng khi mạng yếu</a:t>
            </a:r>
          </a:p>
        </p:txBody>
      </p:sp>
      <p:sp>
        <p:nvSpPr>
          <p:cNvPr id="22" name="Rounded Rectangle 21"/>
          <p:cNvSpPr/>
          <p:nvPr/>
        </p:nvSpPr>
        <p:spPr>
          <a:xfrm>
            <a:off x="7635240" y="1463040"/>
            <a:ext cx="4023360" cy="4754880"/>
          </a:xfrm>
          <a:prstGeom prst="roundRect">
            <a:avLst>
              <a:gd name="adj" fmla="val 4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863840" y="1691640"/>
            <a:ext cx="731520" cy="731520"/>
          </a:xfrm>
          <a:prstGeom prst="ellipse">
            <a:avLst/>
          </a:prstGeom>
          <a:solidFill>
            <a:srgbClr val="F69D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63840" y="1691640"/>
            <a:ext cx="731520" cy="731520"/>
          </a:xfrm>
          <a:prstGeom prst="rect">
            <a:avLst/>
          </a:prstGeom>
          <a:noFill/>
        </p:spPr>
        <p:txBody>
          <a:bodyPr wrap="square" lIns="0" rIns="0" tIns="0" bIns="0" anchor="ctr">
            <a:spAutoFit/>
          </a:bodyPr>
          <a:lstStyle/>
          <a:p>
            <a:pPr algn="ctr">
              <a:spcAft>
                <a:spcPts val="300"/>
              </a:spcAft>
            </a:pPr>
            <a:r>
              <a:rPr sz="2800" b="1">
                <a:solidFill>
                  <a:srgbClr val="622B14"/>
                </a:solidFill>
                <a:latin typeface="Trebuchet MS"/>
              </a:rPr>
              <a:t>Q</a:t>
            </a:r>
          </a:p>
        </p:txBody>
      </p:sp>
      <p:sp>
        <p:nvSpPr>
          <p:cNvPr id="25" name="TextBox 24"/>
          <p:cNvSpPr txBox="1"/>
          <p:nvPr/>
        </p:nvSpPr>
        <p:spPr>
          <a:xfrm>
            <a:off x="8778240" y="1737360"/>
            <a:ext cx="2743200" cy="731520"/>
          </a:xfrm>
          <a:prstGeom prst="rect">
            <a:avLst/>
          </a:prstGeom>
          <a:noFill/>
        </p:spPr>
        <p:txBody>
          <a:bodyPr wrap="square" lIns="0" rIns="0" tIns="0" bIns="0" anchor="t">
            <a:spAutoFit/>
          </a:bodyPr>
          <a:lstStyle/>
          <a:p>
            <a:pPr algn="l">
              <a:spcAft>
                <a:spcPts val="300"/>
              </a:spcAft>
            </a:pPr>
            <a:r>
              <a:rPr sz="1600" b="1">
                <a:solidFill>
                  <a:srgbClr val="622B14"/>
                </a:solidFill>
                <a:latin typeface="Calibri"/>
              </a:rPr>
              <a:t>Nguyễn Minh Quân</a:t>
            </a:r>
          </a:p>
          <a:p>
            <a:pPr algn="l">
              <a:spcAft>
                <a:spcPts val="300"/>
              </a:spcAft>
            </a:pPr>
            <a:r>
              <a:rPr sz="1200" b="0">
                <a:solidFill>
                  <a:srgbClr val="6B5F55"/>
                </a:solidFill>
                <a:latin typeface="Calibri"/>
              </a:rPr>
              <a:t>20 tuổi · SV năm 2 · ở ký túc xá</a:t>
            </a:r>
          </a:p>
        </p:txBody>
      </p:sp>
      <p:sp>
        <p:nvSpPr>
          <p:cNvPr id="26" name="Rounded Rectangle 25"/>
          <p:cNvSpPr/>
          <p:nvPr/>
        </p:nvSpPr>
        <p:spPr>
          <a:xfrm>
            <a:off x="7863840" y="2606040"/>
            <a:ext cx="1097280" cy="274320"/>
          </a:xfrm>
          <a:prstGeom prst="roundRect">
            <a:avLst>
              <a:gd name="adj" fmla="val 50000"/>
            </a:avLst>
          </a:prstGeom>
          <a:solidFill>
            <a:srgbClr val="FFF1DE"/>
          </a:solidFill>
          <a:ln w="9525">
            <a:solidFill>
              <a:srgbClr val="F69D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63840" y="2606040"/>
            <a:ext cx="1097280" cy="274320"/>
          </a:xfrm>
          <a:prstGeom prst="rect">
            <a:avLst/>
          </a:prstGeom>
          <a:noFill/>
        </p:spPr>
        <p:txBody>
          <a:bodyPr wrap="square" lIns="0" rIns="0" tIns="0" bIns="0" anchor="ctr">
            <a:spAutoFit/>
          </a:bodyPr>
          <a:lstStyle/>
          <a:p>
            <a:pPr algn="ctr">
              <a:spcAft>
                <a:spcPts val="300"/>
              </a:spcAft>
            </a:pPr>
            <a:r>
              <a:rPr sz="1100" b="1">
                <a:solidFill>
                  <a:srgbClr val="B45309"/>
                </a:solidFill>
                <a:latin typeface="Calibri"/>
              </a:rPr>
              <a:t>Persona chính</a:t>
            </a:r>
          </a:p>
        </p:txBody>
      </p:sp>
      <p:sp>
        <p:nvSpPr>
          <p:cNvPr id="28" name="TextBox 27"/>
          <p:cNvSpPr txBox="1"/>
          <p:nvPr/>
        </p:nvSpPr>
        <p:spPr>
          <a:xfrm>
            <a:off x="7863840" y="3063240"/>
            <a:ext cx="3611880" cy="1828800"/>
          </a:xfrm>
          <a:prstGeom prst="rect">
            <a:avLst/>
          </a:prstGeom>
          <a:noFill/>
        </p:spPr>
        <p:txBody>
          <a:bodyPr wrap="square" lIns="0" rIns="0" tIns="0" bIns="0" anchor="t">
            <a:spAutoFit/>
          </a:bodyPr>
          <a:lstStyle/>
          <a:p>
            <a:pPr algn="l">
              <a:spcAft>
                <a:spcPts val="500"/>
              </a:spcAft>
            </a:pPr>
            <a:r>
              <a:rPr sz="1300" b="0">
                <a:solidFill>
                  <a:srgbClr val="622B14"/>
                </a:solidFill>
                <a:latin typeface="Calibri"/>
              </a:rPr>
              <a:t>Học 3 slot mỗi ngày, nghỉ khoảng 15 phút</a:t>
            </a:r>
          </a:p>
          <a:p>
            <a:pPr algn="l">
              <a:spcAft>
                <a:spcPts val="500"/>
              </a:spcAft>
            </a:pPr>
            <a:r>
              <a:rPr sz="1300" b="0">
                <a:solidFill>
                  <a:srgbClr val="622B14"/>
                </a:solidFill>
                <a:latin typeface="Calibri"/>
              </a:rPr>
              <a:t>Android tầm trung, cầm máy một tay khi đi bộ</a:t>
            </a:r>
          </a:p>
          <a:p>
            <a:pPr algn="l">
              <a:spcAft>
                <a:spcPts val="500"/>
              </a:spcAft>
            </a:pPr>
            <a:r>
              <a:rPr sz="1300" b="0">
                <a:solidFill>
                  <a:srgbClr val="622B14"/>
                </a:solidFill>
                <a:latin typeface="Calibri"/>
              </a:rPr>
              <a:t>Mạng trong tòa nhà chập chờn</a:t>
            </a:r>
          </a:p>
          <a:p>
            <a:pPr algn="l">
              <a:spcAft>
                <a:spcPts val="500"/>
              </a:spcAft>
            </a:pPr>
            <a:r>
              <a:rPr sz="1300" b="1">
                <a:solidFill>
                  <a:srgbClr val="B45309"/>
                </a:solidFill>
                <a:latin typeface="Calibri"/>
              </a:rPr>
              <a:t>Mục tiêu: đặt xong dưới 35 giây, tối đa 8 chạm</a:t>
            </a:r>
          </a:p>
        </p:txBody>
      </p:sp>
      <p:sp>
        <p:nvSpPr>
          <p:cNvPr id="29" name="Rounded Rectangle 28"/>
          <p:cNvSpPr/>
          <p:nvPr/>
        </p:nvSpPr>
        <p:spPr>
          <a:xfrm>
            <a:off x="7863840" y="4846320"/>
            <a:ext cx="3566160" cy="868680"/>
          </a:xfrm>
          <a:prstGeom prst="roundRect">
            <a:avLst>
              <a:gd name="adj" fmla="val 4000"/>
            </a:avLst>
          </a:prstGeom>
          <a:solidFill>
            <a:srgbClr val="FFF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01000" y="4919472"/>
            <a:ext cx="3291840" cy="777240"/>
          </a:xfrm>
          <a:prstGeom prst="rect">
            <a:avLst/>
          </a:prstGeom>
          <a:noFill/>
        </p:spPr>
        <p:txBody>
          <a:bodyPr wrap="square" lIns="0" rIns="0" tIns="0" bIns="0" anchor="t">
            <a:spAutoFit/>
          </a:bodyPr>
          <a:lstStyle/>
          <a:p>
            <a:pPr algn="l">
              <a:spcAft>
                <a:spcPts val="300"/>
              </a:spcAft>
            </a:pPr>
            <a:r>
              <a:rPr sz="1300" b="1">
                <a:solidFill>
                  <a:srgbClr val="622B14"/>
                </a:solidFill>
                <a:latin typeface="Calibri"/>
              </a:rPr>
              <a:t>“Thấy hàng dài là bỏ luôn, nhịn tới trưa.”</a:t>
            </a:r>
          </a:p>
          <a:p>
            <a:pPr algn="l">
              <a:spcAft>
                <a:spcPts val="300"/>
              </a:spcAft>
            </a:pPr>
            <a:r>
              <a:rPr sz="1000" b="0">
                <a:solidFill>
                  <a:srgbClr val="6B5F55"/>
                </a:solidFill>
                <a:latin typeface="Calibri"/>
              </a:rPr>
              <a:t>Phỏng vấn mô phỏng AI (SIM-A1)</a:t>
            </a:r>
          </a:p>
        </p:txBody>
      </p:sp>
      <p:sp>
        <p:nvSpPr>
          <p:cNvPr id="31" name="TextBox 30"/>
          <p:cNvSpPr txBox="1"/>
          <p:nvPr/>
        </p:nvSpPr>
        <p:spPr>
          <a:xfrm>
            <a:off x="7863840" y="5806440"/>
            <a:ext cx="3611880" cy="365760"/>
          </a:xfrm>
          <a:prstGeom prst="rect">
            <a:avLst/>
          </a:prstGeom>
          <a:noFill/>
        </p:spPr>
        <p:txBody>
          <a:bodyPr wrap="square" lIns="0" rIns="0" tIns="0" bIns="0" anchor="t">
            <a:spAutoFit/>
          </a:bodyPr>
          <a:lstStyle/>
          <a:p>
            <a:pPr algn="l">
              <a:spcAft>
                <a:spcPts val="300"/>
              </a:spcAft>
            </a:pPr>
            <a:r>
              <a:rPr sz="1100" b="0">
                <a:solidFill>
                  <a:srgbClr val="6B5F55"/>
                </a:solidFill>
                <a:latin typeface="Calibri"/>
              </a:rPr>
              <a:t>Persona phụ: Trần Mỹ Linh · Cô Hạnh (nhân viên quầy)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8F5"/>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548640" y="384048"/>
            <a:ext cx="566928" cy="566928"/>
          </a:xfrm>
          <a:prstGeom prst="rect">
            <a:avLst/>
          </a:prstGeom>
        </p:spPr>
      </p:pic>
      <p:sp>
        <p:nvSpPr>
          <p:cNvPr id="3" name="TextBox 2"/>
          <p:cNvSpPr txBox="1"/>
          <p:nvPr/>
        </p:nvSpPr>
        <p:spPr>
          <a:xfrm>
            <a:off x="1280160" y="329184"/>
            <a:ext cx="10241280" cy="548640"/>
          </a:xfrm>
          <a:prstGeom prst="rect">
            <a:avLst/>
          </a:prstGeom>
          <a:noFill/>
        </p:spPr>
        <p:txBody>
          <a:bodyPr wrap="square" lIns="0" rIns="0" tIns="0" bIns="0" anchor="ctr">
            <a:spAutoFit/>
          </a:bodyPr>
          <a:lstStyle/>
          <a:p>
            <a:pPr algn="l">
              <a:spcAft>
                <a:spcPts val="300"/>
              </a:spcAft>
            </a:pPr>
            <a:r>
              <a:rPr sz="2800" b="1">
                <a:solidFill>
                  <a:srgbClr val="622B14"/>
                </a:solidFill>
                <a:latin typeface="Trebuchet MS"/>
              </a:rPr>
              <a:t>Giải pháp: BreakBite</a:t>
            </a:r>
          </a:p>
        </p:txBody>
      </p:sp>
      <p:sp>
        <p:nvSpPr>
          <p:cNvPr id="4" name="TextBox 3"/>
          <p:cNvSpPr txBox="1"/>
          <p:nvPr/>
        </p:nvSpPr>
        <p:spPr>
          <a:xfrm>
            <a:off x="1280160" y="868680"/>
            <a:ext cx="10241280" cy="320040"/>
          </a:xfrm>
          <a:prstGeom prst="rect">
            <a:avLst/>
          </a:prstGeom>
          <a:noFill/>
        </p:spPr>
        <p:txBody>
          <a:bodyPr wrap="square" lIns="0" rIns="0" tIns="0" bIns="0" anchor="t">
            <a:spAutoFit/>
          </a:bodyPr>
          <a:lstStyle/>
          <a:p>
            <a:pPr algn="l">
              <a:spcAft>
                <a:spcPts val="300"/>
              </a:spcAft>
            </a:pPr>
            <a:r>
              <a:rPr sz="1400" b="0">
                <a:solidFill>
                  <a:srgbClr val="6B5F55"/>
                </a:solidFill>
                <a:latin typeface="Calibri"/>
              </a:rPr>
              <a:t>Đặt từ lớp, trả trước, ra Kiosk quét mã nhận món</a:t>
            </a:r>
          </a:p>
        </p:txBody>
      </p:sp>
      <p:sp>
        <p:nvSpPr>
          <p:cNvPr id="5" name="Rounded Rectangle 4"/>
          <p:cNvSpPr/>
          <p:nvPr/>
        </p:nvSpPr>
        <p:spPr>
          <a:xfrm>
            <a:off x="1280160" y="1207008"/>
            <a:ext cx="822960" cy="45720"/>
          </a:xfrm>
          <a:prstGeom prst="roundRect">
            <a:avLst>
              <a:gd name="adj" fmla="val 50000"/>
            </a:avLst>
          </a:prstGeom>
          <a:solidFill>
            <a:srgbClr val="F69D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28232"/>
            <a:ext cx="8686800" cy="228600"/>
          </a:xfrm>
          <a:prstGeom prst="rect">
            <a:avLst/>
          </a:prstGeom>
          <a:noFill/>
        </p:spPr>
        <p:txBody>
          <a:bodyPr wrap="square" lIns="0" rIns="0" tIns="0" bIns="0" anchor="t">
            <a:spAutoFit/>
          </a:bodyPr>
          <a:lstStyle/>
          <a:p>
            <a:pPr algn="l">
              <a:spcAft>
                <a:spcPts val="300"/>
              </a:spcAft>
            </a:pPr>
            <a:r>
              <a:rPr sz="1000" b="0">
                <a:solidFill>
                  <a:srgbClr val="6B5F55"/>
                </a:solidFill>
                <a:latin typeface="Calibri"/>
              </a:rPr>
              <a:t>Minh chứng: README.md · ux/p0-problem-framing.md</a:t>
            </a:r>
          </a:p>
        </p:txBody>
      </p:sp>
      <p:sp>
        <p:nvSpPr>
          <p:cNvPr id="7" name="TextBox 6"/>
          <p:cNvSpPr txBox="1"/>
          <p:nvPr/>
        </p:nvSpPr>
        <p:spPr>
          <a:xfrm>
            <a:off x="9692640" y="6428232"/>
            <a:ext cx="1920240" cy="228600"/>
          </a:xfrm>
          <a:prstGeom prst="rect">
            <a:avLst/>
          </a:prstGeom>
          <a:noFill/>
        </p:spPr>
        <p:txBody>
          <a:bodyPr wrap="square" lIns="0" rIns="0" tIns="0" bIns="0" anchor="t">
            <a:spAutoFit/>
          </a:bodyPr>
          <a:lstStyle/>
          <a:p>
            <a:pPr algn="r">
              <a:spcAft>
                <a:spcPts val="300"/>
              </a:spcAft>
            </a:pPr>
            <a:r>
              <a:rPr sz="1000" b="0">
                <a:solidFill>
                  <a:srgbClr val="6B5F55"/>
                </a:solidFill>
                <a:latin typeface="Calibri"/>
              </a:rPr>
              <a:t>BreakBite · 3 / 16</a:t>
            </a:r>
          </a:p>
        </p:txBody>
      </p:sp>
      <p:sp>
        <p:nvSpPr>
          <p:cNvPr id="8" name="Rounded Rectangle 7"/>
          <p:cNvSpPr/>
          <p:nvPr/>
        </p:nvSpPr>
        <p:spPr>
          <a:xfrm>
            <a:off x="548640" y="1508760"/>
            <a:ext cx="3520440" cy="2148840"/>
          </a:xfrm>
          <a:prstGeom prst="roundRect">
            <a:avLst>
              <a:gd name="adj" fmla="val 4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mage.png"/>
          <p:cNvPicPr>
            <a:picLocks noChangeAspect="1"/>
          </p:cNvPicPr>
          <p:nvPr/>
        </p:nvPicPr>
        <p:blipFill>
          <a:blip r:embed="rId3"/>
          <a:stretch>
            <a:fillRect/>
          </a:stretch>
        </p:blipFill>
        <p:spPr>
          <a:xfrm>
            <a:off x="822959" y="1737360"/>
            <a:ext cx="868680" cy="868680"/>
          </a:xfrm>
          <a:prstGeom prst="rect">
            <a:avLst/>
          </a:prstGeom>
        </p:spPr>
      </p:pic>
      <p:sp>
        <p:nvSpPr>
          <p:cNvPr id="10" name="TextBox 9"/>
          <p:cNvSpPr txBox="1"/>
          <p:nvPr/>
        </p:nvSpPr>
        <p:spPr>
          <a:xfrm>
            <a:off x="822959" y="2743200"/>
            <a:ext cx="3017520" cy="868680"/>
          </a:xfrm>
          <a:prstGeom prst="rect">
            <a:avLst/>
          </a:prstGeom>
          <a:noFill/>
        </p:spPr>
        <p:txBody>
          <a:bodyPr wrap="square" lIns="0" rIns="0" tIns="0" bIns="0" anchor="t">
            <a:spAutoFit/>
          </a:bodyPr>
          <a:lstStyle/>
          <a:p>
            <a:pPr algn="l">
              <a:spcAft>
                <a:spcPts val="300"/>
              </a:spcAft>
            </a:pPr>
            <a:r>
              <a:rPr sz="1700" b="1">
                <a:solidFill>
                  <a:srgbClr val="622B14"/>
                </a:solidFill>
                <a:latin typeface="Trebuchet MS"/>
              </a:rPr>
              <a:t>1 · Đặt từ lớp</a:t>
            </a:r>
          </a:p>
          <a:p>
            <a:pPr algn="l">
              <a:spcAft>
                <a:spcPts val="300"/>
              </a:spcAft>
            </a:pPr>
            <a:r>
              <a:rPr sz="1300" b="0">
                <a:solidFill>
                  <a:srgbClr val="6B5F55"/>
                </a:solidFill>
                <a:latin typeface="Calibri"/>
              </a:rPr>
              <a:t>Chọn món, tuỳ chỉnh, hẹn giờ nhận</a:t>
            </a:r>
          </a:p>
        </p:txBody>
      </p:sp>
      <p:sp>
        <p:nvSpPr>
          <p:cNvPr id="11" name="TextBox 10"/>
          <p:cNvSpPr txBox="1"/>
          <p:nvPr/>
        </p:nvSpPr>
        <p:spPr>
          <a:xfrm>
            <a:off x="4069080" y="2240280"/>
            <a:ext cx="320040" cy="457200"/>
          </a:xfrm>
          <a:prstGeom prst="rect">
            <a:avLst/>
          </a:prstGeom>
          <a:noFill/>
        </p:spPr>
        <p:txBody>
          <a:bodyPr wrap="square" lIns="0" rIns="0" tIns="0" bIns="0" anchor="t">
            <a:spAutoFit/>
          </a:bodyPr>
          <a:lstStyle/>
          <a:p>
            <a:pPr algn="ctr">
              <a:spcAft>
                <a:spcPts val="300"/>
              </a:spcAft>
            </a:pPr>
            <a:r>
              <a:rPr sz="3000" b="1">
                <a:solidFill>
                  <a:srgbClr val="F69D39"/>
                </a:solidFill>
                <a:latin typeface="Calibri"/>
              </a:rPr>
              <a:t>›</a:t>
            </a:r>
          </a:p>
        </p:txBody>
      </p:sp>
      <p:sp>
        <p:nvSpPr>
          <p:cNvPr id="12" name="Rounded Rectangle 11"/>
          <p:cNvSpPr/>
          <p:nvPr/>
        </p:nvSpPr>
        <p:spPr>
          <a:xfrm>
            <a:off x="4389120" y="1508760"/>
            <a:ext cx="3520440" cy="2148840"/>
          </a:xfrm>
          <a:prstGeom prst="roundRect">
            <a:avLst>
              <a:gd name="adj" fmla="val 4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mage.png"/>
          <p:cNvPicPr>
            <a:picLocks noChangeAspect="1"/>
          </p:cNvPicPr>
          <p:nvPr/>
        </p:nvPicPr>
        <p:blipFill>
          <a:blip r:embed="rId4"/>
          <a:stretch>
            <a:fillRect/>
          </a:stretch>
        </p:blipFill>
        <p:spPr>
          <a:xfrm>
            <a:off x="4663440" y="1737360"/>
            <a:ext cx="868680" cy="868680"/>
          </a:xfrm>
          <a:prstGeom prst="rect">
            <a:avLst/>
          </a:prstGeom>
        </p:spPr>
      </p:pic>
      <p:sp>
        <p:nvSpPr>
          <p:cNvPr id="14" name="TextBox 13"/>
          <p:cNvSpPr txBox="1"/>
          <p:nvPr/>
        </p:nvSpPr>
        <p:spPr>
          <a:xfrm>
            <a:off x="4663440" y="2743200"/>
            <a:ext cx="3017520" cy="868680"/>
          </a:xfrm>
          <a:prstGeom prst="rect">
            <a:avLst/>
          </a:prstGeom>
          <a:noFill/>
        </p:spPr>
        <p:txBody>
          <a:bodyPr wrap="square" lIns="0" rIns="0" tIns="0" bIns="0" anchor="t">
            <a:spAutoFit/>
          </a:bodyPr>
          <a:lstStyle/>
          <a:p>
            <a:pPr algn="l">
              <a:spcAft>
                <a:spcPts val="300"/>
              </a:spcAft>
            </a:pPr>
            <a:r>
              <a:rPr sz="1700" b="1">
                <a:solidFill>
                  <a:srgbClr val="622B14"/>
                </a:solidFill>
                <a:latin typeface="Trebuchet MS"/>
              </a:rPr>
              <a:t>2 · Trả trước</a:t>
            </a:r>
          </a:p>
          <a:p>
            <a:pPr algn="l">
              <a:spcAft>
                <a:spcPts val="300"/>
              </a:spcAft>
            </a:pPr>
            <a:r>
              <a:rPr sz="1300" b="0">
                <a:solidFill>
                  <a:srgbClr val="6B5F55"/>
                </a:solidFill>
                <a:latin typeface="Calibri"/>
              </a:rPr>
              <a:t>MoMo, VNPAY-QR, thẻ hoặc tiền mặt; lỗi vẫn giữ giỏ hàng</a:t>
            </a:r>
          </a:p>
        </p:txBody>
      </p:sp>
      <p:sp>
        <p:nvSpPr>
          <p:cNvPr id="15" name="TextBox 14"/>
          <p:cNvSpPr txBox="1"/>
          <p:nvPr/>
        </p:nvSpPr>
        <p:spPr>
          <a:xfrm>
            <a:off x="7909560" y="2240280"/>
            <a:ext cx="320040" cy="457200"/>
          </a:xfrm>
          <a:prstGeom prst="rect">
            <a:avLst/>
          </a:prstGeom>
          <a:noFill/>
        </p:spPr>
        <p:txBody>
          <a:bodyPr wrap="square" lIns="0" rIns="0" tIns="0" bIns="0" anchor="t">
            <a:spAutoFit/>
          </a:bodyPr>
          <a:lstStyle/>
          <a:p>
            <a:pPr algn="ctr">
              <a:spcAft>
                <a:spcPts val="300"/>
              </a:spcAft>
            </a:pPr>
            <a:r>
              <a:rPr sz="3000" b="1">
                <a:solidFill>
                  <a:srgbClr val="F69D39"/>
                </a:solidFill>
                <a:latin typeface="Calibri"/>
              </a:rPr>
              <a:t>›</a:t>
            </a:r>
          </a:p>
        </p:txBody>
      </p:sp>
      <p:sp>
        <p:nvSpPr>
          <p:cNvPr id="16" name="Rounded Rectangle 15"/>
          <p:cNvSpPr/>
          <p:nvPr/>
        </p:nvSpPr>
        <p:spPr>
          <a:xfrm>
            <a:off x="8229600" y="1508760"/>
            <a:ext cx="3520440" cy="2148840"/>
          </a:xfrm>
          <a:prstGeom prst="roundRect">
            <a:avLst>
              <a:gd name="adj" fmla="val 4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image.png"/>
          <p:cNvPicPr>
            <a:picLocks noChangeAspect="1"/>
          </p:cNvPicPr>
          <p:nvPr/>
        </p:nvPicPr>
        <p:blipFill>
          <a:blip r:embed="rId5"/>
          <a:stretch>
            <a:fillRect/>
          </a:stretch>
        </p:blipFill>
        <p:spPr>
          <a:xfrm>
            <a:off x="8503920" y="1737360"/>
            <a:ext cx="868680" cy="868680"/>
          </a:xfrm>
          <a:prstGeom prst="rect">
            <a:avLst/>
          </a:prstGeom>
        </p:spPr>
      </p:pic>
      <p:sp>
        <p:nvSpPr>
          <p:cNvPr id="18" name="TextBox 17"/>
          <p:cNvSpPr txBox="1"/>
          <p:nvPr/>
        </p:nvSpPr>
        <p:spPr>
          <a:xfrm>
            <a:off x="8503920" y="2743200"/>
            <a:ext cx="3017520" cy="868680"/>
          </a:xfrm>
          <a:prstGeom prst="rect">
            <a:avLst/>
          </a:prstGeom>
          <a:noFill/>
        </p:spPr>
        <p:txBody>
          <a:bodyPr wrap="square" lIns="0" rIns="0" tIns="0" bIns="0" anchor="t">
            <a:spAutoFit/>
          </a:bodyPr>
          <a:lstStyle/>
          <a:p>
            <a:pPr algn="l">
              <a:spcAft>
                <a:spcPts val="300"/>
              </a:spcAft>
            </a:pPr>
            <a:r>
              <a:rPr sz="1700" b="1">
                <a:solidFill>
                  <a:srgbClr val="622B14"/>
                </a:solidFill>
                <a:latin typeface="Trebuchet MS"/>
              </a:rPr>
              <a:t>3 · Nhận bằng mã QR</a:t>
            </a:r>
          </a:p>
          <a:p>
            <a:pPr algn="l">
              <a:spcAft>
                <a:spcPts val="300"/>
              </a:spcAft>
            </a:pPr>
            <a:r>
              <a:rPr sz="1300" b="0">
                <a:solidFill>
                  <a:srgbClr val="6B5F55"/>
                </a:solidFill>
                <a:latin typeface="Calibri"/>
              </a:rPr>
              <a:t>Ra Kiosk, quét mã, nhận món không xếp hàng</a:t>
            </a:r>
          </a:p>
        </p:txBody>
      </p:sp>
      <p:sp>
        <p:nvSpPr>
          <p:cNvPr id="19" name="Rounded Rectangle 18"/>
          <p:cNvSpPr/>
          <p:nvPr/>
        </p:nvSpPr>
        <p:spPr>
          <a:xfrm>
            <a:off x="548640" y="3931920"/>
            <a:ext cx="3520440" cy="2103120"/>
          </a:xfrm>
          <a:prstGeom prst="roundRect">
            <a:avLst>
              <a:gd name="adj" fmla="val 4000"/>
            </a:avLst>
          </a:prstGeom>
          <a:solidFill>
            <a:srgbClr val="FFF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59" y="4069080"/>
            <a:ext cx="3017520" cy="822960"/>
          </a:xfrm>
          <a:prstGeom prst="rect">
            <a:avLst/>
          </a:prstGeom>
          <a:noFill/>
        </p:spPr>
        <p:txBody>
          <a:bodyPr wrap="square" lIns="0" rIns="0" tIns="0" bIns="0" anchor="t">
            <a:spAutoFit/>
          </a:bodyPr>
          <a:lstStyle/>
          <a:p>
            <a:pPr algn="l">
              <a:spcAft>
                <a:spcPts val="300"/>
              </a:spcAft>
            </a:pPr>
            <a:r>
              <a:rPr sz="4000" b="1">
                <a:solidFill>
                  <a:srgbClr val="B45309"/>
                </a:solidFill>
                <a:latin typeface="Trebuchet MS"/>
              </a:rPr>
              <a:t>30</a:t>
            </a:r>
          </a:p>
        </p:txBody>
      </p:sp>
      <p:sp>
        <p:nvSpPr>
          <p:cNvPr id="21" name="TextBox 20"/>
          <p:cNvSpPr txBox="1"/>
          <p:nvPr/>
        </p:nvSpPr>
        <p:spPr>
          <a:xfrm>
            <a:off x="822959" y="4892040"/>
            <a:ext cx="3017520" cy="1097280"/>
          </a:xfrm>
          <a:prstGeom prst="rect">
            <a:avLst/>
          </a:prstGeom>
          <a:noFill/>
        </p:spPr>
        <p:txBody>
          <a:bodyPr wrap="square" lIns="0" rIns="0" tIns="0" bIns="0" anchor="t">
            <a:spAutoFit/>
          </a:bodyPr>
          <a:lstStyle/>
          <a:p>
            <a:pPr algn="l">
              <a:spcAft>
                <a:spcPts val="300"/>
              </a:spcAft>
            </a:pPr>
            <a:r>
              <a:rPr sz="1500" b="1">
                <a:solidFill>
                  <a:srgbClr val="622B14"/>
                </a:solidFill>
                <a:latin typeface="Calibri"/>
              </a:rPr>
              <a:t>màn app khách</a:t>
            </a:r>
          </a:p>
          <a:p>
            <a:pPr algn="l">
              <a:spcAft>
                <a:spcPts val="300"/>
              </a:spcAft>
            </a:pPr>
            <a:r>
              <a:rPr sz="1200" b="0">
                <a:solidFill>
                  <a:srgbClr val="6B5F55"/>
                </a:solidFill>
                <a:latin typeface="Calibri"/>
              </a:rPr>
              <a:t>S01–S30: đặt món, vòng đời đơn, tài khoản</a:t>
            </a:r>
          </a:p>
        </p:txBody>
      </p:sp>
      <p:sp>
        <p:nvSpPr>
          <p:cNvPr id="22" name="Rounded Rectangle 21"/>
          <p:cNvSpPr/>
          <p:nvPr/>
        </p:nvSpPr>
        <p:spPr>
          <a:xfrm>
            <a:off x="4389120" y="3931920"/>
            <a:ext cx="3520440" cy="2103120"/>
          </a:xfrm>
          <a:prstGeom prst="roundRect">
            <a:avLst>
              <a:gd name="adj" fmla="val 4000"/>
            </a:avLst>
          </a:prstGeom>
          <a:solidFill>
            <a:srgbClr val="FFF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63440" y="4069080"/>
            <a:ext cx="3017520" cy="822960"/>
          </a:xfrm>
          <a:prstGeom prst="rect">
            <a:avLst/>
          </a:prstGeom>
          <a:noFill/>
        </p:spPr>
        <p:txBody>
          <a:bodyPr wrap="square" lIns="0" rIns="0" tIns="0" bIns="0" anchor="t">
            <a:spAutoFit/>
          </a:bodyPr>
          <a:lstStyle/>
          <a:p>
            <a:pPr algn="l">
              <a:spcAft>
                <a:spcPts val="300"/>
              </a:spcAft>
            </a:pPr>
            <a:r>
              <a:rPr sz="4000" b="1">
                <a:solidFill>
                  <a:srgbClr val="B45309"/>
                </a:solidFill>
                <a:latin typeface="Trebuchet MS"/>
              </a:rPr>
              <a:t>15</a:t>
            </a:r>
          </a:p>
        </p:txBody>
      </p:sp>
      <p:sp>
        <p:nvSpPr>
          <p:cNvPr id="24" name="TextBox 23"/>
          <p:cNvSpPr txBox="1"/>
          <p:nvPr/>
        </p:nvSpPr>
        <p:spPr>
          <a:xfrm>
            <a:off x="4663440" y="4892040"/>
            <a:ext cx="3017520" cy="1097280"/>
          </a:xfrm>
          <a:prstGeom prst="rect">
            <a:avLst/>
          </a:prstGeom>
          <a:noFill/>
        </p:spPr>
        <p:txBody>
          <a:bodyPr wrap="square" lIns="0" rIns="0" tIns="0" bIns="0" anchor="t">
            <a:spAutoFit/>
          </a:bodyPr>
          <a:lstStyle/>
          <a:p>
            <a:pPr algn="l">
              <a:spcAft>
                <a:spcPts val="300"/>
              </a:spcAft>
            </a:pPr>
            <a:r>
              <a:rPr sz="1500" b="1">
                <a:solidFill>
                  <a:srgbClr val="622B14"/>
                </a:solidFill>
                <a:latin typeface="Calibri"/>
              </a:rPr>
              <a:t>màn app người bán</a:t>
            </a:r>
          </a:p>
          <a:p>
            <a:pPr algn="l">
              <a:spcAft>
                <a:spcPts val="300"/>
              </a:spcAft>
            </a:pPr>
            <a:r>
              <a:rPr sz="1200" b="0">
                <a:solidFill>
                  <a:srgbClr val="6B5F55"/>
                </a:solidFill>
                <a:latin typeface="Calibri"/>
              </a:rPr>
              <a:t>K01–K15: nhận đơn, làm món, giao món, quản lý quầy</a:t>
            </a:r>
          </a:p>
        </p:txBody>
      </p:sp>
      <p:sp>
        <p:nvSpPr>
          <p:cNvPr id="25" name="Rounded Rectangle 24"/>
          <p:cNvSpPr/>
          <p:nvPr/>
        </p:nvSpPr>
        <p:spPr>
          <a:xfrm>
            <a:off x="8229600" y="3931920"/>
            <a:ext cx="3520440" cy="2103120"/>
          </a:xfrm>
          <a:prstGeom prst="roundRect">
            <a:avLst>
              <a:gd name="adj" fmla="val 4000"/>
            </a:avLst>
          </a:prstGeom>
          <a:solidFill>
            <a:srgbClr val="FFF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3920" y="4069080"/>
            <a:ext cx="3017520" cy="822960"/>
          </a:xfrm>
          <a:prstGeom prst="rect">
            <a:avLst/>
          </a:prstGeom>
          <a:noFill/>
        </p:spPr>
        <p:txBody>
          <a:bodyPr wrap="square" lIns="0" rIns="0" tIns="0" bIns="0" anchor="t">
            <a:spAutoFit/>
          </a:bodyPr>
          <a:lstStyle/>
          <a:p>
            <a:pPr algn="l">
              <a:spcAft>
                <a:spcPts val="300"/>
              </a:spcAft>
            </a:pPr>
            <a:r>
              <a:rPr sz="4000" b="1">
                <a:solidFill>
                  <a:srgbClr val="B45309"/>
                </a:solidFill>
                <a:latin typeface="Trebuchet MS"/>
              </a:rPr>
              <a:t>3 chạm</a:t>
            </a:r>
          </a:p>
        </p:txBody>
      </p:sp>
      <p:sp>
        <p:nvSpPr>
          <p:cNvPr id="27" name="TextBox 26"/>
          <p:cNvSpPr txBox="1"/>
          <p:nvPr/>
        </p:nvSpPr>
        <p:spPr>
          <a:xfrm>
            <a:off x="8503920" y="4892040"/>
            <a:ext cx="3017520" cy="1097280"/>
          </a:xfrm>
          <a:prstGeom prst="rect">
            <a:avLst/>
          </a:prstGeom>
          <a:noFill/>
        </p:spPr>
        <p:txBody>
          <a:bodyPr wrap="square" lIns="0" rIns="0" tIns="0" bIns="0" anchor="t">
            <a:spAutoFit/>
          </a:bodyPr>
          <a:lstStyle/>
          <a:p>
            <a:pPr algn="l">
              <a:spcAft>
                <a:spcPts val="300"/>
              </a:spcAft>
            </a:pPr>
            <a:r>
              <a:rPr sz="1500" b="1">
                <a:solidFill>
                  <a:srgbClr val="622B14"/>
                </a:solidFill>
                <a:latin typeface="Calibri"/>
              </a:rPr>
              <a:t>từ Trang chủ tới Theo dõi đơn</a:t>
            </a:r>
          </a:p>
          <a:p>
            <a:pPr algn="l">
              <a:spcAft>
                <a:spcPts val="300"/>
              </a:spcAft>
            </a:pPr>
            <a:r>
              <a:rPr sz="1200" b="0">
                <a:solidFill>
                  <a:srgbClr val="6B5F55"/>
                </a:solidFill>
                <a:latin typeface="Calibri"/>
              </a:rPr>
              <a:t>Mục tiêu: dưới 35 giây, tối đa 8 chạm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5"/>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548640" y="384048"/>
            <a:ext cx="566928" cy="566928"/>
          </a:xfrm>
          <a:prstGeom prst="rect">
            <a:avLst/>
          </a:prstGeom>
        </p:spPr>
      </p:pic>
      <p:sp>
        <p:nvSpPr>
          <p:cNvPr id="3" name="TextBox 2"/>
          <p:cNvSpPr txBox="1"/>
          <p:nvPr/>
        </p:nvSpPr>
        <p:spPr>
          <a:xfrm>
            <a:off x="1280160" y="329184"/>
            <a:ext cx="10241280" cy="548640"/>
          </a:xfrm>
          <a:prstGeom prst="rect">
            <a:avLst/>
          </a:prstGeom>
          <a:noFill/>
        </p:spPr>
        <p:txBody>
          <a:bodyPr wrap="square" lIns="0" rIns="0" tIns="0" bIns="0" anchor="ctr">
            <a:spAutoFit/>
          </a:bodyPr>
          <a:lstStyle/>
          <a:p>
            <a:pPr algn="l">
              <a:spcAft>
                <a:spcPts val="300"/>
              </a:spcAft>
            </a:pPr>
            <a:r>
              <a:rPr sz="2800" b="1">
                <a:solidFill>
                  <a:srgbClr val="622B14"/>
                </a:solidFill>
                <a:latin typeface="Trebuchet MS"/>
              </a:rPr>
              <a:t>Nghiên cứu và quyết định</a:t>
            </a:r>
          </a:p>
        </p:txBody>
      </p:sp>
      <p:sp>
        <p:nvSpPr>
          <p:cNvPr id="4" name="TextBox 3"/>
          <p:cNvSpPr txBox="1"/>
          <p:nvPr/>
        </p:nvSpPr>
        <p:spPr>
          <a:xfrm>
            <a:off x="1280160" y="868680"/>
            <a:ext cx="10241280" cy="320040"/>
          </a:xfrm>
          <a:prstGeom prst="rect">
            <a:avLst/>
          </a:prstGeom>
          <a:noFill/>
        </p:spPr>
        <p:txBody>
          <a:bodyPr wrap="square" lIns="0" rIns="0" tIns="0" bIns="0" anchor="t">
            <a:spAutoFit/>
          </a:bodyPr>
          <a:lstStyle/>
          <a:p>
            <a:pPr algn="l">
              <a:spcAft>
                <a:spcPts val="300"/>
              </a:spcAft>
            </a:pPr>
            <a:r>
              <a:rPr sz="1400" b="0">
                <a:solidFill>
                  <a:srgbClr val="6B5F55"/>
                </a:solidFill>
                <a:latin typeface="Calibri"/>
              </a:rPr>
              <a:t>Từ insight tới thiết kế, ghi rõ phần nào là dữ liệu thật</a:t>
            </a:r>
          </a:p>
        </p:txBody>
      </p:sp>
      <p:sp>
        <p:nvSpPr>
          <p:cNvPr id="5" name="Rounded Rectangle 4"/>
          <p:cNvSpPr/>
          <p:nvPr/>
        </p:nvSpPr>
        <p:spPr>
          <a:xfrm>
            <a:off x="1280160" y="1207008"/>
            <a:ext cx="822960" cy="45720"/>
          </a:xfrm>
          <a:prstGeom prst="roundRect">
            <a:avLst>
              <a:gd name="adj" fmla="val 50000"/>
            </a:avLst>
          </a:prstGeom>
          <a:solidFill>
            <a:srgbClr val="F69D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28232"/>
            <a:ext cx="8686800" cy="228600"/>
          </a:xfrm>
          <a:prstGeom prst="rect">
            <a:avLst/>
          </a:prstGeom>
          <a:noFill/>
        </p:spPr>
        <p:txBody>
          <a:bodyPr wrap="square" lIns="0" rIns="0" tIns="0" bIns="0" anchor="t">
            <a:spAutoFit/>
          </a:bodyPr>
          <a:lstStyle/>
          <a:p>
            <a:pPr algn="l">
              <a:spcAft>
                <a:spcPts val="300"/>
              </a:spcAft>
            </a:pPr>
            <a:r>
              <a:rPr sz="1000" b="0">
                <a:solidFill>
                  <a:srgbClr val="6B5F55"/>
                </a:solidFill>
                <a:latin typeface="Calibri"/>
              </a:rPr>
              <a:t>Minh chứng: ux/p1-research.md · ux/research.md · ux/survey/</a:t>
            </a:r>
          </a:p>
        </p:txBody>
      </p:sp>
      <p:sp>
        <p:nvSpPr>
          <p:cNvPr id="7" name="TextBox 6"/>
          <p:cNvSpPr txBox="1"/>
          <p:nvPr/>
        </p:nvSpPr>
        <p:spPr>
          <a:xfrm>
            <a:off x="9692640" y="6428232"/>
            <a:ext cx="1920240" cy="228600"/>
          </a:xfrm>
          <a:prstGeom prst="rect">
            <a:avLst/>
          </a:prstGeom>
          <a:noFill/>
        </p:spPr>
        <p:txBody>
          <a:bodyPr wrap="square" lIns="0" rIns="0" tIns="0" bIns="0" anchor="t">
            <a:spAutoFit/>
          </a:bodyPr>
          <a:lstStyle/>
          <a:p>
            <a:pPr algn="r">
              <a:spcAft>
                <a:spcPts val="300"/>
              </a:spcAft>
            </a:pPr>
            <a:r>
              <a:rPr sz="1000" b="0">
                <a:solidFill>
                  <a:srgbClr val="6B5F55"/>
                </a:solidFill>
                <a:latin typeface="Calibri"/>
              </a:rPr>
              <a:t>BreakBite · 4 / 16</a:t>
            </a:r>
          </a:p>
        </p:txBody>
      </p:sp>
      <p:sp>
        <p:nvSpPr>
          <p:cNvPr id="8" name="Rounded Rectangle 7"/>
          <p:cNvSpPr/>
          <p:nvPr/>
        </p:nvSpPr>
        <p:spPr>
          <a:xfrm>
            <a:off x="548640" y="1463040"/>
            <a:ext cx="3749039" cy="2057400"/>
          </a:xfrm>
          <a:prstGeom prst="roundRect">
            <a:avLst>
              <a:gd name="adj" fmla="val 4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600200"/>
            <a:ext cx="3291840" cy="1097280"/>
          </a:xfrm>
          <a:prstGeom prst="rect">
            <a:avLst/>
          </a:prstGeom>
          <a:noFill/>
        </p:spPr>
        <p:txBody>
          <a:bodyPr wrap="square" lIns="0" rIns="0" tIns="0" bIns="0" anchor="t">
            <a:spAutoFit/>
          </a:bodyPr>
          <a:lstStyle/>
          <a:p>
            <a:pPr algn="l">
              <a:spcAft>
                <a:spcPts val="300"/>
              </a:spcAft>
            </a:pPr>
            <a:r>
              <a:rPr sz="1500" b="1">
                <a:solidFill>
                  <a:srgbClr val="622B14"/>
                </a:solidFill>
                <a:latin typeface="Calibri"/>
              </a:rPr>
              <a:t>Khảo sát Google Form</a:t>
            </a:r>
          </a:p>
          <a:p>
            <a:pPr algn="l">
              <a:spcAft>
                <a:spcPts val="300"/>
              </a:spcAft>
            </a:pPr>
            <a:r>
              <a:rPr sz="1200" b="0">
                <a:solidFill>
                  <a:srgbClr val="6B5F55"/>
                </a:solidFill>
                <a:latin typeface="Calibri"/>
              </a:rPr>
              <a:t>22 câu, RQ1–RQ5, mục tiêu từ 30 sinh viên</a:t>
            </a:r>
          </a:p>
        </p:txBody>
      </p:sp>
      <p:sp>
        <p:nvSpPr>
          <p:cNvPr id="10" name="Rounded Rectangle 9"/>
          <p:cNvSpPr/>
          <p:nvPr/>
        </p:nvSpPr>
        <p:spPr>
          <a:xfrm>
            <a:off x="777240" y="2926080"/>
            <a:ext cx="1737360" cy="274320"/>
          </a:xfrm>
          <a:prstGeom prst="roundRect">
            <a:avLst>
              <a:gd name="adj" fmla="val 50000"/>
            </a:avLst>
          </a:prstGeom>
          <a:solidFill>
            <a:srgbClr val="FFF1DE"/>
          </a:solidFill>
          <a:ln w="9525">
            <a:solidFill>
              <a:srgbClr val="F69D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926080"/>
            <a:ext cx="1737360" cy="274320"/>
          </a:xfrm>
          <a:prstGeom prst="rect">
            <a:avLst/>
          </a:prstGeom>
          <a:noFill/>
        </p:spPr>
        <p:txBody>
          <a:bodyPr wrap="square" lIns="0" rIns="0" tIns="0" bIns="0" anchor="ctr">
            <a:spAutoFit/>
          </a:bodyPr>
          <a:lstStyle/>
          <a:p>
            <a:pPr algn="ctr">
              <a:spcAft>
                <a:spcPts val="300"/>
              </a:spcAft>
            </a:pPr>
            <a:r>
              <a:rPr sz="1100" b="1">
                <a:solidFill>
                  <a:srgbClr val="B45309"/>
                </a:solidFill>
                <a:latin typeface="Calibri"/>
              </a:rPr>
              <a:t>Đang thu phản hồi</a:t>
            </a:r>
          </a:p>
        </p:txBody>
      </p:sp>
      <p:sp>
        <p:nvSpPr>
          <p:cNvPr id="12" name="Rounded Rectangle 11"/>
          <p:cNvSpPr/>
          <p:nvPr/>
        </p:nvSpPr>
        <p:spPr>
          <a:xfrm>
            <a:off x="548640" y="3703320"/>
            <a:ext cx="3749039" cy="2057400"/>
          </a:xfrm>
          <a:prstGeom prst="roundRect">
            <a:avLst>
              <a:gd name="adj" fmla="val 4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40480"/>
            <a:ext cx="3291840" cy="1645920"/>
          </a:xfrm>
          <a:prstGeom prst="rect">
            <a:avLst/>
          </a:prstGeom>
          <a:noFill/>
        </p:spPr>
        <p:txBody>
          <a:bodyPr wrap="square" lIns="0" rIns="0" tIns="0" bIns="0" anchor="t">
            <a:spAutoFit/>
          </a:bodyPr>
          <a:lstStyle/>
          <a:p>
            <a:pPr algn="l">
              <a:spcAft>
                <a:spcPts val="300"/>
              </a:spcAft>
            </a:pPr>
            <a:r>
              <a:rPr sz="1500" b="1">
                <a:solidFill>
                  <a:srgbClr val="622B14"/>
                </a:solidFill>
                <a:latin typeface="Calibri"/>
              </a:rPr>
              <a:t>Dữ liệu mô phỏng</a:t>
            </a:r>
          </a:p>
          <a:p>
            <a:pPr algn="l">
              <a:spcAft>
                <a:spcPts val="300"/>
              </a:spcAft>
            </a:pPr>
            <a:r>
              <a:rPr sz="1200" b="0">
                <a:solidFill>
                  <a:srgbClr val="6B5F55"/>
                </a:solidFill>
                <a:latin typeface="Calibri"/>
              </a:rPr>
              <a:t>5 phỏng vấn AI và 20 phản hồi mô phỏng, dùng để thử form và tạo giả thuyết, không phải bằng chứng</a:t>
            </a:r>
          </a:p>
        </p:txBody>
      </p:sp>
      <p:sp>
        <p:nvSpPr>
          <p:cNvPr id="14" name="Rounded Rectangle 13"/>
          <p:cNvSpPr/>
          <p:nvPr/>
        </p:nvSpPr>
        <p:spPr>
          <a:xfrm>
            <a:off x="777240" y="5166360"/>
            <a:ext cx="1188720" cy="274320"/>
          </a:xfrm>
          <a:prstGeom prst="roundRect">
            <a:avLst>
              <a:gd name="adj" fmla="val 50000"/>
            </a:avLst>
          </a:prstGeom>
          <a:solidFill>
            <a:srgbClr val="E8F5EC"/>
          </a:solidFill>
          <a:ln w="9525">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5166360"/>
            <a:ext cx="1188720" cy="274320"/>
          </a:xfrm>
          <a:prstGeom prst="rect">
            <a:avLst/>
          </a:prstGeom>
          <a:noFill/>
        </p:spPr>
        <p:txBody>
          <a:bodyPr wrap="square" lIns="0" rIns="0" tIns="0" bIns="0" anchor="ctr">
            <a:spAutoFit/>
          </a:bodyPr>
          <a:lstStyle/>
          <a:p>
            <a:pPr algn="ctr">
              <a:spcAft>
                <a:spcPts val="300"/>
              </a:spcAft>
            </a:pPr>
            <a:r>
              <a:rPr sz="1100" b="1">
                <a:solidFill>
                  <a:srgbClr val="15803D"/>
                </a:solidFill>
                <a:latin typeface="Calibri"/>
              </a:rPr>
              <a:t>Đã làm</a:t>
            </a:r>
          </a:p>
        </p:txBody>
      </p:sp>
      <p:sp>
        <p:nvSpPr>
          <p:cNvPr id="16" name="Rounded Rectangle 15"/>
          <p:cNvSpPr/>
          <p:nvPr/>
        </p:nvSpPr>
        <p:spPr>
          <a:xfrm>
            <a:off x="4526280" y="1463040"/>
            <a:ext cx="7132320" cy="4297680"/>
          </a:xfrm>
          <a:prstGeom prst="roundRect">
            <a:avLst>
              <a:gd name="adj" fmla="val 4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54880" y="1600200"/>
            <a:ext cx="6675120" cy="320040"/>
          </a:xfrm>
          <a:prstGeom prst="rect">
            <a:avLst/>
          </a:prstGeom>
          <a:noFill/>
        </p:spPr>
        <p:txBody>
          <a:bodyPr wrap="square" lIns="0" rIns="0" tIns="0" bIns="0" anchor="t">
            <a:spAutoFit/>
          </a:bodyPr>
          <a:lstStyle/>
          <a:p>
            <a:pPr algn="l">
              <a:spcAft>
                <a:spcPts val="300"/>
              </a:spcAft>
            </a:pPr>
            <a:r>
              <a:rPr sz="1200" b="1">
                <a:solidFill>
                  <a:srgbClr val="6B5F55"/>
                </a:solidFill>
                <a:latin typeface="Calibri"/>
              </a:rPr>
              <a:t>INSIGHT → QUYẾT ĐỊNH THIẾT KẾ</a:t>
            </a:r>
          </a:p>
        </p:txBody>
      </p:sp>
      <p:sp>
        <p:nvSpPr>
          <p:cNvPr id="18" name="Rounded Rectangle 17"/>
          <p:cNvSpPr/>
          <p:nvPr/>
        </p:nvSpPr>
        <p:spPr>
          <a:xfrm>
            <a:off x="4754880" y="2011680"/>
            <a:ext cx="6675120" cy="640080"/>
          </a:xfrm>
          <a:prstGeom prst="roundRect">
            <a:avLst>
              <a:gd name="adj" fmla="val 4000"/>
            </a:avLst>
          </a:prstGeom>
          <a:solidFill>
            <a:srgbClr val="FFF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92040" y="2011680"/>
            <a:ext cx="822960" cy="640080"/>
          </a:xfrm>
          <a:prstGeom prst="rect">
            <a:avLst/>
          </a:prstGeom>
          <a:noFill/>
        </p:spPr>
        <p:txBody>
          <a:bodyPr wrap="square" lIns="0" rIns="0" tIns="0" bIns="0" anchor="ctr">
            <a:spAutoFit/>
          </a:bodyPr>
          <a:lstStyle/>
          <a:p>
            <a:pPr algn="l">
              <a:spcAft>
                <a:spcPts val="300"/>
              </a:spcAft>
            </a:pPr>
            <a:r>
              <a:rPr sz="1200" b="1">
                <a:solidFill>
                  <a:srgbClr val="B45309"/>
                </a:solidFill>
                <a:latin typeface="Calibri"/>
              </a:rPr>
              <a:t>INS-01</a:t>
            </a:r>
          </a:p>
        </p:txBody>
      </p:sp>
      <p:sp>
        <p:nvSpPr>
          <p:cNvPr id="20" name="TextBox 19"/>
          <p:cNvSpPr txBox="1"/>
          <p:nvPr/>
        </p:nvSpPr>
        <p:spPr>
          <a:xfrm>
            <a:off x="5760720" y="2011680"/>
            <a:ext cx="2011680" cy="640080"/>
          </a:xfrm>
          <a:prstGeom prst="rect">
            <a:avLst/>
          </a:prstGeom>
          <a:noFill/>
        </p:spPr>
        <p:txBody>
          <a:bodyPr wrap="square" lIns="0" rIns="0" tIns="0" bIns="0" anchor="ctr">
            <a:spAutoFit/>
          </a:bodyPr>
          <a:lstStyle/>
          <a:p>
            <a:pPr algn="l">
              <a:spcAft>
                <a:spcPts val="300"/>
              </a:spcAft>
            </a:pPr>
            <a:r>
              <a:rPr sz="1300" b="1">
                <a:solidFill>
                  <a:srgbClr val="622B14"/>
                </a:solidFill>
                <a:latin typeface="Calibri"/>
              </a:rPr>
              <a:t>Hàng chờ giờ nghỉ</a:t>
            </a:r>
          </a:p>
        </p:txBody>
      </p:sp>
      <p:sp>
        <p:nvSpPr>
          <p:cNvPr id="21" name="TextBox 20"/>
          <p:cNvSpPr txBox="1"/>
          <p:nvPr/>
        </p:nvSpPr>
        <p:spPr>
          <a:xfrm>
            <a:off x="7772400" y="2011680"/>
            <a:ext cx="3566160" cy="640080"/>
          </a:xfrm>
          <a:prstGeom prst="rect">
            <a:avLst/>
          </a:prstGeom>
          <a:noFill/>
        </p:spPr>
        <p:txBody>
          <a:bodyPr wrap="square" lIns="0" rIns="0" tIns="0" bIns="0" anchor="ctr">
            <a:spAutoFit/>
          </a:bodyPr>
          <a:lstStyle/>
          <a:p>
            <a:pPr algn="l">
              <a:spcAft>
                <a:spcPts val="300"/>
              </a:spcAft>
            </a:pPr>
            <a:r>
              <a:rPr sz="1200" b="0">
                <a:solidFill>
                  <a:srgbClr val="6B5F55"/>
                </a:solidFill>
                <a:latin typeface="Calibri"/>
              </a:rPr>
              <a:t>Đặt trước và hẹn giờ nhận (S05)</a:t>
            </a:r>
          </a:p>
        </p:txBody>
      </p:sp>
      <p:sp>
        <p:nvSpPr>
          <p:cNvPr id="22" name="Rounded Rectangle 21"/>
          <p:cNvSpPr/>
          <p:nvPr/>
        </p:nvSpPr>
        <p:spPr>
          <a:xfrm>
            <a:off x="4754880" y="2743200"/>
            <a:ext cx="6675120" cy="640080"/>
          </a:xfrm>
          <a:prstGeom prst="roundRect">
            <a:avLst>
              <a:gd name="adj" fmla="val 4000"/>
            </a:avLst>
          </a:prstGeom>
          <a:solidFill>
            <a:srgbClr val="FFF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92040" y="2743200"/>
            <a:ext cx="822960" cy="640080"/>
          </a:xfrm>
          <a:prstGeom prst="rect">
            <a:avLst/>
          </a:prstGeom>
          <a:noFill/>
        </p:spPr>
        <p:txBody>
          <a:bodyPr wrap="square" lIns="0" rIns="0" tIns="0" bIns="0" anchor="ctr">
            <a:spAutoFit/>
          </a:bodyPr>
          <a:lstStyle/>
          <a:p>
            <a:pPr algn="l">
              <a:spcAft>
                <a:spcPts val="300"/>
              </a:spcAft>
            </a:pPr>
            <a:r>
              <a:rPr sz="1200" b="1">
                <a:solidFill>
                  <a:srgbClr val="B45309"/>
                </a:solidFill>
                <a:latin typeface="Calibri"/>
              </a:rPr>
              <a:t>INS-02</a:t>
            </a:r>
          </a:p>
        </p:txBody>
      </p:sp>
      <p:sp>
        <p:nvSpPr>
          <p:cNvPr id="24" name="TextBox 23"/>
          <p:cNvSpPr txBox="1"/>
          <p:nvPr/>
        </p:nvSpPr>
        <p:spPr>
          <a:xfrm>
            <a:off x="5760720" y="2743200"/>
            <a:ext cx="2011680" cy="640080"/>
          </a:xfrm>
          <a:prstGeom prst="rect">
            <a:avLst/>
          </a:prstGeom>
          <a:noFill/>
        </p:spPr>
        <p:txBody>
          <a:bodyPr wrap="square" lIns="0" rIns="0" tIns="0" bIns="0" anchor="ctr">
            <a:spAutoFit/>
          </a:bodyPr>
          <a:lstStyle/>
          <a:p>
            <a:pPr algn="l">
              <a:spcAft>
                <a:spcPts val="300"/>
              </a:spcAft>
            </a:pPr>
            <a:r>
              <a:rPr sz="1300" b="1">
                <a:solidFill>
                  <a:srgbClr val="622B14"/>
                </a:solidFill>
                <a:latin typeface="Calibri"/>
              </a:rPr>
              <a:t>Cần biết trước</a:t>
            </a:r>
          </a:p>
        </p:txBody>
      </p:sp>
      <p:sp>
        <p:nvSpPr>
          <p:cNvPr id="25" name="TextBox 24"/>
          <p:cNvSpPr txBox="1"/>
          <p:nvPr/>
        </p:nvSpPr>
        <p:spPr>
          <a:xfrm>
            <a:off x="7772400" y="2743200"/>
            <a:ext cx="3566160" cy="640080"/>
          </a:xfrm>
          <a:prstGeom prst="rect">
            <a:avLst/>
          </a:prstGeom>
          <a:noFill/>
        </p:spPr>
        <p:txBody>
          <a:bodyPr wrap="square" lIns="0" rIns="0" tIns="0" bIns="0" anchor="ctr">
            <a:spAutoFit/>
          </a:bodyPr>
          <a:lstStyle/>
          <a:p>
            <a:pPr algn="l">
              <a:spcAft>
                <a:spcPts val="300"/>
              </a:spcAft>
            </a:pPr>
            <a:r>
              <a:rPr sz="1200" b="0">
                <a:solidFill>
                  <a:srgbClr val="6B5F55"/>
                </a:solidFill>
                <a:latin typeface="Calibri"/>
              </a:rPr>
              <a:t>Trạng thái quán và thời gian chờ (S02)</a:t>
            </a:r>
          </a:p>
        </p:txBody>
      </p:sp>
      <p:sp>
        <p:nvSpPr>
          <p:cNvPr id="26" name="Rounded Rectangle 25"/>
          <p:cNvSpPr/>
          <p:nvPr/>
        </p:nvSpPr>
        <p:spPr>
          <a:xfrm>
            <a:off x="4754880" y="3474720"/>
            <a:ext cx="6675120" cy="640080"/>
          </a:xfrm>
          <a:prstGeom prst="roundRect">
            <a:avLst>
              <a:gd name="adj" fmla="val 4000"/>
            </a:avLst>
          </a:prstGeom>
          <a:solidFill>
            <a:srgbClr val="FFF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92040" y="3474720"/>
            <a:ext cx="822960" cy="640080"/>
          </a:xfrm>
          <a:prstGeom prst="rect">
            <a:avLst/>
          </a:prstGeom>
          <a:noFill/>
        </p:spPr>
        <p:txBody>
          <a:bodyPr wrap="square" lIns="0" rIns="0" tIns="0" bIns="0" anchor="ctr">
            <a:spAutoFit/>
          </a:bodyPr>
          <a:lstStyle/>
          <a:p>
            <a:pPr algn="l">
              <a:spcAft>
                <a:spcPts val="300"/>
              </a:spcAft>
            </a:pPr>
            <a:r>
              <a:rPr sz="1200" b="1">
                <a:solidFill>
                  <a:srgbClr val="B45309"/>
                </a:solidFill>
                <a:latin typeface="Calibri"/>
              </a:rPr>
              <a:t>INS-04</a:t>
            </a:r>
          </a:p>
        </p:txBody>
      </p:sp>
      <p:sp>
        <p:nvSpPr>
          <p:cNvPr id="28" name="TextBox 27"/>
          <p:cNvSpPr txBox="1"/>
          <p:nvPr/>
        </p:nvSpPr>
        <p:spPr>
          <a:xfrm>
            <a:off x="5760720" y="3474720"/>
            <a:ext cx="2011680" cy="640080"/>
          </a:xfrm>
          <a:prstGeom prst="rect">
            <a:avLst/>
          </a:prstGeom>
          <a:noFill/>
        </p:spPr>
        <p:txBody>
          <a:bodyPr wrap="square" lIns="0" rIns="0" tIns="0" bIns="0" anchor="ctr">
            <a:spAutoFit/>
          </a:bodyPr>
          <a:lstStyle/>
          <a:p>
            <a:pPr algn="l">
              <a:spcAft>
                <a:spcPts val="300"/>
              </a:spcAft>
            </a:pPr>
            <a:r>
              <a:rPr sz="1300" b="1">
                <a:solidFill>
                  <a:srgbClr val="622B14"/>
                </a:solidFill>
                <a:latin typeface="Calibri"/>
              </a:rPr>
              <a:t>Ngại phí ẩn</a:t>
            </a:r>
          </a:p>
        </p:txBody>
      </p:sp>
      <p:sp>
        <p:nvSpPr>
          <p:cNvPr id="29" name="TextBox 28"/>
          <p:cNvSpPr txBox="1"/>
          <p:nvPr/>
        </p:nvSpPr>
        <p:spPr>
          <a:xfrm>
            <a:off x="7772400" y="3474720"/>
            <a:ext cx="3566160" cy="640080"/>
          </a:xfrm>
          <a:prstGeom prst="rect">
            <a:avLst/>
          </a:prstGeom>
          <a:noFill/>
        </p:spPr>
        <p:txBody>
          <a:bodyPr wrap="square" lIns="0" rIns="0" tIns="0" bIns="0" anchor="ctr">
            <a:spAutoFit/>
          </a:bodyPr>
          <a:lstStyle/>
          <a:p>
            <a:pPr algn="l">
              <a:spcAft>
                <a:spcPts val="300"/>
              </a:spcAft>
            </a:pPr>
            <a:r>
              <a:rPr sz="1200" b="0">
                <a:solidFill>
                  <a:srgbClr val="6B5F55"/>
                </a:solidFill>
                <a:latin typeface="Calibri"/>
              </a:rPr>
              <a:t>Giá cộng dồn trên nút, tổng ở giỏ (S04, S05)</a:t>
            </a:r>
          </a:p>
        </p:txBody>
      </p:sp>
      <p:sp>
        <p:nvSpPr>
          <p:cNvPr id="30" name="Rounded Rectangle 29"/>
          <p:cNvSpPr/>
          <p:nvPr/>
        </p:nvSpPr>
        <p:spPr>
          <a:xfrm>
            <a:off x="4754880" y="4206240"/>
            <a:ext cx="6675120" cy="640080"/>
          </a:xfrm>
          <a:prstGeom prst="roundRect">
            <a:avLst>
              <a:gd name="adj" fmla="val 4000"/>
            </a:avLst>
          </a:prstGeom>
          <a:solidFill>
            <a:srgbClr val="FFF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92040" y="4206240"/>
            <a:ext cx="822960" cy="640080"/>
          </a:xfrm>
          <a:prstGeom prst="rect">
            <a:avLst/>
          </a:prstGeom>
          <a:noFill/>
        </p:spPr>
        <p:txBody>
          <a:bodyPr wrap="square" lIns="0" rIns="0" tIns="0" bIns="0" anchor="ctr">
            <a:spAutoFit/>
          </a:bodyPr>
          <a:lstStyle/>
          <a:p>
            <a:pPr algn="l">
              <a:spcAft>
                <a:spcPts val="300"/>
              </a:spcAft>
            </a:pPr>
            <a:r>
              <a:rPr sz="1200" b="1">
                <a:solidFill>
                  <a:srgbClr val="B45309"/>
                </a:solidFill>
                <a:latin typeface="Calibri"/>
              </a:rPr>
              <a:t>INS-05</a:t>
            </a:r>
          </a:p>
        </p:txBody>
      </p:sp>
      <p:sp>
        <p:nvSpPr>
          <p:cNvPr id="32" name="TextBox 31"/>
          <p:cNvSpPr txBox="1"/>
          <p:nvPr/>
        </p:nvSpPr>
        <p:spPr>
          <a:xfrm>
            <a:off x="5760720" y="4206240"/>
            <a:ext cx="2011680" cy="640080"/>
          </a:xfrm>
          <a:prstGeom prst="rect">
            <a:avLst/>
          </a:prstGeom>
          <a:noFill/>
        </p:spPr>
        <p:txBody>
          <a:bodyPr wrap="square" lIns="0" rIns="0" tIns="0" bIns="0" anchor="ctr">
            <a:spAutoFit/>
          </a:bodyPr>
          <a:lstStyle/>
          <a:p>
            <a:pPr algn="l">
              <a:spcAft>
                <a:spcPts val="300"/>
              </a:spcAft>
            </a:pPr>
            <a:r>
              <a:rPr sz="1300" b="1">
                <a:solidFill>
                  <a:srgbClr val="622B14"/>
                </a:solidFill>
                <a:latin typeface="Calibri"/>
              </a:rPr>
              <a:t>Không muốn đăng ký</a:t>
            </a:r>
          </a:p>
        </p:txBody>
      </p:sp>
      <p:sp>
        <p:nvSpPr>
          <p:cNvPr id="33" name="TextBox 32"/>
          <p:cNvSpPr txBox="1"/>
          <p:nvPr/>
        </p:nvSpPr>
        <p:spPr>
          <a:xfrm>
            <a:off x="7772400" y="4206240"/>
            <a:ext cx="3566160" cy="640080"/>
          </a:xfrm>
          <a:prstGeom prst="rect">
            <a:avLst/>
          </a:prstGeom>
          <a:noFill/>
        </p:spPr>
        <p:txBody>
          <a:bodyPr wrap="square" lIns="0" rIns="0" tIns="0" bIns="0" anchor="ctr">
            <a:spAutoFit/>
          </a:bodyPr>
          <a:lstStyle/>
          <a:p>
            <a:pPr algn="l">
              <a:spcAft>
                <a:spcPts val="300"/>
              </a:spcAft>
            </a:pPr>
            <a:r>
              <a:rPr sz="1200" b="0">
                <a:solidFill>
                  <a:srgbClr val="6B5F55"/>
                </a:solidFill>
                <a:latin typeface="Calibri"/>
              </a:rPr>
              <a:t>Xem menu không cần tài khoản (S26 không bắt buộc)</a:t>
            </a:r>
          </a:p>
        </p:txBody>
      </p:sp>
      <p:sp>
        <p:nvSpPr>
          <p:cNvPr id="34" name="Rounded Rectangle 33"/>
          <p:cNvSpPr/>
          <p:nvPr/>
        </p:nvSpPr>
        <p:spPr>
          <a:xfrm>
            <a:off x="4754880" y="4937760"/>
            <a:ext cx="6675120" cy="640080"/>
          </a:xfrm>
          <a:prstGeom prst="roundRect">
            <a:avLst>
              <a:gd name="adj" fmla="val 4000"/>
            </a:avLst>
          </a:prstGeom>
          <a:solidFill>
            <a:srgbClr val="FFF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92040" y="4937760"/>
            <a:ext cx="822960" cy="640080"/>
          </a:xfrm>
          <a:prstGeom prst="rect">
            <a:avLst/>
          </a:prstGeom>
          <a:noFill/>
        </p:spPr>
        <p:txBody>
          <a:bodyPr wrap="square" lIns="0" rIns="0" tIns="0" bIns="0" anchor="ctr">
            <a:spAutoFit/>
          </a:bodyPr>
          <a:lstStyle/>
          <a:p>
            <a:pPr algn="l">
              <a:spcAft>
                <a:spcPts val="300"/>
              </a:spcAft>
            </a:pPr>
            <a:r>
              <a:rPr sz="1200" b="1">
                <a:solidFill>
                  <a:srgbClr val="B45309"/>
                </a:solidFill>
                <a:latin typeface="Calibri"/>
              </a:rPr>
              <a:t>INS-06</a:t>
            </a:r>
          </a:p>
        </p:txBody>
      </p:sp>
      <p:sp>
        <p:nvSpPr>
          <p:cNvPr id="36" name="TextBox 35"/>
          <p:cNvSpPr txBox="1"/>
          <p:nvPr/>
        </p:nvSpPr>
        <p:spPr>
          <a:xfrm>
            <a:off x="5760720" y="4937760"/>
            <a:ext cx="2011680" cy="640080"/>
          </a:xfrm>
          <a:prstGeom prst="rect">
            <a:avLst/>
          </a:prstGeom>
          <a:noFill/>
        </p:spPr>
        <p:txBody>
          <a:bodyPr wrap="square" lIns="0" rIns="0" tIns="0" bIns="0" anchor="ctr">
            <a:spAutoFit/>
          </a:bodyPr>
          <a:lstStyle/>
          <a:p>
            <a:pPr algn="l">
              <a:spcAft>
                <a:spcPts val="300"/>
              </a:spcAft>
            </a:pPr>
            <a:r>
              <a:rPr sz="1300" b="1">
                <a:solidFill>
                  <a:srgbClr val="622B14"/>
                </a:solidFill>
                <a:latin typeface="Calibri"/>
              </a:rPr>
              <a:t>Lỗi thanh toán</a:t>
            </a:r>
          </a:p>
        </p:txBody>
      </p:sp>
      <p:sp>
        <p:nvSpPr>
          <p:cNvPr id="37" name="TextBox 36"/>
          <p:cNvSpPr txBox="1"/>
          <p:nvPr/>
        </p:nvSpPr>
        <p:spPr>
          <a:xfrm>
            <a:off x="7772400" y="4937760"/>
            <a:ext cx="3566160" cy="640080"/>
          </a:xfrm>
          <a:prstGeom prst="rect">
            <a:avLst/>
          </a:prstGeom>
          <a:noFill/>
        </p:spPr>
        <p:txBody>
          <a:bodyPr wrap="square" lIns="0" rIns="0" tIns="0" bIns="0" anchor="ctr">
            <a:spAutoFit/>
          </a:bodyPr>
          <a:lstStyle/>
          <a:p>
            <a:pPr algn="l">
              <a:spcAft>
                <a:spcPts val="300"/>
              </a:spcAft>
            </a:pPr>
            <a:r>
              <a:rPr sz="1200" b="0">
                <a:solidFill>
                  <a:srgbClr val="6B5F55"/>
                </a:solidFill>
                <a:latin typeface="Calibri"/>
              </a:rPr>
              <a:t>Màn phục hồi giữ giỏ hàng (S06-ERR)</a:t>
            </a:r>
          </a:p>
        </p:txBody>
      </p:sp>
      <p:sp>
        <p:nvSpPr>
          <p:cNvPr id="38" name="TextBox 37"/>
          <p:cNvSpPr txBox="1"/>
          <p:nvPr/>
        </p:nvSpPr>
        <p:spPr>
          <a:xfrm>
            <a:off x="548640" y="5897880"/>
            <a:ext cx="11064240" cy="365760"/>
          </a:xfrm>
          <a:prstGeom prst="rect">
            <a:avLst/>
          </a:prstGeom>
          <a:noFill/>
        </p:spPr>
        <p:txBody>
          <a:bodyPr wrap="square" lIns="0" rIns="0" tIns="0" bIns="0" anchor="t">
            <a:spAutoFit/>
          </a:bodyPr>
          <a:lstStyle/>
          <a:p>
            <a:pPr algn="l">
              <a:spcAft>
                <a:spcPts val="300"/>
              </a:spcAft>
            </a:pPr>
            <a:r>
              <a:rPr sz="1200" b="1">
                <a:solidFill>
                  <a:srgbClr val="B45309"/>
                </a:solidFill>
                <a:latin typeface="Calibri"/>
              </a:rPr>
              <a:t>Chưa làm: hỏi nhân viên quầy (RQ6) và usability test với người thật.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8F5"/>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548640" y="384048"/>
            <a:ext cx="566928" cy="566928"/>
          </a:xfrm>
          <a:prstGeom prst="rect">
            <a:avLst/>
          </a:prstGeom>
        </p:spPr>
      </p:pic>
      <p:sp>
        <p:nvSpPr>
          <p:cNvPr id="3" name="TextBox 2"/>
          <p:cNvSpPr txBox="1"/>
          <p:nvPr/>
        </p:nvSpPr>
        <p:spPr>
          <a:xfrm>
            <a:off x="1280160" y="329184"/>
            <a:ext cx="10241280" cy="548640"/>
          </a:xfrm>
          <a:prstGeom prst="rect">
            <a:avLst/>
          </a:prstGeom>
          <a:noFill/>
        </p:spPr>
        <p:txBody>
          <a:bodyPr wrap="square" lIns="0" rIns="0" tIns="0" bIns="0" anchor="ctr">
            <a:spAutoFit/>
          </a:bodyPr>
          <a:lstStyle/>
          <a:p>
            <a:pPr algn="l">
              <a:spcAft>
                <a:spcPts val="300"/>
              </a:spcAft>
            </a:pPr>
            <a:r>
              <a:rPr sz="2800" b="1">
                <a:solidFill>
                  <a:srgbClr val="622B14"/>
                </a:solidFill>
                <a:latin typeface="Trebuchet MS"/>
              </a:rPr>
              <a:t>Kiến trúc thông tin</a:t>
            </a:r>
          </a:p>
        </p:txBody>
      </p:sp>
      <p:sp>
        <p:nvSpPr>
          <p:cNvPr id="4" name="TextBox 3"/>
          <p:cNvSpPr txBox="1"/>
          <p:nvPr/>
        </p:nvSpPr>
        <p:spPr>
          <a:xfrm>
            <a:off x="1280160" y="868680"/>
            <a:ext cx="10241280" cy="320040"/>
          </a:xfrm>
          <a:prstGeom prst="rect">
            <a:avLst/>
          </a:prstGeom>
          <a:noFill/>
        </p:spPr>
        <p:txBody>
          <a:bodyPr wrap="square" lIns="0" rIns="0" tIns="0" bIns="0" anchor="t">
            <a:spAutoFit/>
          </a:bodyPr>
          <a:lstStyle/>
          <a:p>
            <a:pPr algn="l">
              <a:spcAft>
                <a:spcPts val="300"/>
              </a:spcAft>
            </a:pPr>
            <a:r>
              <a:rPr sz="1400" b="0">
                <a:solidFill>
                  <a:srgbClr val="6B5F55"/>
                </a:solidFill>
                <a:latin typeface="Calibri"/>
              </a:rPr>
              <a:t>Thanh dưới 4 tab cho app khách, 4 tab cho app người bán</a:t>
            </a:r>
          </a:p>
        </p:txBody>
      </p:sp>
      <p:sp>
        <p:nvSpPr>
          <p:cNvPr id="5" name="Rounded Rectangle 4"/>
          <p:cNvSpPr/>
          <p:nvPr/>
        </p:nvSpPr>
        <p:spPr>
          <a:xfrm>
            <a:off x="1280160" y="1207008"/>
            <a:ext cx="822960" cy="45720"/>
          </a:xfrm>
          <a:prstGeom prst="roundRect">
            <a:avLst>
              <a:gd name="adj" fmla="val 50000"/>
            </a:avLst>
          </a:prstGeom>
          <a:solidFill>
            <a:srgbClr val="F69D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28232"/>
            <a:ext cx="8686800" cy="228600"/>
          </a:xfrm>
          <a:prstGeom prst="rect">
            <a:avLst/>
          </a:prstGeom>
          <a:noFill/>
        </p:spPr>
        <p:txBody>
          <a:bodyPr wrap="square" lIns="0" rIns="0" tIns="0" bIns="0" anchor="t">
            <a:spAutoFit/>
          </a:bodyPr>
          <a:lstStyle/>
          <a:p>
            <a:pPr algn="l">
              <a:spcAft>
                <a:spcPts val="300"/>
              </a:spcAft>
            </a:pPr>
            <a:r>
              <a:rPr sz="1000" b="0">
                <a:solidFill>
                  <a:srgbClr val="6B5F55"/>
                </a:solidFill>
                <a:latin typeface="Calibri"/>
              </a:rPr>
              <a:t>Minh chứng: ux/user-flow.md mục 1 · design/screens-s09-s30.md</a:t>
            </a:r>
          </a:p>
        </p:txBody>
      </p:sp>
      <p:sp>
        <p:nvSpPr>
          <p:cNvPr id="7" name="TextBox 6"/>
          <p:cNvSpPr txBox="1"/>
          <p:nvPr/>
        </p:nvSpPr>
        <p:spPr>
          <a:xfrm>
            <a:off x="9692640" y="6428232"/>
            <a:ext cx="1920240" cy="228600"/>
          </a:xfrm>
          <a:prstGeom prst="rect">
            <a:avLst/>
          </a:prstGeom>
          <a:noFill/>
        </p:spPr>
        <p:txBody>
          <a:bodyPr wrap="square" lIns="0" rIns="0" tIns="0" bIns="0" anchor="t">
            <a:spAutoFit/>
          </a:bodyPr>
          <a:lstStyle/>
          <a:p>
            <a:pPr algn="r">
              <a:spcAft>
                <a:spcPts val="300"/>
              </a:spcAft>
            </a:pPr>
            <a:r>
              <a:rPr sz="1000" b="0">
                <a:solidFill>
                  <a:srgbClr val="6B5F55"/>
                </a:solidFill>
                <a:latin typeface="Calibri"/>
              </a:rPr>
              <a:t>BreakBite · 5 / 16</a:t>
            </a:r>
          </a:p>
        </p:txBody>
      </p:sp>
      <p:sp>
        <p:nvSpPr>
          <p:cNvPr id="8" name="Rounded Rectangle 7"/>
          <p:cNvSpPr/>
          <p:nvPr/>
        </p:nvSpPr>
        <p:spPr>
          <a:xfrm>
            <a:off x="4937760" y="1417320"/>
            <a:ext cx="2286000" cy="457200"/>
          </a:xfrm>
          <a:prstGeom prst="roundRect">
            <a:avLst>
              <a:gd name="adj" fmla="val 50000"/>
            </a:avLst>
          </a:prstGeom>
          <a:solidFill>
            <a:srgbClr val="F69D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937760" y="1417320"/>
            <a:ext cx="2286000" cy="457200"/>
          </a:xfrm>
          <a:prstGeom prst="rect">
            <a:avLst/>
          </a:prstGeom>
          <a:noFill/>
        </p:spPr>
        <p:txBody>
          <a:bodyPr wrap="square" lIns="0" rIns="0" tIns="0" bIns="0" anchor="ctr">
            <a:spAutoFit/>
          </a:bodyPr>
          <a:lstStyle/>
          <a:p>
            <a:pPr algn="ctr">
              <a:spcAft>
                <a:spcPts val="300"/>
              </a:spcAft>
            </a:pPr>
            <a:r>
              <a:rPr sz="1300" b="1">
                <a:solidFill>
                  <a:srgbClr val="622B14"/>
                </a:solidFill>
                <a:latin typeface="Calibri"/>
              </a:rPr>
              <a:t>S01 Onboarding · lần đầu</a:t>
            </a:r>
          </a:p>
        </p:txBody>
      </p:sp>
      <p:sp>
        <p:nvSpPr>
          <p:cNvPr id="10" name="Rounded Rectangle 9"/>
          <p:cNvSpPr/>
          <p:nvPr/>
        </p:nvSpPr>
        <p:spPr>
          <a:xfrm>
            <a:off x="548640" y="2103120"/>
            <a:ext cx="2697480" cy="3337560"/>
          </a:xfrm>
          <a:prstGeom prst="roundRect">
            <a:avLst>
              <a:gd name="adj" fmla="val 4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48640" y="2103120"/>
            <a:ext cx="2697480" cy="502920"/>
          </a:xfrm>
          <a:prstGeom prst="roundRect">
            <a:avLst>
              <a:gd name="adj" fmla="val 4000"/>
            </a:avLst>
          </a:prstGeom>
          <a:solidFill>
            <a:srgbClr val="FFF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103120"/>
            <a:ext cx="2697480" cy="502920"/>
          </a:xfrm>
          <a:prstGeom prst="rect">
            <a:avLst/>
          </a:prstGeom>
          <a:noFill/>
        </p:spPr>
        <p:txBody>
          <a:bodyPr wrap="square" lIns="0" rIns="0" tIns="0" bIns="0" anchor="ctr">
            <a:spAutoFit/>
          </a:bodyPr>
          <a:lstStyle/>
          <a:p>
            <a:pPr algn="ctr">
              <a:spcAft>
                <a:spcPts val="300"/>
              </a:spcAft>
            </a:pPr>
            <a:r>
              <a:rPr sz="1400" b="1">
                <a:solidFill>
                  <a:srgbClr val="622B14"/>
                </a:solidFill>
                <a:latin typeface="Calibri"/>
              </a:rPr>
              <a:t>Trang chủ · S02</a:t>
            </a:r>
          </a:p>
        </p:txBody>
      </p:sp>
      <p:sp>
        <p:nvSpPr>
          <p:cNvPr id="13" name="TextBox 12"/>
          <p:cNvSpPr txBox="1"/>
          <p:nvPr/>
        </p:nvSpPr>
        <p:spPr>
          <a:xfrm>
            <a:off x="731520" y="2743200"/>
            <a:ext cx="2377440" cy="2651760"/>
          </a:xfrm>
          <a:prstGeom prst="rect">
            <a:avLst/>
          </a:prstGeom>
          <a:noFill/>
        </p:spPr>
        <p:txBody>
          <a:bodyPr wrap="square" lIns="0" rIns="0" tIns="0" bIns="0" anchor="t">
            <a:spAutoFit/>
          </a:bodyPr>
          <a:lstStyle/>
          <a:p>
            <a:pPr algn="l">
              <a:spcAft>
                <a:spcPts val="200"/>
              </a:spcAft>
            </a:pPr>
            <a:r>
              <a:rPr sz="1200" b="0">
                <a:solidFill>
                  <a:srgbClr val="6B5F55"/>
                </a:solidFill>
                <a:latin typeface="Calibri"/>
              </a:rPr>
              <a:t>S04 Chi tiết món</a:t>
            </a:r>
          </a:p>
          <a:p>
            <a:pPr algn="l">
              <a:spcAft>
                <a:spcPts val="200"/>
              </a:spcAft>
            </a:pPr>
            <a:r>
              <a:rPr sz="1200" b="0">
                <a:solidFill>
                  <a:srgbClr val="6B5F55"/>
                </a:solidFill>
                <a:latin typeface="Calibri"/>
              </a:rPr>
              <a:t>S05 Giỏ hàng</a:t>
            </a:r>
          </a:p>
          <a:p>
            <a:pPr algn="l">
              <a:spcAft>
                <a:spcPts val="200"/>
              </a:spcAft>
            </a:pPr>
            <a:r>
              <a:rPr sz="1200" b="0">
                <a:solidFill>
                  <a:srgbClr val="6B5F55"/>
                </a:solidFill>
                <a:latin typeface="Calibri"/>
              </a:rPr>
              <a:t>S06 Thanh toán</a:t>
            </a:r>
          </a:p>
          <a:p>
            <a:pPr algn="l">
              <a:spcAft>
                <a:spcPts val="200"/>
              </a:spcAft>
            </a:pPr>
            <a:r>
              <a:rPr sz="1200" b="0">
                <a:solidFill>
                  <a:srgbClr val="6B5F55"/>
                </a:solidFill>
                <a:latin typeface="Calibri"/>
              </a:rPr>
              <a:t>S07 Theo dõi đơn</a:t>
            </a:r>
          </a:p>
          <a:p>
            <a:pPr algn="l">
              <a:spcAft>
                <a:spcPts val="200"/>
              </a:spcAft>
            </a:pPr>
            <a:r>
              <a:rPr sz="1200" b="0">
                <a:solidFill>
                  <a:srgbClr val="6B5F55"/>
                </a:solidFill>
                <a:latin typeface="Calibri"/>
              </a:rPr>
              <a:t>S14 Đặt lại nhanh</a:t>
            </a:r>
          </a:p>
          <a:p>
            <a:pPr algn="l">
              <a:spcAft>
                <a:spcPts val="200"/>
              </a:spcAft>
            </a:pPr>
            <a:r>
              <a:rPr sz="1200" b="0">
                <a:solidFill>
                  <a:srgbClr val="6B5F55"/>
                </a:solidFill>
                <a:latin typeface="Calibri"/>
              </a:rPr>
              <a:t>S19 Thông báo</a:t>
            </a:r>
          </a:p>
          <a:p>
            <a:pPr algn="l">
              <a:spcAft>
                <a:spcPts val="200"/>
              </a:spcAft>
            </a:pPr>
            <a:r>
              <a:rPr sz="1200" b="0">
                <a:solidFill>
                  <a:srgbClr val="6B5F55"/>
                </a:solidFill>
                <a:latin typeface="Calibri"/>
              </a:rPr>
              <a:t>S21 Quán đóng</a:t>
            </a:r>
          </a:p>
          <a:p>
            <a:pPr algn="l">
              <a:spcAft>
                <a:spcPts val="200"/>
              </a:spcAft>
            </a:pPr>
            <a:r>
              <a:rPr sz="1200" b="0">
                <a:solidFill>
                  <a:srgbClr val="6B5F55"/>
                </a:solidFill>
                <a:latin typeface="Calibri"/>
              </a:rPr>
              <a:t>S25 Hẹn giờ</a:t>
            </a:r>
          </a:p>
          <a:p>
            <a:pPr algn="l">
              <a:spcAft>
                <a:spcPts val="200"/>
              </a:spcAft>
            </a:pPr>
            <a:r>
              <a:rPr sz="1200" b="0">
                <a:solidFill>
                  <a:srgbClr val="6B5F55"/>
                </a:solidFill>
                <a:latin typeface="Calibri"/>
              </a:rPr>
              <a:t>S27 Chọn kiosk</a:t>
            </a:r>
          </a:p>
          <a:p>
            <a:pPr algn="l">
              <a:spcAft>
                <a:spcPts val="200"/>
              </a:spcAft>
            </a:pPr>
            <a:r>
              <a:rPr sz="1200" b="0">
                <a:solidFill>
                  <a:srgbClr val="6B5F55"/>
                </a:solidFill>
                <a:latin typeface="Calibri"/>
              </a:rPr>
              <a:t>S28 Tìm kiếm</a:t>
            </a:r>
          </a:p>
        </p:txBody>
      </p:sp>
      <p:sp>
        <p:nvSpPr>
          <p:cNvPr id="14" name="Rounded Rectangle 13"/>
          <p:cNvSpPr/>
          <p:nvPr/>
        </p:nvSpPr>
        <p:spPr>
          <a:xfrm>
            <a:off x="3355848" y="2103120"/>
            <a:ext cx="2697480" cy="3337560"/>
          </a:xfrm>
          <a:prstGeom prst="roundRect">
            <a:avLst>
              <a:gd name="adj" fmla="val 4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355848" y="2103120"/>
            <a:ext cx="2697480" cy="502920"/>
          </a:xfrm>
          <a:prstGeom prst="roundRect">
            <a:avLst>
              <a:gd name="adj" fmla="val 4000"/>
            </a:avLst>
          </a:prstGeom>
          <a:solidFill>
            <a:srgbClr val="FFF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55848" y="2103120"/>
            <a:ext cx="2697480" cy="502920"/>
          </a:xfrm>
          <a:prstGeom prst="rect">
            <a:avLst/>
          </a:prstGeom>
          <a:noFill/>
        </p:spPr>
        <p:txBody>
          <a:bodyPr wrap="square" lIns="0" rIns="0" tIns="0" bIns="0" anchor="ctr">
            <a:spAutoFit/>
          </a:bodyPr>
          <a:lstStyle/>
          <a:p>
            <a:pPr algn="ctr">
              <a:spcAft>
                <a:spcPts val="300"/>
              </a:spcAft>
            </a:pPr>
            <a:r>
              <a:rPr sz="1400" b="1">
                <a:solidFill>
                  <a:srgbClr val="622B14"/>
                </a:solidFill>
                <a:latin typeface="Calibri"/>
              </a:rPr>
              <a:t>Thực đơn · S03</a:t>
            </a:r>
          </a:p>
        </p:txBody>
      </p:sp>
      <p:sp>
        <p:nvSpPr>
          <p:cNvPr id="17" name="TextBox 16"/>
          <p:cNvSpPr txBox="1"/>
          <p:nvPr/>
        </p:nvSpPr>
        <p:spPr>
          <a:xfrm>
            <a:off x="3538728" y="2743200"/>
            <a:ext cx="2377440" cy="2651760"/>
          </a:xfrm>
          <a:prstGeom prst="rect">
            <a:avLst/>
          </a:prstGeom>
          <a:noFill/>
        </p:spPr>
        <p:txBody>
          <a:bodyPr wrap="square" lIns="0" rIns="0" tIns="0" bIns="0" anchor="t">
            <a:spAutoFit/>
          </a:bodyPr>
          <a:lstStyle/>
          <a:p>
            <a:pPr algn="l">
              <a:spcAft>
                <a:spcPts val="200"/>
              </a:spcAft>
            </a:pPr>
            <a:r>
              <a:rPr sz="1200" b="0">
                <a:solidFill>
                  <a:srgbClr val="6B5F55"/>
                </a:solidFill>
                <a:latin typeface="Calibri"/>
              </a:rPr>
              <a:t>S04 Chi tiết món</a:t>
            </a:r>
          </a:p>
          <a:p>
            <a:pPr algn="l">
              <a:spcAft>
                <a:spcPts val="200"/>
              </a:spcAft>
            </a:pPr>
            <a:r>
              <a:rPr sz="1200" b="0">
                <a:solidFill>
                  <a:srgbClr val="6B5F55"/>
                </a:solidFill>
                <a:latin typeface="Calibri"/>
              </a:rPr>
              <a:t>S22 Món hết, gợi ý thay</a:t>
            </a:r>
          </a:p>
          <a:p>
            <a:pPr algn="l">
              <a:spcAft>
                <a:spcPts val="200"/>
              </a:spcAft>
            </a:pPr>
            <a:r>
              <a:rPr sz="1200" b="0">
                <a:solidFill>
                  <a:srgbClr val="6B5F55"/>
                </a:solidFill>
                <a:latin typeface="Calibri"/>
              </a:rPr>
              <a:t>S28 Tìm kiếm</a:t>
            </a:r>
          </a:p>
          <a:p>
            <a:pPr algn="l">
              <a:spcAft>
                <a:spcPts val="200"/>
              </a:spcAft>
            </a:pPr>
            <a:r>
              <a:rPr sz="1200" b="0">
                <a:solidFill>
                  <a:srgbClr val="6B5F55"/>
                </a:solidFill>
                <a:latin typeface="Calibri"/>
              </a:rPr>
              <a:t>S29 Mã giảm giá</a:t>
            </a:r>
          </a:p>
        </p:txBody>
      </p:sp>
      <p:sp>
        <p:nvSpPr>
          <p:cNvPr id="18" name="Rounded Rectangle 17"/>
          <p:cNvSpPr/>
          <p:nvPr/>
        </p:nvSpPr>
        <p:spPr>
          <a:xfrm>
            <a:off x="6163055" y="2103120"/>
            <a:ext cx="2697480" cy="3337560"/>
          </a:xfrm>
          <a:prstGeom prst="roundRect">
            <a:avLst>
              <a:gd name="adj" fmla="val 4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163055" y="2103120"/>
            <a:ext cx="2697480" cy="502920"/>
          </a:xfrm>
          <a:prstGeom prst="roundRect">
            <a:avLst>
              <a:gd name="adj" fmla="val 4000"/>
            </a:avLst>
          </a:prstGeom>
          <a:solidFill>
            <a:srgbClr val="FFF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63055" y="2103120"/>
            <a:ext cx="2697480" cy="502920"/>
          </a:xfrm>
          <a:prstGeom prst="rect">
            <a:avLst/>
          </a:prstGeom>
          <a:noFill/>
        </p:spPr>
        <p:txBody>
          <a:bodyPr wrap="square" lIns="0" rIns="0" tIns="0" bIns="0" anchor="ctr">
            <a:spAutoFit/>
          </a:bodyPr>
          <a:lstStyle/>
          <a:p>
            <a:pPr algn="ctr">
              <a:spcAft>
                <a:spcPts val="300"/>
              </a:spcAft>
            </a:pPr>
            <a:r>
              <a:rPr sz="1400" b="1">
                <a:solidFill>
                  <a:srgbClr val="622B14"/>
                </a:solidFill>
                <a:latin typeface="Calibri"/>
              </a:rPr>
              <a:t>Đơn hàng · S08</a:t>
            </a:r>
          </a:p>
        </p:txBody>
      </p:sp>
      <p:sp>
        <p:nvSpPr>
          <p:cNvPr id="21" name="TextBox 20"/>
          <p:cNvSpPr txBox="1"/>
          <p:nvPr/>
        </p:nvSpPr>
        <p:spPr>
          <a:xfrm>
            <a:off x="6345936" y="2743200"/>
            <a:ext cx="2377440" cy="2651760"/>
          </a:xfrm>
          <a:prstGeom prst="rect">
            <a:avLst/>
          </a:prstGeom>
          <a:noFill/>
        </p:spPr>
        <p:txBody>
          <a:bodyPr wrap="square" lIns="0" rIns="0" tIns="0" bIns="0" anchor="t">
            <a:spAutoFit/>
          </a:bodyPr>
          <a:lstStyle/>
          <a:p>
            <a:pPr algn="l">
              <a:spcAft>
                <a:spcPts val="200"/>
              </a:spcAft>
            </a:pPr>
            <a:r>
              <a:rPr sz="1200" b="0">
                <a:solidFill>
                  <a:srgbClr val="6B5F55"/>
                </a:solidFill>
                <a:latin typeface="Calibri"/>
              </a:rPr>
              <a:t>S07 Theo dõi đơn</a:t>
            </a:r>
          </a:p>
          <a:p>
            <a:pPr algn="l">
              <a:spcAft>
                <a:spcPts val="200"/>
              </a:spcAft>
            </a:pPr>
            <a:r>
              <a:rPr sz="1200" b="0">
                <a:solidFill>
                  <a:srgbClr val="6B5F55"/>
                </a:solidFill>
                <a:latin typeface="Calibri"/>
              </a:rPr>
              <a:t>S09 Sửa đơn</a:t>
            </a:r>
          </a:p>
          <a:p>
            <a:pPr algn="l">
              <a:spcAft>
                <a:spcPts val="200"/>
              </a:spcAft>
            </a:pPr>
            <a:r>
              <a:rPr sz="1200" b="0">
                <a:solidFill>
                  <a:srgbClr val="6B5F55"/>
                </a:solidFill>
                <a:latin typeface="Calibri"/>
              </a:rPr>
              <a:t>S10 Đơn đã huỷ</a:t>
            </a:r>
          </a:p>
          <a:p>
            <a:pPr algn="l">
              <a:spcAft>
                <a:spcPts val="200"/>
              </a:spcAft>
            </a:pPr>
            <a:r>
              <a:rPr sz="1200" b="0">
                <a:solidFill>
                  <a:srgbClr val="6B5F55"/>
                </a:solidFill>
                <a:latin typeface="Calibri"/>
              </a:rPr>
              <a:t>S11 Lịch sử</a:t>
            </a:r>
          </a:p>
          <a:p>
            <a:pPr algn="l">
              <a:spcAft>
                <a:spcPts val="200"/>
              </a:spcAft>
            </a:pPr>
            <a:r>
              <a:rPr sz="1200" b="0">
                <a:solidFill>
                  <a:srgbClr val="6B5F55"/>
                </a:solidFill>
                <a:latin typeface="Calibri"/>
              </a:rPr>
              <a:t>S12 Chi tiết đơn</a:t>
            </a:r>
          </a:p>
          <a:p>
            <a:pPr algn="l">
              <a:spcAft>
                <a:spcPts val="200"/>
              </a:spcAft>
            </a:pPr>
            <a:r>
              <a:rPr sz="1200" b="0">
                <a:solidFill>
                  <a:srgbClr val="6B5F55"/>
                </a:solidFill>
                <a:latin typeface="Calibri"/>
              </a:rPr>
              <a:t>S20 Nhận món (QR)</a:t>
            </a:r>
          </a:p>
          <a:p>
            <a:pPr algn="l">
              <a:spcAft>
                <a:spcPts val="200"/>
              </a:spcAft>
            </a:pPr>
            <a:r>
              <a:rPr sz="1200" b="0">
                <a:solidFill>
                  <a:srgbClr val="6B5F55"/>
                </a:solidFill>
                <a:latin typeface="Calibri"/>
              </a:rPr>
              <a:t>S23 Đánh giá</a:t>
            </a:r>
          </a:p>
          <a:p>
            <a:pPr algn="l">
              <a:spcAft>
                <a:spcPts val="200"/>
              </a:spcAft>
            </a:pPr>
            <a:r>
              <a:rPr sz="1200" b="0">
                <a:solidFill>
                  <a:srgbClr val="6B5F55"/>
                </a:solidFill>
                <a:latin typeface="Calibri"/>
              </a:rPr>
              <a:t>S24 Báo sự cố</a:t>
            </a:r>
          </a:p>
        </p:txBody>
      </p:sp>
      <p:sp>
        <p:nvSpPr>
          <p:cNvPr id="22" name="Rounded Rectangle 21"/>
          <p:cNvSpPr/>
          <p:nvPr/>
        </p:nvSpPr>
        <p:spPr>
          <a:xfrm>
            <a:off x="8970263" y="2103120"/>
            <a:ext cx="2697480" cy="3337560"/>
          </a:xfrm>
          <a:prstGeom prst="roundRect">
            <a:avLst>
              <a:gd name="adj" fmla="val 4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970263" y="2103120"/>
            <a:ext cx="2697480" cy="502920"/>
          </a:xfrm>
          <a:prstGeom prst="roundRect">
            <a:avLst>
              <a:gd name="adj" fmla="val 4000"/>
            </a:avLst>
          </a:prstGeom>
          <a:solidFill>
            <a:srgbClr val="FFF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70263" y="2103120"/>
            <a:ext cx="2697480" cy="502920"/>
          </a:xfrm>
          <a:prstGeom prst="rect">
            <a:avLst/>
          </a:prstGeom>
          <a:noFill/>
        </p:spPr>
        <p:txBody>
          <a:bodyPr wrap="square" lIns="0" rIns="0" tIns="0" bIns="0" anchor="ctr">
            <a:spAutoFit/>
          </a:bodyPr>
          <a:lstStyle/>
          <a:p>
            <a:pPr algn="ctr">
              <a:spcAft>
                <a:spcPts val="300"/>
              </a:spcAft>
            </a:pPr>
            <a:r>
              <a:rPr sz="1400" b="1">
                <a:solidFill>
                  <a:srgbClr val="622B14"/>
                </a:solidFill>
                <a:latin typeface="Calibri"/>
              </a:rPr>
              <a:t>Cá nhân · S15</a:t>
            </a:r>
          </a:p>
        </p:txBody>
      </p:sp>
      <p:sp>
        <p:nvSpPr>
          <p:cNvPr id="25" name="TextBox 24"/>
          <p:cNvSpPr txBox="1"/>
          <p:nvPr/>
        </p:nvSpPr>
        <p:spPr>
          <a:xfrm>
            <a:off x="9153143" y="2743200"/>
            <a:ext cx="2377440" cy="2651760"/>
          </a:xfrm>
          <a:prstGeom prst="rect">
            <a:avLst/>
          </a:prstGeom>
          <a:noFill/>
        </p:spPr>
        <p:txBody>
          <a:bodyPr wrap="square" lIns="0" rIns="0" tIns="0" bIns="0" anchor="t">
            <a:spAutoFit/>
          </a:bodyPr>
          <a:lstStyle/>
          <a:p>
            <a:pPr algn="l">
              <a:spcAft>
                <a:spcPts val="200"/>
              </a:spcAft>
            </a:pPr>
            <a:r>
              <a:rPr sz="1200" b="0">
                <a:solidFill>
                  <a:srgbClr val="6B5F55"/>
                </a:solidFill>
                <a:latin typeface="Calibri"/>
              </a:rPr>
              <a:t>S16 Hồ sơ</a:t>
            </a:r>
          </a:p>
          <a:p>
            <a:pPr algn="l">
              <a:spcAft>
                <a:spcPts val="200"/>
              </a:spcAft>
            </a:pPr>
            <a:r>
              <a:rPr sz="1200" b="0">
                <a:solidFill>
                  <a:srgbClr val="6B5F55"/>
                </a:solidFill>
                <a:latin typeface="Calibri"/>
              </a:rPr>
              <a:t>S17 Phương thức thanh toán</a:t>
            </a:r>
          </a:p>
          <a:p>
            <a:pPr algn="l">
              <a:spcAft>
                <a:spcPts val="200"/>
              </a:spcAft>
            </a:pPr>
            <a:r>
              <a:rPr sz="1200" b="0">
                <a:solidFill>
                  <a:srgbClr val="6B5F55"/>
                </a:solidFill>
                <a:latin typeface="Calibri"/>
              </a:rPr>
              <a:t>S18 Cài đặt thông báo</a:t>
            </a:r>
          </a:p>
          <a:p>
            <a:pPr algn="l">
              <a:spcAft>
                <a:spcPts val="200"/>
              </a:spcAft>
            </a:pPr>
            <a:r>
              <a:rPr sz="1200" b="0">
                <a:solidFill>
                  <a:srgbClr val="6B5F55"/>
                </a:solidFill>
                <a:latin typeface="Calibri"/>
              </a:rPr>
              <a:t>S13 Món yêu thích</a:t>
            </a:r>
          </a:p>
          <a:p>
            <a:pPr algn="l">
              <a:spcAft>
                <a:spcPts val="200"/>
              </a:spcAft>
            </a:pPr>
            <a:r>
              <a:rPr sz="1200" b="0">
                <a:solidFill>
                  <a:srgbClr val="6B5F55"/>
                </a:solidFill>
                <a:latin typeface="Calibri"/>
              </a:rPr>
              <a:t>S26 Đăng nhập</a:t>
            </a:r>
          </a:p>
        </p:txBody>
      </p:sp>
      <p:sp>
        <p:nvSpPr>
          <p:cNvPr id="26" name="Rounded Rectangle 25"/>
          <p:cNvSpPr/>
          <p:nvPr/>
        </p:nvSpPr>
        <p:spPr>
          <a:xfrm>
            <a:off x="548640" y="5577840"/>
            <a:ext cx="11064240" cy="640080"/>
          </a:xfrm>
          <a:prstGeom prst="roundRect">
            <a:avLst>
              <a:gd name="adj" fmla="val 4000"/>
            </a:avLst>
          </a:prstGeom>
          <a:solidFill>
            <a:srgbClr val="FFF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5577840"/>
            <a:ext cx="10607040" cy="640080"/>
          </a:xfrm>
          <a:prstGeom prst="rect">
            <a:avLst/>
          </a:prstGeom>
          <a:noFill/>
        </p:spPr>
        <p:txBody>
          <a:bodyPr wrap="square" lIns="0" rIns="0" tIns="0" bIns="0" anchor="ctr">
            <a:spAutoFit/>
          </a:bodyPr>
          <a:lstStyle/>
          <a:p>
            <a:pPr algn="l">
              <a:spcAft>
                <a:spcPts val="300"/>
              </a:spcAft>
            </a:pPr>
            <a:r>
              <a:rPr sz="1300" b="1">
                <a:solidFill>
                  <a:srgbClr val="622B14"/>
                </a:solidFill>
                <a:latin typeface="Calibri"/>
              </a:rPr>
              <a:t>App người bán (K01–K15): Đơn · Quét mã · Món · Quán, gồm nhận đơn, làm món, giao món, quản lý món và quán, thống kê ca, xử lý sự cố</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8F5"/>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548640" y="384048"/>
            <a:ext cx="566928" cy="566928"/>
          </a:xfrm>
          <a:prstGeom prst="rect">
            <a:avLst/>
          </a:prstGeom>
        </p:spPr>
      </p:pic>
      <p:sp>
        <p:nvSpPr>
          <p:cNvPr id="3" name="TextBox 2"/>
          <p:cNvSpPr txBox="1"/>
          <p:nvPr/>
        </p:nvSpPr>
        <p:spPr>
          <a:xfrm>
            <a:off x="1280160" y="329184"/>
            <a:ext cx="10241280" cy="548640"/>
          </a:xfrm>
          <a:prstGeom prst="rect">
            <a:avLst/>
          </a:prstGeom>
          <a:noFill/>
        </p:spPr>
        <p:txBody>
          <a:bodyPr wrap="square" lIns="0" rIns="0" tIns="0" bIns="0" anchor="ctr">
            <a:spAutoFit/>
          </a:bodyPr>
          <a:lstStyle/>
          <a:p>
            <a:pPr algn="l">
              <a:spcAft>
                <a:spcPts val="300"/>
              </a:spcAft>
            </a:pPr>
            <a:r>
              <a:rPr sz="2800" b="1">
                <a:solidFill>
                  <a:srgbClr val="622B14"/>
                </a:solidFill>
                <a:latin typeface="Trebuchet MS"/>
              </a:rPr>
              <a:t>Ba flow chính</a:t>
            </a:r>
          </a:p>
        </p:txBody>
      </p:sp>
      <p:sp>
        <p:nvSpPr>
          <p:cNvPr id="4" name="TextBox 3"/>
          <p:cNvSpPr txBox="1"/>
          <p:nvPr/>
        </p:nvSpPr>
        <p:spPr>
          <a:xfrm>
            <a:off x="1280160" y="868680"/>
            <a:ext cx="10241280" cy="320040"/>
          </a:xfrm>
          <a:prstGeom prst="rect">
            <a:avLst/>
          </a:prstGeom>
          <a:noFill/>
        </p:spPr>
        <p:txBody>
          <a:bodyPr wrap="square" lIns="0" rIns="0" tIns="0" bIns="0" anchor="t">
            <a:spAutoFit/>
          </a:bodyPr>
          <a:lstStyle/>
          <a:p>
            <a:pPr algn="l">
              <a:spcAft>
                <a:spcPts val="300"/>
              </a:spcAft>
            </a:pPr>
            <a:r>
              <a:rPr sz="1400" b="0">
                <a:solidFill>
                  <a:srgbClr val="6B5F55"/>
                </a:solidFill>
                <a:latin typeface="Calibri"/>
              </a:rPr>
              <a:t>Mỗi flow có đầu vào, đầu ra và nhánh lỗi</a:t>
            </a:r>
          </a:p>
        </p:txBody>
      </p:sp>
      <p:sp>
        <p:nvSpPr>
          <p:cNvPr id="5" name="Rounded Rectangle 4"/>
          <p:cNvSpPr/>
          <p:nvPr/>
        </p:nvSpPr>
        <p:spPr>
          <a:xfrm>
            <a:off x="1280160" y="1207008"/>
            <a:ext cx="822960" cy="45720"/>
          </a:xfrm>
          <a:prstGeom prst="roundRect">
            <a:avLst>
              <a:gd name="adj" fmla="val 50000"/>
            </a:avLst>
          </a:prstGeom>
          <a:solidFill>
            <a:srgbClr val="F69D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28232"/>
            <a:ext cx="8686800" cy="228600"/>
          </a:xfrm>
          <a:prstGeom prst="rect">
            <a:avLst/>
          </a:prstGeom>
          <a:noFill/>
        </p:spPr>
        <p:txBody>
          <a:bodyPr wrap="square" lIns="0" rIns="0" tIns="0" bIns="0" anchor="t">
            <a:spAutoFit/>
          </a:bodyPr>
          <a:lstStyle/>
          <a:p>
            <a:pPr algn="l">
              <a:spcAft>
                <a:spcPts val="300"/>
              </a:spcAft>
            </a:pPr>
            <a:r>
              <a:rPr sz="1000" b="0">
                <a:solidFill>
                  <a:srgbClr val="6B5F55"/>
                </a:solidFill>
                <a:latin typeface="Calibri"/>
              </a:rPr>
              <a:t>Minh chứng: ux/user-flow.md mục 2</a:t>
            </a:r>
          </a:p>
        </p:txBody>
      </p:sp>
      <p:sp>
        <p:nvSpPr>
          <p:cNvPr id="7" name="TextBox 6"/>
          <p:cNvSpPr txBox="1"/>
          <p:nvPr/>
        </p:nvSpPr>
        <p:spPr>
          <a:xfrm>
            <a:off x="9692640" y="6428232"/>
            <a:ext cx="1920240" cy="228600"/>
          </a:xfrm>
          <a:prstGeom prst="rect">
            <a:avLst/>
          </a:prstGeom>
          <a:noFill/>
        </p:spPr>
        <p:txBody>
          <a:bodyPr wrap="square" lIns="0" rIns="0" tIns="0" bIns="0" anchor="t">
            <a:spAutoFit/>
          </a:bodyPr>
          <a:lstStyle/>
          <a:p>
            <a:pPr algn="r">
              <a:spcAft>
                <a:spcPts val="300"/>
              </a:spcAft>
            </a:pPr>
            <a:r>
              <a:rPr sz="1000" b="0">
                <a:solidFill>
                  <a:srgbClr val="6B5F55"/>
                </a:solidFill>
                <a:latin typeface="Calibri"/>
              </a:rPr>
              <a:t>BreakBite · 6 / 16</a:t>
            </a:r>
          </a:p>
        </p:txBody>
      </p:sp>
      <p:sp>
        <p:nvSpPr>
          <p:cNvPr id="8" name="Rounded Rectangle 7"/>
          <p:cNvSpPr/>
          <p:nvPr/>
        </p:nvSpPr>
        <p:spPr>
          <a:xfrm>
            <a:off x="548640" y="1463040"/>
            <a:ext cx="3611880" cy="3977639"/>
          </a:xfrm>
          <a:prstGeom prst="roundRect">
            <a:avLst>
              <a:gd name="adj" fmla="val 4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7240" y="1645920"/>
            <a:ext cx="548640" cy="310896"/>
          </a:xfrm>
          <a:prstGeom prst="roundRect">
            <a:avLst>
              <a:gd name="adj" fmla="val 50000"/>
            </a:avLst>
          </a:prstGeom>
          <a:solidFill>
            <a:srgbClr val="FFF1DE"/>
          </a:solidFill>
          <a:ln w="9525">
            <a:solidFill>
              <a:srgbClr val="F69D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645920"/>
            <a:ext cx="548640" cy="310896"/>
          </a:xfrm>
          <a:prstGeom prst="rect">
            <a:avLst/>
          </a:prstGeom>
          <a:noFill/>
        </p:spPr>
        <p:txBody>
          <a:bodyPr wrap="square" lIns="0" rIns="0" tIns="0" bIns="0" anchor="ctr">
            <a:spAutoFit/>
          </a:bodyPr>
          <a:lstStyle/>
          <a:p>
            <a:pPr algn="ctr">
              <a:spcAft>
                <a:spcPts val="300"/>
              </a:spcAft>
            </a:pPr>
            <a:r>
              <a:rPr sz="1200" b="1">
                <a:solidFill>
                  <a:srgbClr val="B45309"/>
                </a:solidFill>
                <a:latin typeface="Calibri"/>
              </a:rPr>
              <a:t>F1</a:t>
            </a:r>
          </a:p>
        </p:txBody>
      </p:sp>
      <p:sp>
        <p:nvSpPr>
          <p:cNvPr id="11" name="TextBox 10"/>
          <p:cNvSpPr txBox="1"/>
          <p:nvPr/>
        </p:nvSpPr>
        <p:spPr>
          <a:xfrm>
            <a:off x="1463040" y="1645920"/>
            <a:ext cx="2560320" cy="411480"/>
          </a:xfrm>
          <a:prstGeom prst="rect">
            <a:avLst/>
          </a:prstGeom>
          <a:noFill/>
        </p:spPr>
        <p:txBody>
          <a:bodyPr wrap="square" lIns="0" rIns="0" tIns="0" bIns="0" anchor="ctr">
            <a:spAutoFit/>
          </a:bodyPr>
          <a:lstStyle/>
          <a:p>
            <a:pPr algn="l">
              <a:spcAft>
                <a:spcPts val="300"/>
              </a:spcAft>
            </a:pPr>
            <a:r>
              <a:rPr sz="1400" b="1">
                <a:solidFill>
                  <a:srgbClr val="622B14"/>
                </a:solidFill>
                <a:latin typeface="Calibri"/>
              </a:rPr>
              <a:t>Đặt nhanh, nhận tại quầy</a:t>
            </a:r>
          </a:p>
        </p:txBody>
      </p:sp>
      <p:sp>
        <p:nvSpPr>
          <p:cNvPr id="12" name="Rounded Rectangle 11"/>
          <p:cNvSpPr/>
          <p:nvPr/>
        </p:nvSpPr>
        <p:spPr>
          <a:xfrm>
            <a:off x="777240" y="2286000"/>
            <a:ext cx="3154680" cy="457200"/>
          </a:xfrm>
          <a:prstGeom prst="roundRect">
            <a:avLst>
              <a:gd name="adj" fmla="val 30000"/>
            </a:avLst>
          </a:prstGeom>
          <a:solidFill>
            <a:srgbClr val="FFF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2286000"/>
            <a:ext cx="2926080" cy="457200"/>
          </a:xfrm>
          <a:prstGeom prst="rect">
            <a:avLst/>
          </a:prstGeom>
          <a:noFill/>
        </p:spPr>
        <p:txBody>
          <a:bodyPr wrap="square" lIns="0" rIns="0" tIns="0" bIns="0" anchor="ctr">
            <a:spAutoFit/>
          </a:bodyPr>
          <a:lstStyle/>
          <a:p>
            <a:pPr algn="l">
              <a:spcAft>
                <a:spcPts val="300"/>
              </a:spcAft>
            </a:pPr>
            <a:r>
              <a:rPr sz="1200" b="0">
                <a:solidFill>
                  <a:srgbClr val="622B14"/>
                </a:solidFill>
                <a:latin typeface="Calibri"/>
              </a:rPr>
              <a:t>S02 chọn combo</a:t>
            </a:r>
          </a:p>
        </p:txBody>
      </p:sp>
      <p:sp>
        <p:nvSpPr>
          <p:cNvPr id="14" name="Rounded Rectangle 13"/>
          <p:cNvSpPr/>
          <p:nvPr/>
        </p:nvSpPr>
        <p:spPr>
          <a:xfrm>
            <a:off x="777240" y="2852928"/>
            <a:ext cx="3154680" cy="457200"/>
          </a:xfrm>
          <a:prstGeom prst="roundRect">
            <a:avLst>
              <a:gd name="adj" fmla="val 30000"/>
            </a:avLst>
          </a:prstGeom>
          <a:solidFill>
            <a:srgbClr val="FFF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2852928"/>
            <a:ext cx="2926080" cy="457200"/>
          </a:xfrm>
          <a:prstGeom prst="rect">
            <a:avLst/>
          </a:prstGeom>
          <a:noFill/>
        </p:spPr>
        <p:txBody>
          <a:bodyPr wrap="square" lIns="0" rIns="0" tIns="0" bIns="0" anchor="ctr">
            <a:spAutoFit/>
          </a:bodyPr>
          <a:lstStyle/>
          <a:p>
            <a:pPr algn="l">
              <a:spcAft>
                <a:spcPts val="300"/>
              </a:spcAft>
            </a:pPr>
            <a:r>
              <a:rPr sz="1200" b="0">
                <a:solidFill>
                  <a:srgbClr val="622B14"/>
                </a:solidFill>
                <a:latin typeface="Calibri"/>
              </a:rPr>
              <a:t>S04 topping, giá tự cộng</a:t>
            </a:r>
          </a:p>
        </p:txBody>
      </p:sp>
      <p:sp>
        <p:nvSpPr>
          <p:cNvPr id="16" name="Rounded Rectangle 15"/>
          <p:cNvSpPr/>
          <p:nvPr/>
        </p:nvSpPr>
        <p:spPr>
          <a:xfrm>
            <a:off x="777240" y="3419856"/>
            <a:ext cx="3154680" cy="457200"/>
          </a:xfrm>
          <a:prstGeom prst="roundRect">
            <a:avLst>
              <a:gd name="adj" fmla="val 30000"/>
            </a:avLst>
          </a:prstGeom>
          <a:solidFill>
            <a:srgbClr val="FFF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419856"/>
            <a:ext cx="2926080" cy="457200"/>
          </a:xfrm>
          <a:prstGeom prst="rect">
            <a:avLst/>
          </a:prstGeom>
          <a:noFill/>
        </p:spPr>
        <p:txBody>
          <a:bodyPr wrap="square" lIns="0" rIns="0" tIns="0" bIns="0" anchor="ctr">
            <a:spAutoFit/>
          </a:bodyPr>
          <a:lstStyle/>
          <a:p>
            <a:pPr algn="l">
              <a:spcAft>
                <a:spcPts val="300"/>
              </a:spcAft>
            </a:pPr>
            <a:r>
              <a:rPr sz="1200" b="0">
                <a:solidFill>
                  <a:srgbClr val="622B14"/>
                </a:solidFill>
                <a:latin typeface="Calibri"/>
              </a:rPr>
              <a:t>S05 giỏ hàng, hẹn giờ</a:t>
            </a:r>
          </a:p>
        </p:txBody>
      </p:sp>
      <p:sp>
        <p:nvSpPr>
          <p:cNvPr id="18" name="Rounded Rectangle 17"/>
          <p:cNvSpPr/>
          <p:nvPr/>
        </p:nvSpPr>
        <p:spPr>
          <a:xfrm>
            <a:off x="777240" y="3986783"/>
            <a:ext cx="3154680" cy="457200"/>
          </a:xfrm>
          <a:prstGeom prst="roundRect">
            <a:avLst>
              <a:gd name="adj" fmla="val 30000"/>
            </a:avLst>
          </a:prstGeom>
          <a:solidFill>
            <a:srgbClr val="FFF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3986783"/>
            <a:ext cx="2926080" cy="457200"/>
          </a:xfrm>
          <a:prstGeom prst="rect">
            <a:avLst/>
          </a:prstGeom>
          <a:noFill/>
        </p:spPr>
        <p:txBody>
          <a:bodyPr wrap="square" lIns="0" rIns="0" tIns="0" bIns="0" anchor="ctr">
            <a:spAutoFit/>
          </a:bodyPr>
          <a:lstStyle/>
          <a:p>
            <a:pPr algn="l">
              <a:spcAft>
                <a:spcPts val="300"/>
              </a:spcAft>
            </a:pPr>
            <a:r>
              <a:rPr sz="1200" b="0">
                <a:solidFill>
                  <a:srgbClr val="622B14"/>
                </a:solidFill>
                <a:latin typeface="Calibri"/>
              </a:rPr>
              <a:t>S06 thanh toán</a:t>
            </a:r>
          </a:p>
        </p:txBody>
      </p:sp>
      <p:sp>
        <p:nvSpPr>
          <p:cNvPr id="20" name="Rounded Rectangle 19"/>
          <p:cNvSpPr/>
          <p:nvPr/>
        </p:nvSpPr>
        <p:spPr>
          <a:xfrm>
            <a:off x="777240" y="4553712"/>
            <a:ext cx="3154680" cy="457200"/>
          </a:xfrm>
          <a:prstGeom prst="roundRect">
            <a:avLst>
              <a:gd name="adj" fmla="val 30000"/>
            </a:avLst>
          </a:prstGeom>
          <a:solidFill>
            <a:srgbClr val="FFF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553712"/>
            <a:ext cx="2926080" cy="457200"/>
          </a:xfrm>
          <a:prstGeom prst="rect">
            <a:avLst/>
          </a:prstGeom>
          <a:noFill/>
        </p:spPr>
        <p:txBody>
          <a:bodyPr wrap="square" lIns="0" rIns="0" tIns="0" bIns="0" anchor="ctr">
            <a:spAutoFit/>
          </a:bodyPr>
          <a:lstStyle/>
          <a:p>
            <a:pPr algn="l">
              <a:spcAft>
                <a:spcPts val="300"/>
              </a:spcAft>
            </a:pPr>
            <a:r>
              <a:rPr sz="1200" b="1">
                <a:solidFill>
                  <a:srgbClr val="622B14"/>
                </a:solidFill>
                <a:latin typeface="Calibri"/>
              </a:rPr>
              <a:t>S07 mã nhận #A-204</a:t>
            </a:r>
          </a:p>
        </p:txBody>
      </p:sp>
      <p:sp>
        <p:nvSpPr>
          <p:cNvPr id="22" name="TextBox 21"/>
          <p:cNvSpPr txBox="1"/>
          <p:nvPr/>
        </p:nvSpPr>
        <p:spPr>
          <a:xfrm>
            <a:off x="777240" y="4983480"/>
            <a:ext cx="3200400" cy="457200"/>
          </a:xfrm>
          <a:prstGeom prst="rect">
            <a:avLst/>
          </a:prstGeom>
          <a:noFill/>
        </p:spPr>
        <p:txBody>
          <a:bodyPr wrap="square" lIns="0" rIns="0" tIns="0" bIns="0" anchor="t">
            <a:spAutoFit/>
          </a:bodyPr>
          <a:lstStyle/>
          <a:p>
            <a:pPr algn="l">
              <a:spcAft>
                <a:spcPts val="300"/>
              </a:spcAft>
            </a:pPr>
            <a:r>
              <a:rPr sz="1100" b="1">
                <a:solidFill>
                  <a:srgbClr val="B45309"/>
                </a:solidFill>
                <a:latin typeface="Calibri"/>
              </a:rPr>
              <a:t>Có mã nhận đồ; dưới 35 giây, tối đa 8 chạm</a:t>
            </a:r>
          </a:p>
        </p:txBody>
      </p:sp>
      <p:sp>
        <p:nvSpPr>
          <p:cNvPr id="23" name="Rounded Rectangle 22"/>
          <p:cNvSpPr/>
          <p:nvPr/>
        </p:nvSpPr>
        <p:spPr>
          <a:xfrm>
            <a:off x="4297679" y="1463040"/>
            <a:ext cx="3611880" cy="3977639"/>
          </a:xfrm>
          <a:prstGeom prst="roundRect">
            <a:avLst>
              <a:gd name="adj" fmla="val 4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526279" y="1645920"/>
            <a:ext cx="548640" cy="310896"/>
          </a:xfrm>
          <a:prstGeom prst="roundRect">
            <a:avLst>
              <a:gd name="adj" fmla="val 50000"/>
            </a:avLst>
          </a:prstGeom>
          <a:solidFill>
            <a:srgbClr val="FFF1DE"/>
          </a:solidFill>
          <a:ln w="9525">
            <a:solidFill>
              <a:srgbClr val="F69D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26279" y="1645920"/>
            <a:ext cx="548640" cy="310896"/>
          </a:xfrm>
          <a:prstGeom prst="rect">
            <a:avLst/>
          </a:prstGeom>
          <a:noFill/>
        </p:spPr>
        <p:txBody>
          <a:bodyPr wrap="square" lIns="0" rIns="0" tIns="0" bIns="0" anchor="ctr">
            <a:spAutoFit/>
          </a:bodyPr>
          <a:lstStyle/>
          <a:p>
            <a:pPr algn="ctr">
              <a:spcAft>
                <a:spcPts val="300"/>
              </a:spcAft>
            </a:pPr>
            <a:r>
              <a:rPr sz="1200" b="1">
                <a:solidFill>
                  <a:srgbClr val="B45309"/>
                </a:solidFill>
                <a:latin typeface="Calibri"/>
              </a:rPr>
              <a:t>F2</a:t>
            </a:r>
          </a:p>
        </p:txBody>
      </p:sp>
      <p:sp>
        <p:nvSpPr>
          <p:cNvPr id="26" name="TextBox 25"/>
          <p:cNvSpPr txBox="1"/>
          <p:nvPr/>
        </p:nvSpPr>
        <p:spPr>
          <a:xfrm>
            <a:off x="5212079" y="1645920"/>
            <a:ext cx="2560320" cy="411480"/>
          </a:xfrm>
          <a:prstGeom prst="rect">
            <a:avLst/>
          </a:prstGeom>
          <a:noFill/>
        </p:spPr>
        <p:txBody>
          <a:bodyPr wrap="square" lIns="0" rIns="0" tIns="0" bIns="0" anchor="ctr">
            <a:spAutoFit/>
          </a:bodyPr>
          <a:lstStyle/>
          <a:p>
            <a:pPr algn="l">
              <a:spcAft>
                <a:spcPts val="300"/>
              </a:spcAft>
            </a:pPr>
            <a:r>
              <a:rPr sz="1400" b="1">
                <a:solidFill>
                  <a:srgbClr val="622B14"/>
                </a:solidFill>
                <a:latin typeface="Calibri"/>
              </a:rPr>
              <a:t>Tuỳ chỉnh món và mã giảm giá</a:t>
            </a:r>
          </a:p>
        </p:txBody>
      </p:sp>
      <p:sp>
        <p:nvSpPr>
          <p:cNvPr id="27" name="Rounded Rectangle 26"/>
          <p:cNvSpPr/>
          <p:nvPr/>
        </p:nvSpPr>
        <p:spPr>
          <a:xfrm>
            <a:off x="4526279" y="2286000"/>
            <a:ext cx="3154680" cy="457200"/>
          </a:xfrm>
          <a:prstGeom prst="roundRect">
            <a:avLst>
              <a:gd name="adj" fmla="val 30000"/>
            </a:avLst>
          </a:prstGeom>
          <a:solidFill>
            <a:srgbClr val="FFF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63440" y="2286000"/>
            <a:ext cx="2926080" cy="457200"/>
          </a:xfrm>
          <a:prstGeom prst="rect">
            <a:avLst/>
          </a:prstGeom>
          <a:noFill/>
        </p:spPr>
        <p:txBody>
          <a:bodyPr wrap="square" lIns="0" rIns="0" tIns="0" bIns="0" anchor="ctr">
            <a:spAutoFit/>
          </a:bodyPr>
          <a:lstStyle/>
          <a:p>
            <a:pPr algn="l">
              <a:spcAft>
                <a:spcPts val="300"/>
              </a:spcAft>
            </a:pPr>
            <a:r>
              <a:rPr sz="1200" b="0">
                <a:solidFill>
                  <a:srgbClr val="622B14"/>
                </a:solidFill>
                <a:latin typeface="Calibri"/>
              </a:rPr>
              <a:t>S03 thực đơn</a:t>
            </a:r>
          </a:p>
        </p:txBody>
      </p:sp>
      <p:sp>
        <p:nvSpPr>
          <p:cNvPr id="29" name="Rounded Rectangle 28"/>
          <p:cNvSpPr/>
          <p:nvPr/>
        </p:nvSpPr>
        <p:spPr>
          <a:xfrm>
            <a:off x="4526279" y="2852928"/>
            <a:ext cx="3154680" cy="457200"/>
          </a:xfrm>
          <a:prstGeom prst="roundRect">
            <a:avLst>
              <a:gd name="adj" fmla="val 30000"/>
            </a:avLst>
          </a:prstGeom>
          <a:solidFill>
            <a:srgbClr val="FFF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63440" y="2852928"/>
            <a:ext cx="2926080" cy="457200"/>
          </a:xfrm>
          <a:prstGeom prst="rect">
            <a:avLst/>
          </a:prstGeom>
          <a:noFill/>
        </p:spPr>
        <p:txBody>
          <a:bodyPr wrap="square" lIns="0" rIns="0" tIns="0" bIns="0" anchor="ctr">
            <a:spAutoFit/>
          </a:bodyPr>
          <a:lstStyle/>
          <a:p>
            <a:pPr algn="l">
              <a:spcAft>
                <a:spcPts val="300"/>
              </a:spcAft>
            </a:pPr>
            <a:r>
              <a:rPr sz="1200" b="0">
                <a:solidFill>
                  <a:srgbClr val="622B14"/>
                </a:solidFill>
                <a:latin typeface="Calibri"/>
              </a:rPr>
              <a:t>S04 mức cay, topping</a:t>
            </a:r>
          </a:p>
        </p:txBody>
      </p:sp>
      <p:sp>
        <p:nvSpPr>
          <p:cNvPr id="31" name="Rounded Rectangle 30"/>
          <p:cNvSpPr/>
          <p:nvPr/>
        </p:nvSpPr>
        <p:spPr>
          <a:xfrm>
            <a:off x="4526279" y="3419856"/>
            <a:ext cx="3154680" cy="457200"/>
          </a:xfrm>
          <a:prstGeom prst="roundRect">
            <a:avLst>
              <a:gd name="adj" fmla="val 30000"/>
            </a:avLst>
          </a:prstGeom>
          <a:solidFill>
            <a:srgbClr val="FFF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63440" y="3419856"/>
            <a:ext cx="2926080" cy="457200"/>
          </a:xfrm>
          <a:prstGeom prst="rect">
            <a:avLst/>
          </a:prstGeom>
          <a:noFill/>
        </p:spPr>
        <p:txBody>
          <a:bodyPr wrap="square" lIns="0" rIns="0" tIns="0" bIns="0" anchor="ctr">
            <a:spAutoFit/>
          </a:bodyPr>
          <a:lstStyle/>
          <a:p>
            <a:pPr algn="l">
              <a:spcAft>
                <a:spcPts val="300"/>
              </a:spcAft>
            </a:pPr>
            <a:r>
              <a:rPr sz="1200" b="0">
                <a:solidFill>
                  <a:srgbClr val="622B14"/>
                </a:solidFill>
                <a:latin typeface="Calibri"/>
              </a:rPr>
              <a:t>S05 nhập mã</a:t>
            </a:r>
          </a:p>
        </p:txBody>
      </p:sp>
      <p:sp>
        <p:nvSpPr>
          <p:cNvPr id="33" name="Rounded Rectangle 32"/>
          <p:cNvSpPr/>
          <p:nvPr/>
        </p:nvSpPr>
        <p:spPr>
          <a:xfrm>
            <a:off x="4526279" y="3986783"/>
            <a:ext cx="3154680" cy="457200"/>
          </a:xfrm>
          <a:prstGeom prst="roundRect">
            <a:avLst>
              <a:gd name="adj" fmla="val 30000"/>
            </a:avLst>
          </a:prstGeom>
          <a:solidFill>
            <a:srgbClr val="FFF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663440" y="3986783"/>
            <a:ext cx="2926080" cy="457200"/>
          </a:xfrm>
          <a:prstGeom prst="rect">
            <a:avLst/>
          </a:prstGeom>
          <a:noFill/>
        </p:spPr>
        <p:txBody>
          <a:bodyPr wrap="square" lIns="0" rIns="0" tIns="0" bIns="0" anchor="ctr">
            <a:spAutoFit/>
          </a:bodyPr>
          <a:lstStyle/>
          <a:p>
            <a:pPr algn="l">
              <a:spcAft>
                <a:spcPts val="300"/>
              </a:spcAft>
            </a:pPr>
            <a:r>
              <a:rPr sz="1200" b="0">
                <a:solidFill>
                  <a:srgbClr val="622B14"/>
                </a:solidFill>
                <a:latin typeface="Calibri"/>
              </a:rPr>
              <a:t>Mã sai: báo lỗi, nhập lại</a:t>
            </a:r>
          </a:p>
        </p:txBody>
      </p:sp>
      <p:sp>
        <p:nvSpPr>
          <p:cNvPr id="35" name="Rounded Rectangle 34"/>
          <p:cNvSpPr/>
          <p:nvPr/>
        </p:nvSpPr>
        <p:spPr>
          <a:xfrm>
            <a:off x="4526279" y="4553712"/>
            <a:ext cx="3154680" cy="457200"/>
          </a:xfrm>
          <a:prstGeom prst="roundRect">
            <a:avLst>
              <a:gd name="adj" fmla="val 30000"/>
            </a:avLst>
          </a:prstGeom>
          <a:solidFill>
            <a:srgbClr val="FFF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663440" y="4553712"/>
            <a:ext cx="2926080" cy="457200"/>
          </a:xfrm>
          <a:prstGeom prst="rect">
            <a:avLst/>
          </a:prstGeom>
          <a:noFill/>
        </p:spPr>
        <p:txBody>
          <a:bodyPr wrap="square" lIns="0" rIns="0" tIns="0" bIns="0" anchor="ctr">
            <a:spAutoFit/>
          </a:bodyPr>
          <a:lstStyle/>
          <a:p>
            <a:pPr algn="l">
              <a:spcAft>
                <a:spcPts val="300"/>
              </a:spcAft>
            </a:pPr>
            <a:r>
              <a:rPr sz="1200" b="1">
                <a:solidFill>
                  <a:srgbClr val="622B14"/>
                </a:solidFill>
                <a:latin typeface="Calibri"/>
              </a:rPr>
              <a:t>S06 thanh toán</a:t>
            </a:r>
          </a:p>
        </p:txBody>
      </p:sp>
      <p:sp>
        <p:nvSpPr>
          <p:cNvPr id="37" name="TextBox 36"/>
          <p:cNvSpPr txBox="1"/>
          <p:nvPr/>
        </p:nvSpPr>
        <p:spPr>
          <a:xfrm>
            <a:off x="4526279" y="4983480"/>
            <a:ext cx="3200400" cy="457200"/>
          </a:xfrm>
          <a:prstGeom prst="rect">
            <a:avLst/>
          </a:prstGeom>
          <a:noFill/>
        </p:spPr>
        <p:txBody>
          <a:bodyPr wrap="square" lIns="0" rIns="0" tIns="0" bIns="0" anchor="t">
            <a:spAutoFit/>
          </a:bodyPr>
          <a:lstStyle/>
          <a:p>
            <a:pPr algn="l">
              <a:spcAft>
                <a:spcPts val="300"/>
              </a:spcAft>
            </a:pPr>
            <a:r>
              <a:rPr sz="1100" b="1">
                <a:solidFill>
                  <a:srgbClr val="B45309"/>
                </a:solidFill>
                <a:latin typeface="Calibri"/>
              </a:rPr>
              <a:t>Thấy giảm giá và tổng tiền trước khi trả</a:t>
            </a:r>
          </a:p>
        </p:txBody>
      </p:sp>
      <p:sp>
        <p:nvSpPr>
          <p:cNvPr id="38" name="Rounded Rectangle 37"/>
          <p:cNvSpPr/>
          <p:nvPr/>
        </p:nvSpPr>
        <p:spPr>
          <a:xfrm>
            <a:off x="8046719" y="1463040"/>
            <a:ext cx="3611880" cy="3977639"/>
          </a:xfrm>
          <a:prstGeom prst="roundRect">
            <a:avLst>
              <a:gd name="adj" fmla="val 4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8275319" y="1645920"/>
            <a:ext cx="548640" cy="310896"/>
          </a:xfrm>
          <a:prstGeom prst="roundRect">
            <a:avLst>
              <a:gd name="adj" fmla="val 50000"/>
            </a:avLst>
          </a:prstGeom>
          <a:solidFill>
            <a:srgbClr val="FFF1DE"/>
          </a:solidFill>
          <a:ln w="9525">
            <a:solidFill>
              <a:srgbClr val="F69D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75319" y="1645920"/>
            <a:ext cx="548640" cy="310896"/>
          </a:xfrm>
          <a:prstGeom prst="rect">
            <a:avLst/>
          </a:prstGeom>
          <a:noFill/>
        </p:spPr>
        <p:txBody>
          <a:bodyPr wrap="square" lIns="0" rIns="0" tIns="0" bIns="0" anchor="ctr">
            <a:spAutoFit/>
          </a:bodyPr>
          <a:lstStyle/>
          <a:p>
            <a:pPr algn="ctr">
              <a:spcAft>
                <a:spcPts val="300"/>
              </a:spcAft>
            </a:pPr>
            <a:r>
              <a:rPr sz="1200" b="1">
                <a:solidFill>
                  <a:srgbClr val="B45309"/>
                </a:solidFill>
                <a:latin typeface="Calibri"/>
              </a:rPr>
              <a:t>F3</a:t>
            </a:r>
          </a:p>
        </p:txBody>
      </p:sp>
      <p:sp>
        <p:nvSpPr>
          <p:cNvPr id="41" name="TextBox 40"/>
          <p:cNvSpPr txBox="1"/>
          <p:nvPr/>
        </p:nvSpPr>
        <p:spPr>
          <a:xfrm>
            <a:off x="8961119" y="1645920"/>
            <a:ext cx="2560320" cy="411480"/>
          </a:xfrm>
          <a:prstGeom prst="rect">
            <a:avLst/>
          </a:prstGeom>
          <a:noFill/>
        </p:spPr>
        <p:txBody>
          <a:bodyPr wrap="square" lIns="0" rIns="0" tIns="0" bIns="0" anchor="ctr">
            <a:spAutoFit/>
          </a:bodyPr>
          <a:lstStyle/>
          <a:p>
            <a:pPr algn="l">
              <a:spcAft>
                <a:spcPts val="300"/>
              </a:spcAft>
            </a:pPr>
            <a:r>
              <a:rPr sz="1400" b="1">
                <a:solidFill>
                  <a:srgbClr val="622B14"/>
                </a:solidFill>
                <a:latin typeface="Calibri"/>
              </a:rPr>
              <a:t>Lỗi thanh toán và phục hồi</a:t>
            </a:r>
          </a:p>
        </p:txBody>
      </p:sp>
      <p:sp>
        <p:nvSpPr>
          <p:cNvPr id="42" name="Rounded Rectangle 41"/>
          <p:cNvSpPr/>
          <p:nvPr/>
        </p:nvSpPr>
        <p:spPr>
          <a:xfrm>
            <a:off x="8275319" y="2286000"/>
            <a:ext cx="3154680" cy="457200"/>
          </a:xfrm>
          <a:prstGeom prst="roundRect">
            <a:avLst>
              <a:gd name="adj" fmla="val 30000"/>
            </a:avLst>
          </a:prstGeom>
          <a:solidFill>
            <a:srgbClr val="FFF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412480" y="2286000"/>
            <a:ext cx="2926080" cy="457200"/>
          </a:xfrm>
          <a:prstGeom prst="rect">
            <a:avLst/>
          </a:prstGeom>
          <a:noFill/>
        </p:spPr>
        <p:txBody>
          <a:bodyPr wrap="square" lIns="0" rIns="0" tIns="0" bIns="0" anchor="ctr">
            <a:spAutoFit/>
          </a:bodyPr>
          <a:lstStyle/>
          <a:p>
            <a:pPr algn="l">
              <a:spcAft>
                <a:spcPts val="300"/>
              </a:spcAft>
            </a:pPr>
            <a:r>
              <a:rPr sz="1200" b="0">
                <a:solidFill>
                  <a:srgbClr val="622B14"/>
                </a:solidFill>
                <a:latin typeface="Calibri"/>
              </a:rPr>
              <a:t>S06 thanh toán MoMo lỗi</a:t>
            </a:r>
          </a:p>
        </p:txBody>
      </p:sp>
      <p:sp>
        <p:nvSpPr>
          <p:cNvPr id="44" name="Rounded Rectangle 43"/>
          <p:cNvSpPr/>
          <p:nvPr/>
        </p:nvSpPr>
        <p:spPr>
          <a:xfrm>
            <a:off x="8275319" y="2852928"/>
            <a:ext cx="3154680" cy="457200"/>
          </a:xfrm>
          <a:prstGeom prst="roundRect">
            <a:avLst>
              <a:gd name="adj" fmla="val 30000"/>
            </a:avLst>
          </a:prstGeom>
          <a:solidFill>
            <a:srgbClr val="FFF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412480" y="2852928"/>
            <a:ext cx="2926080" cy="457200"/>
          </a:xfrm>
          <a:prstGeom prst="rect">
            <a:avLst/>
          </a:prstGeom>
          <a:noFill/>
        </p:spPr>
        <p:txBody>
          <a:bodyPr wrap="square" lIns="0" rIns="0" tIns="0" bIns="0" anchor="ctr">
            <a:spAutoFit/>
          </a:bodyPr>
          <a:lstStyle/>
          <a:p>
            <a:pPr algn="l">
              <a:spcAft>
                <a:spcPts val="300"/>
              </a:spcAft>
            </a:pPr>
            <a:r>
              <a:rPr sz="1200" b="0">
                <a:solidFill>
                  <a:srgbClr val="622B14"/>
                </a:solidFill>
                <a:latin typeface="Calibri"/>
              </a:rPr>
              <a:t>S06-ERR: giỏ hàng vẫn được giữ</a:t>
            </a:r>
          </a:p>
        </p:txBody>
      </p:sp>
      <p:sp>
        <p:nvSpPr>
          <p:cNvPr id="46" name="Rounded Rectangle 45"/>
          <p:cNvSpPr/>
          <p:nvPr/>
        </p:nvSpPr>
        <p:spPr>
          <a:xfrm>
            <a:off x="8275319" y="3419856"/>
            <a:ext cx="3154680" cy="457200"/>
          </a:xfrm>
          <a:prstGeom prst="roundRect">
            <a:avLst>
              <a:gd name="adj" fmla="val 30000"/>
            </a:avLst>
          </a:prstGeom>
          <a:solidFill>
            <a:srgbClr val="FFF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412480" y="3419856"/>
            <a:ext cx="2926080" cy="457200"/>
          </a:xfrm>
          <a:prstGeom prst="rect">
            <a:avLst/>
          </a:prstGeom>
          <a:noFill/>
        </p:spPr>
        <p:txBody>
          <a:bodyPr wrap="square" lIns="0" rIns="0" tIns="0" bIns="0" anchor="ctr">
            <a:spAutoFit/>
          </a:bodyPr>
          <a:lstStyle/>
          <a:p>
            <a:pPr algn="l">
              <a:spcAft>
                <a:spcPts val="300"/>
              </a:spcAft>
            </a:pPr>
            <a:r>
              <a:rPr sz="1200" b="0">
                <a:solidFill>
                  <a:srgbClr val="622B14"/>
                </a:solidFill>
                <a:latin typeface="Calibri"/>
              </a:rPr>
              <a:t>Thử lại VNPAY-QR hoặc tiền mặt</a:t>
            </a:r>
          </a:p>
        </p:txBody>
      </p:sp>
      <p:sp>
        <p:nvSpPr>
          <p:cNvPr id="48" name="Rounded Rectangle 47"/>
          <p:cNvSpPr/>
          <p:nvPr/>
        </p:nvSpPr>
        <p:spPr>
          <a:xfrm>
            <a:off x="8275319" y="3986783"/>
            <a:ext cx="3154680" cy="457200"/>
          </a:xfrm>
          <a:prstGeom prst="roundRect">
            <a:avLst>
              <a:gd name="adj" fmla="val 30000"/>
            </a:avLst>
          </a:prstGeom>
          <a:solidFill>
            <a:srgbClr val="FFF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412480" y="3986783"/>
            <a:ext cx="2926080" cy="457200"/>
          </a:xfrm>
          <a:prstGeom prst="rect">
            <a:avLst/>
          </a:prstGeom>
          <a:noFill/>
        </p:spPr>
        <p:txBody>
          <a:bodyPr wrap="square" lIns="0" rIns="0" tIns="0" bIns="0" anchor="ctr">
            <a:spAutoFit/>
          </a:bodyPr>
          <a:lstStyle/>
          <a:p>
            <a:pPr algn="l">
              <a:spcAft>
                <a:spcPts val="300"/>
              </a:spcAft>
            </a:pPr>
            <a:r>
              <a:rPr sz="1200" b="1">
                <a:solidFill>
                  <a:srgbClr val="622B14"/>
                </a:solidFill>
                <a:latin typeface="Calibri"/>
              </a:rPr>
              <a:t>S07 / S07-CASH</a:t>
            </a:r>
          </a:p>
        </p:txBody>
      </p:sp>
      <p:sp>
        <p:nvSpPr>
          <p:cNvPr id="50" name="TextBox 49"/>
          <p:cNvSpPr txBox="1"/>
          <p:nvPr/>
        </p:nvSpPr>
        <p:spPr>
          <a:xfrm>
            <a:off x="8275319" y="4983480"/>
            <a:ext cx="3200400" cy="457200"/>
          </a:xfrm>
          <a:prstGeom prst="rect">
            <a:avLst/>
          </a:prstGeom>
          <a:noFill/>
        </p:spPr>
        <p:txBody>
          <a:bodyPr wrap="square" lIns="0" rIns="0" tIns="0" bIns="0" anchor="t">
            <a:spAutoFit/>
          </a:bodyPr>
          <a:lstStyle/>
          <a:p>
            <a:pPr algn="l">
              <a:spcAft>
                <a:spcPts val="300"/>
              </a:spcAft>
            </a:pPr>
            <a:r>
              <a:rPr sz="1100" b="1">
                <a:solidFill>
                  <a:srgbClr val="B45309"/>
                </a:solidFill>
                <a:latin typeface="Calibri"/>
              </a:rPr>
              <a:t>Đơn được tạo, không phải đặt lại</a:t>
            </a:r>
          </a:p>
        </p:txBody>
      </p:sp>
      <p:sp>
        <p:nvSpPr>
          <p:cNvPr id="51" name="Rounded Rectangle 50"/>
          <p:cNvSpPr/>
          <p:nvPr/>
        </p:nvSpPr>
        <p:spPr>
          <a:xfrm>
            <a:off x="548640" y="5577840"/>
            <a:ext cx="11064240" cy="658368"/>
          </a:xfrm>
          <a:prstGeom prst="roundRect">
            <a:avLst>
              <a:gd name="adj" fmla="val 4000"/>
            </a:avLst>
          </a:prstGeom>
          <a:solidFill>
            <a:srgbClr val="FFF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77240" y="5577840"/>
            <a:ext cx="10607040" cy="658368"/>
          </a:xfrm>
          <a:prstGeom prst="rect">
            <a:avLst/>
          </a:prstGeom>
          <a:noFill/>
        </p:spPr>
        <p:txBody>
          <a:bodyPr wrap="square" lIns="0" rIns="0" tIns="0" bIns="0" anchor="ctr">
            <a:spAutoFit/>
          </a:bodyPr>
          <a:lstStyle/>
          <a:p>
            <a:pPr algn="l">
              <a:spcAft>
                <a:spcPts val="300"/>
              </a:spcAft>
            </a:pPr>
            <a:r>
              <a:rPr sz="1200" b="0">
                <a:solidFill>
                  <a:srgbClr val="622B14"/>
                </a:solidFill>
                <a:latin typeface="Calibri"/>
              </a:rPr>
              <a:t>Flow khác: sửa và huỷ đơn, lịch sử, yêu thích, tài khoản, thông báo và nhận món, quán đóng, đánh giá, hẹn giờ, mất mạng · Flow người bán: nhận đơn, làm món, quét mã giao món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8F5"/>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548640" y="384048"/>
            <a:ext cx="566928" cy="566928"/>
          </a:xfrm>
          <a:prstGeom prst="rect">
            <a:avLst/>
          </a:prstGeom>
        </p:spPr>
      </p:pic>
      <p:sp>
        <p:nvSpPr>
          <p:cNvPr id="3" name="TextBox 2"/>
          <p:cNvSpPr txBox="1"/>
          <p:nvPr/>
        </p:nvSpPr>
        <p:spPr>
          <a:xfrm>
            <a:off x="1280160" y="329184"/>
            <a:ext cx="10241280" cy="548640"/>
          </a:xfrm>
          <a:prstGeom prst="rect">
            <a:avLst/>
          </a:prstGeom>
          <a:noFill/>
        </p:spPr>
        <p:txBody>
          <a:bodyPr wrap="square" lIns="0" rIns="0" tIns="0" bIns="0" anchor="ctr">
            <a:spAutoFit/>
          </a:bodyPr>
          <a:lstStyle/>
          <a:p>
            <a:pPr algn="l">
              <a:spcAft>
                <a:spcPts val="300"/>
              </a:spcAft>
            </a:pPr>
            <a:r>
              <a:rPr sz="2800" b="1">
                <a:solidFill>
                  <a:srgbClr val="622B14"/>
                </a:solidFill>
                <a:latin typeface="Trebuchet MS"/>
              </a:rPr>
              <a:t>Thiết kế với AI, quyết định bởi nhóm</a:t>
            </a:r>
          </a:p>
        </p:txBody>
      </p:sp>
      <p:sp>
        <p:nvSpPr>
          <p:cNvPr id="4" name="TextBox 3"/>
          <p:cNvSpPr txBox="1"/>
          <p:nvPr/>
        </p:nvSpPr>
        <p:spPr>
          <a:xfrm>
            <a:off x="1280160" y="868680"/>
            <a:ext cx="10241280" cy="320040"/>
          </a:xfrm>
          <a:prstGeom prst="rect">
            <a:avLst/>
          </a:prstGeom>
          <a:noFill/>
        </p:spPr>
        <p:txBody>
          <a:bodyPr wrap="square" lIns="0" rIns="0" tIns="0" bIns="0" anchor="t">
            <a:spAutoFit/>
          </a:bodyPr>
          <a:lstStyle/>
          <a:p>
            <a:pPr algn="l">
              <a:spcAft>
                <a:spcPts val="300"/>
              </a:spcAft>
            </a:pPr>
            <a:r>
              <a:rPr sz="1400" b="0">
                <a:solidFill>
                  <a:srgbClr val="6B5F55"/>
                </a:solidFill>
                <a:latin typeface="Calibri"/>
              </a:rPr>
              <a:t>Mọi đề xuất của AI đều ghi Accept, Modify hoặc Reject</a:t>
            </a:r>
          </a:p>
        </p:txBody>
      </p:sp>
      <p:sp>
        <p:nvSpPr>
          <p:cNvPr id="5" name="Rounded Rectangle 4"/>
          <p:cNvSpPr/>
          <p:nvPr/>
        </p:nvSpPr>
        <p:spPr>
          <a:xfrm>
            <a:off x="1280160" y="1207008"/>
            <a:ext cx="822960" cy="45720"/>
          </a:xfrm>
          <a:prstGeom prst="roundRect">
            <a:avLst>
              <a:gd name="adj" fmla="val 50000"/>
            </a:avLst>
          </a:prstGeom>
          <a:solidFill>
            <a:srgbClr val="F69D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28232"/>
            <a:ext cx="8686800" cy="228600"/>
          </a:xfrm>
          <a:prstGeom prst="rect">
            <a:avLst/>
          </a:prstGeom>
          <a:noFill/>
        </p:spPr>
        <p:txBody>
          <a:bodyPr wrap="square" lIns="0" rIns="0" tIns="0" bIns="0" anchor="t">
            <a:spAutoFit/>
          </a:bodyPr>
          <a:lstStyle/>
          <a:p>
            <a:pPr algn="l">
              <a:spcAft>
                <a:spcPts val="300"/>
              </a:spcAft>
            </a:pPr>
            <a:r>
              <a:rPr sz="1000" b="0">
                <a:solidFill>
                  <a:srgbClr val="6B5F55"/>
                </a:solidFill>
                <a:latin typeface="Calibri"/>
              </a:rPr>
              <a:t>Minh chứng: ai/ai-design-log.md · design/design-decisions.md</a:t>
            </a:r>
          </a:p>
        </p:txBody>
      </p:sp>
      <p:sp>
        <p:nvSpPr>
          <p:cNvPr id="7" name="TextBox 6"/>
          <p:cNvSpPr txBox="1"/>
          <p:nvPr/>
        </p:nvSpPr>
        <p:spPr>
          <a:xfrm>
            <a:off x="9692640" y="6428232"/>
            <a:ext cx="1920240" cy="228600"/>
          </a:xfrm>
          <a:prstGeom prst="rect">
            <a:avLst/>
          </a:prstGeom>
          <a:noFill/>
        </p:spPr>
        <p:txBody>
          <a:bodyPr wrap="square" lIns="0" rIns="0" tIns="0" bIns="0" anchor="t">
            <a:spAutoFit/>
          </a:bodyPr>
          <a:lstStyle/>
          <a:p>
            <a:pPr algn="r">
              <a:spcAft>
                <a:spcPts val="300"/>
              </a:spcAft>
            </a:pPr>
            <a:r>
              <a:rPr sz="1000" b="0">
                <a:solidFill>
                  <a:srgbClr val="6B5F55"/>
                </a:solidFill>
                <a:latin typeface="Calibri"/>
              </a:rPr>
              <a:t>BreakBite · 7 / 16</a:t>
            </a:r>
          </a:p>
        </p:txBody>
      </p:sp>
      <p:sp>
        <p:nvSpPr>
          <p:cNvPr id="8" name="Rounded Rectangle 7"/>
          <p:cNvSpPr/>
          <p:nvPr/>
        </p:nvSpPr>
        <p:spPr>
          <a:xfrm>
            <a:off x="548640" y="1508760"/>
            <a:ext cx="2560320" cy="1097280"/>
          </a:xfrm>
          <a:prstGeom prst="roundRect">
            <a:avLst>
              <a:gd name="adj" fmla="val 4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508760"/>
            <a:ext cx="2194560" cy="1097280"/>
          </a:xfrm>
          <a:prstGeom prst="rect">
            <a:avLst/>
          </a:prstGeom>
          <a:noFill/>
        </p:spPr>
        <p:txBody>
          <a:bodyPr wrap="square" lIns="0" rIns="0" tIns="0" bIns="0" anchor="ctr">
            <a:spAutoFit/>
          </a:bodyPr>
          <a:lstStyle/>
          <a:p>
            <a:pPr algn="l">
              <a:spcAft>
                <a:spcPts val="300"/>
              </a:spcAft>
            </a:pPr>
            <a:r>
              <a:rPr sz="1300" b="1">
                <a:solidFill>
                  <a:srgbClr val="622B14"/>
                </a:solidFill>
                <a:latin typeface="Calibri"/>
              </a:rPr>
              <a:t>Google Stitch tạo UI từ DESIGN.md</a:t>
            </a:r>
          </a:p>
        </p:txBody>
      </p:sp>
      <p:sp>
        <p:nvSpPr>
          <p:cNvPr id="10" name="TextBox 9"/>
          <p:cNvSpPr txBox="1"/>
          <p:nvPr/>
        </p:nvSpPr>
        <p:spPr>
          <a:xfrm>
            <a:off x="3108960" y="1783080"/>
            <a:ext cx="246888" cy="457200"/>
          </a:xfrm>
          <a:prstGeom prst="rect">
            <a:avLst/>
          </a:prstGeom>
          <a:noFill/>
        </p:spPr>
        <p:txBody>
          <a:bodyPr wrap="square" lIns="0" rIns="0" tIns="0" bIns="0" anchor="t">
            <a:spAutoFit/>
          </a:bodyPr>
          <a:lstStyle/>
          <a:p>
            <a:pPr algn="ctr">
              <a:spcAft>
                <a:spcPts val="300"/>
              </a:spcAft>
            </a:pPr>
            <a:r>
              <a:rPr sz="2400" b="1">
                <a:solidFill>
                  <a:srgbClr val="F69D39"/>
                </a:solidFill>
                <a:latin typeface="Calibri"/>
              </a:rPr>
              <a:t>›</a:t>
            </a:r>
          </a:p>
        </p:txBody>
      </p:sp>
      <p:sp>
        <p:nvSpPr>
          <p:cNvPr id="11" name="Rounded Rectangle 10"/>
          <p:cNvSpPr/>
          <p:nvPr/>
        </p:nvSpPr>
        <p:spPr>
          <a:xfrm>
            <a:off x="3355848" y="1508760"/>
            <a:ext cx="2560320" cy="1097280"/>
          </a:xfrm>
          <a:prstGeom prst="roundRect">
            <a:avLst>
              <a:gd name="adj" fmla="val 4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38728" y="1508760"/>
            <a:ext cx="2194560" cy="1097280"/>
          </a:xfrm>
          <a:prstGeom prst="rect">
            <a:avLst/>
          </a:prstGeom>
          <a:noFill/>
        </p:spPr>
        <p:txBody>
          <a:bodyPr wrap="square" lIns="0" rIns="0" tIns="0" bIns="0" anchor="ctr">
            <a:spAutoFit/>
          </a:bodyPr>
          <a:lstStyle/>
          <a:p>
            <a:pPr algn="l">
              <a:spcAft>
                <a:spcPts val="300"/>
              </a:spcAft>
            </a:pPr>
            <a:r>
              <a:rPr sz="1300" b="1">
                <a:solidFill>
                  <a:srgbClr val="622B14"/>
                </a:solidFill>
                <a:latin typeface="Calibri"/>
              </a:rPr>
              <a:t>AI phản biện: Nielsen, WCAG, persona</a:t>
            </a:r>
          </a:p>
        </p:txBody>
      </p:sp>
      <p:sp>
        <p:nvSpPr>
          <p:cNvPr id="13" name="TextBox 12"/>
          <p:cNvSpPr txBox="1"/>
          <p:nvPr/>
        </p:nvSpPr>
        <p:spPr>
          <a:xfrm>
            <a:off x="5916168" y="1783080"/>
            <a:ext cx="246888" cy="457200"/>
          </a:xfrm>
          <a:prstGeom prst="rect">
            <a:avLst/>
          </a:prstGeom>
          <a:noFill/>
        </p:spPr>
        <p:txBody>
          <a:bodyPr wrap="square" lIns="0" rIns="0" tIns="0" bIns="0" anchor="t">
            <a:spAutoFit/>
          </a:bodyPr>
          <a:lstStyle/>
          <a:p>
            <a:pPr algn="ctr">
              <a:spcAft>
                <a:spcPts val="300"/>
              </a:spcAft>
            </a:pPr>
            <a:r>
              <a:rPr sz="2400" b="1">
                <a:solidFill>
                  <a:srgbClr val="F69D39"/>
                </a:solidFill>
                <a:latin typeface="Calibri"/>
              </a:rPr>
              <a:t>›</a:t>
            </a:r>
          </a:p>
        </p:txBody>
      </p:sp>
      <p:sp>
        <p:nvSpPr>
          <p:cNvPr id="14" name="Rounded Rectangle 13"/>
          <p:cNvSpPr/>
          <p:nvPr/>
        </p:nvSpPr>
        <p:spPr>
          <a:xfrm>
            <a:off x="6163055" y="1508760"/>
            <a:ext cx="2560320" cy="1097280"/>
          </a:xfrm>
          <a:prstGeom prst="roundRect">
            <a:avLst>
              <a:gd name="adj" fmla="val 4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5936" y="1508760"/>
            <a:ext cx="2194560" cy="1097280"/>
          </a:xfrm>
          <a:prstGeom prst="rect">
            <a:avLst/>
          </a:prstGeom>
          <a:noFill/>
        </p:spPr>
        <p:txBody>
          <a:bodyPr wrap="square" lIns="0" rIns="0" tIns="0" bIns="0" anchor="ctr">
            <a:spAutoFit/>
          </a:bodyPr>
          <a:lstStyle/>
          <a:p>
            <a:pPr algn="l">
              <a:spcAft>
                <a:spcPts val="300"/>
              </a:spcAft>
            </a:pPr>
            <a:r>
              <a:rPr sz="1300" b="1">
                <a:solidFill>
                  <a:srgbClr val="622B14"/>
                </a:solidFill>
                <a:latin typeface="Calibri"/>
              </a:rPr>
              <a:t>Nhóm quyết định Accept, Modify, Reject</a:t>
            </a:r>
          </a:p>
        </p:txBody>
      </p:sp>
      <p:sp>
        <p:nvSpPr>
          <p:cNvPr id="16" name="TextBox 15"/>
          <p:cNvSpPr txBox="1"/>
          <p:nvPr/>
        </p:nvSpPr>
        <p:spPr>
          <a:xfrm>
            <a:off x="8723376" y="1783080"/>
            <a:ext cx="246888" cy="457200"/>
          </a:xfrm>
          <a:prstGeom prst="rect">
            <a:avLst/>
          </a:prstGeom>
          <a:noFill/>
        </p:spPr>
        <p:txBody>
          <a:bodyPr wrap="square" lIns="0" rIns="0" tIns="0" bIns="0" anchor="t">
            <a:spAutoFit/>
          </a:bodyPr>
          <a:lstStyle/>
          <a:p>
            <a:pPr algn="ctr">
              <a:spcAft>
                <a:spcPts val="300"/>
              </a:spcAft>
            </a:pPr>
            <a:r>
              <a:rPr sz="2400" b="1">
                <a:solidFill>
                  <a:srgbClr val="F69D39"/>
                </a:solidFill>
                <a:latin typeface="Calibri"/>
              </a:rPr>
              <a:t>›</a:t>
            </a:r>
          </a:p>
        </p:txBody>
      </p:sp>
      <p:sp>
        <p:nvSpPr>
          <p:cNvPr id="17" name="Rounded Rectangle 16"/>
          <p:cNvSpPr/>
          <p:nvPr/>
        </p:nvSpPr>
        <p:spPr>
          <a:xfrm>
            <a:off x="8970263" y="1508760"/>
            <a:ext cx="2560320" cy="1097280"/>
          </a:xfrm>
          <a:prstGeom prst="roundRect">
            <a:avLst>
              <a:gd name="adj" fmla="val 4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53143" y="1508760"/>
            <a:ext cx="2194560" cy="1097280"/>
          </a:xfrm>
          <a:prstGeom prst="rect">
            <a:avLst/>
          </a:prstGeom>
          <a:noFill/>
        </p:spPr>
        <p:txBody>
          <a:bodyPr wrap="square" lIns="0" rIns="0" tIns="0" bIns="0" anchor="ctr">
            <a:spAutoFit/>
          </a:bodyPr>
          <a:lstStyle/>
          <a:p>
            <a:pPr algn="l">
              <a:spcAft>
                <a:spcPts val="300"/>
              </a:spcAft>
            </a:pPr>
            <a:r>
              <a:rPr sz="1300" b="1">
                <a:solidFill>
                  <a:srgbClr val="622B14"/>
                </a:solidFill>
                <a:latin typeface="Calibri"/>
              </a:rPr>
              <a:t>Sửa trong Figma, đo lại</a:t>
            </a:r>
          </a:p>
        </p:txBody>
      </p:sp>
      <p:sp>
        <p:nvSpPr>
          <p:cNvPr id="19" name="Rounded Rectangle 18"/>
          <p:cNvSpPr/>
          <p:nvPr/>
        </p:nvSpPr>
        <p:spPr>
          <a:xfrm>
            <a:off x="548640" y="2926080"/>
            <a:ext cx="3611880" cy="2514600"/>
          </a:xfrm>
          <a:prstGeom prst="roundRect">
            <a:avLst>
              <a:gd name="adj" fmla="val 4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77240" y="3154680"/>
            <a:ext cx="1005840" cy="310896"/>
          </a:xfrm>
          <a:prstGeom prst="roundRect">
            <a:avLst>
              <a:gd name="adj" fmla="val 50000"/>
            </a:avLst>
          </a:prstGeom>
          <a:solidFill>
            <a:srgbClr val="E8F5EC"/>
          </a:solidFill>
          <a:ln w="9525">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3154680"/>
            <a:ext cx="1005840" cy="310896"/>
          </a:xfrm>
          <a:prstGeom prst="rect">
            <a:avLst/>
          </a:prstGeom>
          <a:noFill/>
        </p:spPr>
        <p:txBody>
          <a:bodyPr wrap="square" lIns="0" rIns="0" tIns="0" bIns="0" anchor="ctr">
            <a:spAutoFit/>
          </a:bodyPr>
          <a:lstStyle/>
          <a:p>
            <a:pPr algn="ctr">
              <a:spcAft>
                <a:spcPts val="300"/>
              </a:spcAft>
            </a:pPr>
            <a:r>
              <a:rPr sz="1200" b="1">
                <a:solidFill>
                  <a:srgbClr val="15803D"/>
                </a:solidFill>
                <a:latin typeface="Calibri"/>
              </a:rPr>
              <a:t>ACCEPT</a:t>
            </a:r>
          </a:p>
        </p:txBody>
      </p:sp>
      <p:sp>
        <p:nvSpPr>
          <p:cNvPr id="22" name="TextBox 21"/>
          <p:cNvSpPr txBox="1"/>
          <p:nvPr/>
        </p:nvSpPr>
        <p:spPr>
          <a:xfrm>
            <a:off x="777240" y="3657600"/>
            <a:ext cx="3154680" cy="1737360"/>
          </a:xfrm>
          <a:prstGeom prst="rect">
            <a:avLst/>
          </a:prstGeom>
          <a:noFill/>
        </p:spPr>
        <p:txBody>
          <a:bodyPr wrap="square" lIns="0" rIns="0" tIns="0" bIns="0" anchor="t">
            <a:spAutoFit/>
          </a:bodyPr>
          <a:lstStyle/>
          <a:p>
            <a:pPr algn="l">
              <a:spcAft>
                <a:spcPts val="800"/>
              </a:spcAft>
            </a:pPr>
            <a:r>
              <a:rPr sz="1500" b="1">
                <a:solidFill>
                  <a:srgbClr val="622B14"/>
                </a:solidFill>
                <a:latin typeface="Calibri"/>
              </a:rPr>
              <a:t>Giá cộng dồn trên nút Thêm vào giỏ (S04)</a:t>
            </a:r>
          </a:p>
          <a:p>
            <a:pPr algn="l">
              <a:spcAft>
                <a:spcPts val="800"/>
              </a:spcAft>
            </a:pPr>
            <a:r>
              <a:rPr sz="1200" b="0">
                <a:solidFill>
                  <a:srgbClr val="6B5F55"/>
                </a:solidFill>
                <a:latin typeface="Calibri"/>
              </a:rPr>
              <a:t>Người dùng thấy tổng tiền trước khi chốt</a:t>
            </a:r>
          </a:p>
        </p:txBody>
      </p:sp>
      <p:sp>
        <p:nvSpPr>
          <p:cNvPr id="23" name="Rounded Rectangle 22"/>
          <p:cNvSpPr/>
          <p:nvPr/>
        </p:nvSpPr>
        <p:spPr>
          <a:xfrm>
            <a:off x="4297679" y="2926080"/>
            <a:ext cx="3611880" cy="2514600"/>
          </a:xfrm>
          <a:prstGeom prst="roundRect">
            <a:avLst>
              <a:gd name="adj" fmla="val 4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526279" y="3154680"/>
            <a:ext cx="1005840" cy="310896"/>
          </a:xfrm>
          <a:prstGeom prst="roundRect">
            <a:avLst>
              <a:gd name="adj" fmla="val 50000"/>
            </a:avLst>
          </a:prstGeom>
          <a:solidFill>
            <a:srgbClr val="FFF1DE"/>
          </a:solidFill>
          <a:ln w="952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26279" y="3154680"/>
            <a:ext cx="1005840" cy="310896"/>
          </a:xfrm>
          <a:prstGeom prst="rect">
            <a:avLst/>
          </a:prstGeom>
          <a:noFill/>
        </p:spPr>
        <p:txBody>
          <a:bodyPr wrap="square" lIns="0" rIns="0" tIns="0" bIns="0" anchor="ctr">
            <a:spAutoFit/>
          </a:bodyPr>
          <a:lstStyle/>
          <a:p>
            <a:pPr algn="ctr">
              <a:spcAft>
                <a:spcPts val="300"/>
              </a:spcAft>
            </a:pPr>
            <a:r>
              <a:rPr sz="1200" b="1">
                <a:solidFill>
                  <a:srgbClr val="B45309"/>
                </a:solidFill>
                <a:latin typeface="Calibri"/>
              </a:rPr>
              <a:t>MODIFY</a:t>
            </a:r>
          </a:p>
        </p:txBody>
      </p:sp>
      <p:sp>
        <p:nvSpPr>
          <p:cNvPr id="26" name="TextBox 25"/>
          <p:cNvSpPr txBox="1"/>
          <p:nvPr/>
        </p:nvSpPr>
        <p:spPr>
          <a:xfrm>
            <a:off x="4526279" y="3657600"/>
            <a:ext cx="3154680" cy="1737360"/>
          </a:xfrm>
          <a:prstGeom prst="rect">
            <a:avLst/>
          </a:prstGeom>
          <a:noFill/>
        </p:spPr>
        <p:txBody>
          <a:bodyPr wrap="square" lIns="0" rIns="0" tIns="0" bIns="0" anchor="t">
            <a:spAutoFit/>
          </a:bodyPr>
          <a:lstStyle/>
          <a:p>
            <a:pPr algn="l">
              <a:spcAft>
                <a:spcPts val="800"/>
              </a:spcAft>
            </a:pPr>
            <a:r>
              <a:rPr sz="1500" b="1">
                <a:solidFill>
                  <a:srgbClr val="622B14"/>
                </a:solidFill>
                <a:latin typeface="Calibri"/>
              </a:rPr>
              <a:t>Chữ nút đổi sang nâu #622B14</a:t>
            </a:r>
          </a:p>
          <a:p>
            <a:pPr algn="l">
              <a:spcAft>
                <a:spcPts val="800"/>
              </a:spcAft>
            </a:pPr>
            <a:r>
              <a:rPr sz="1200" b="0">
                <a:solidFill>
                  <a:srgbClr val="6B5F55"/>
                </a:solidFill>
                <a:latin typeface="Calibri"/>
              </a:rPr>
              <a:t>Tương phản 5,23:1; chữ trắng trên cam chỉ 2,14:1</a:t>
            </a:r>
          </a:p>
        </p:txBody>
      </p:sp>
      <p:sp>
        <p:nvSpPr>
          <p:cNvPr id="27" name="Rounded Rectangle 26"/>
          <p:cNvSpPr/>
          <p:nvPr/>
        </p:nvSpPr>
        <p:spPr>
          <a:xfrm>
            <a:off x="8046719" y="2926080"/>
            <a:ext cx="3611880" cy="2514600"/>
          </a:xfrm>
          <a:prstGeom prst="roundRect">
            <a:avLst>
              <a:gd name="adj" fmla="val 4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8275319" y="3154680"/>
            <a:ext cx="1005840" cy="310896"/>
          </a:xfrm>
          <a:prstGeom prst="roundRect">
            <a:avLst>
              <a:gd name="adj" fmla="val 50000"/>
            </a:avLst>
          </a:prstGeom>
          <a:solidFill>
            <a:srgbClr val="FCE8E8"/>
          </a:solidFill>
          <a:ln w="9525">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75319" y="3154680"/>
            <a:ext cx="1005840" cy="310896"/>
          </a:xfrm>
          <a:prstGeom prst="rect">
            <a:avLst/>
          </a:prstGeom>
          <a:noFill/>
        </p:spPr>
        <p:txBody>
          <a:bodyPr wrap="square" lIns="0" rIns="0" tIns="0" bIns="0" anchor="ctr">
            <a:spAutoFit/>
          </a:bodyPr>
          <a:lstStyle/>
          <a:p>
            <a:pPr algn="ctr">
              <a:spcAft>
                <a:spcPts val="300"/>
              </a:spcAft>
            </a:pPr>
            <a:r>
              <a:rPr sz="1200" b="1">
                <a:solidFill>
                  <a:srgbClr val="B91C1C"/>
                </a:solidFill>
                <a:latin typeface="Calibri"/>
              </a:rPr>
              <a:t>REJECT</a:t>
            </a:r>
          </a:p>
        </p:txBody>
      </p:sp>
      <p:sp>
        <p:nvSpPr>
          <p:cNvPr id="30" name="TextBox 29"/>
          <p:cNvSpPr txBox="1"/>
          <p:nvPr/>
        </p:nvSpPr>
        <p:spPr>
          <a:xfrm>
            <a:off x="8275319" y="3657600"/>
            <a:ext cx="3154680" cy="1737360"/>
          </a:xfrm>
          <a:prstGeom prst="rect">
            <a:avLst/>
          </a:prstGeom>
          <a:noFill/>
        </p:spPr>
        <p:txBody>
          <a:bodyPr wrap="square" lIns="0" rIns="0" tIns="0" bIns="0" anchor="t">
            <a:spAutoFit/>
          </a:bodyPr>
          <a:lstStyle/>
          <a:p>
            <a:pPr algn="l">
              <a:spcAft>
                <a:spcPts val="800"/>
              </a:spcAft>
            </a:pPr>
            <a:r>
              <a:rPr sz="1500" b="1">
                <a:solidFill>
                  <a:srgbClr val="622B14"/>
                </a:solidFill>
                <a:latin typeface="Calibri"/>
              </a:rPr>
              <a:t>Bắt buộc đăng nhập để tích điểm</a:t>
            </a:r>
          </a:p>
          <a:p>
            <a:pPr algn="l">
              <a:spcAft>
                <a:spcPts val="800"/>
              </a:spcAft>
            </a:pPr>
            <a:r>
              <a:rPr sz="1200" b="0">
                <a:solidFill>
                  <a:srgbClr val="6B5F55"/>
                </a:solidFill>
                <a:latin typeface="Calibri"/>
              </a:rPr>
              <a:t>Xem menu và đặt món không cần tài khoản (D12)</a:t>
            </a:r>
          </a:p>
        </p:txBody>
      </p:sp>
      <p:sp>
        <p:nvSpPr>
          <p:cNvPr id="31" name="Rounded Rectangle 30"/>
          <p:cNvSpPr/>
          <p:nvPr/>
        </p:nvSpPr>
        <p:spPr>
          <a:xfrm>
            <a:off x="548640" y="5577840"/>
            <a:ext cx="11064240" cy="640080"/>
          </a:xfrm>
          <a:prstGeom prst="roundRect">
            <a:avLst>
              <a:gd name="adj" fmla="val 4000"/>
            </a:avLst>
          </a:prstGeom>
          <a:solidFill>
            <a:srgbClr val="FFF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77240" y="5577840"/>
            <a:ext cx="10607040" cy="640080"/>
          </a:xfrm>
          <a:prstGeom prst="rect">
            <a:avLst/>
          </a:prstGeom>
          <a:noFill/>
        </p:spPr>
        <p:txBody>
          <a:bodyPr wrap="square" lIns="0" rIns="0" tIns="0" bIns="0" anchor="ctr">
            <a:spAutoFit/>
          </a:bodyPr>
          <a:lstStyle/>
          <a:p>
            <a:pPr algn="l">
              <a:spcAft>
                <a:spcPts val="300"/>
              </a:spcAft>
            </a:pPr>
            <a:r>
              <a:rPr sz="1300" b="1">
                <a:solidFill>
                  <a:srgbClr val="622B14"/>
                </a:solidFill>
                <a:latin typeface="Calibri"/>
              </a:rPr>
              <a:t>AI nêu số sai thì nhóm tự đo lại: tương phản chữ trắng trên cam thật là 2,14:1, không phải mức AI nêu.</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8F5"/>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548640" y="384048"/>
            <a:ext cx="566928" cy="566928"/>
          </a:xfrm>
          <a:prstGeom prst="rect">
            <a:avLst/>
          </a:prstGeom>
        </p:spPr>
      </p:pic>
      <p:sp>
        <p:nvSpPr>
          <p:cNvPr id="3" name="TextBox 2"/>
          <p:cNvSpPr txBox="1"/>
          <p:nvPr/>
        </p:nvSpPr>
        <p:spPr>
          <a:xfrm>
            <a:off x="1280160" y="329184"/>
            <a:ext cx="10241280" cy="548640"/>
          </a:xfrm>
          <a:prstGeom prst="rect">
            <a:avLst/>
          </a:prstGeom>
          <a:noFill/>
        </p:spPr>
        <p:txBody>
          <a:bodyPr wrap="square" lIns="0" rIns="0" tIns="0" bIns="0" anchor="ctr">
            <a:spAutoFit/>
          </a:bodyPr>
          <a:lstStyle/>
          <a:p>
            <a:pPr algn="l">
              <a:spcAft>
                <a:spcPts val="300"/>
              </a:spcAft>
            </a:pPr>
            <a:r>
              <a:rPr sz="2800" b="1">
                <a:solidFill>
                  <a:srgbClr val="622B14"/>
                </a:solidFill>
                <a:latin typeface="Trebuchet MS"/>
              </a:rPr>
              <a:t>Phản biện giao diện và bản v2</a:t>
            </a:r>
          </a:p>
        </p:txBody>
      </p:sp>
      <p:sp>
        <p:nvSpPr>
          <p:cNvPr id="4" name="TextBox 3"/>
          <p:cNvSpPr txBox="1"/>
          <p:nvPr/>
        </p:nvSpPr>
        <p:spPr>
          <a:xfrm>
            <a:off x="1280160" y="868680"/>
            <a:ext cx="10241280" cy="320040"/>
          </a:xfrm>
          <a:prstGeom prst="rect">
            <a:avLst/>
          </a:prstGeom>
          <a:noFill/>
        </p:spPr>
        <p:txBody>
          <a:bodyPr wrap="square" lIns="0" rIns="0" tIns="0" bIns="0" anchor="t">
            <a:spAutoFit/>
          </a:bodyPr>
          <a:lstStyle/>
          <a:p>
            <a:pPr algn="l">
              <a:spcAft>
                <a:spcPts val="300"/>
              </a:spcAft>
            </a:pPr>
            <a:r>
              <a:rPr sz="1400" b="0">
                <a:solidFill>
                  <a:srgbClr val="6B5F55"/>
                </a:solidFill>
                <a:latin typeface="Calibri"/>
              </a:rPr>
              <a:t>Đo bản cũ, sửa, đo lại</a:t>
            </a:r>
          </a:p>
        </p:txBody>
      </p:sp>
      <p:sp>
        <p:nvSpPr>
          <p:cNvPr id="5" name="Rounded Rectangle 4"/>
          <p:cNvSpPr/>
          <p:nvPr/>
        </p:nvSpPr>
        <p:spPr>
          <a:xfrm>
            <a:off x="1280160" y="1207008"/>
            <a:ext cx="822960" cy="45720"/>
          </a:xfrm>
          <a:prstGeom prst="roundRect">
            <a:avLst>
              <a:gd name="adj" fmla="val 50000"/>
            </a:avLst>
          </a:prstGeom>
          <a:solidFill>
            <a:srgbClr val="F69D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28232"/>
            <a:ext cx="8686800" cy="228600"/>
          </a:xfrm>
          <a:prstGeom prst="rect">
            <a:avLst/>
          </a:prstGeom>
          <a:noFill/>
        </p:spPr>
        <p:txBody>
          <a:bodyPr wrap="square" lIns="0" rIns="0" tIns="0" bIns="0" anchor="t">
            <a:spAutoFit/>
          </a:bodyPr>
          <a:lstStyle/>
          <a:p>
            <a:pPr algn="l">
              <a:spcAft>
                <a:spcPts val="300"/>
              </a:spcAft>
            </a:pPr>
            <a:r>
              <a:rPr sz="1000" b="0">
                <a:solidFill>
                  <a:srgbClr val="6B5F55"/>
                </a:solidFill>
                <a:latin typeface="Calibri"/>
              </a:rPr>
              <a:t>Minh chứng: ai/phan-bien-giao-dien/ · tests/audit/</a:t>
            </a:r>
          </a:p>
        </p:txBody>
      </p:sp>
      <p:sp>
        <p:nvSpPr>
          <p:cNvPr id="7" name="TextBox 6"/>
          <p:cNvSpPr txBox="1"/>
          <p:nvPr/>
        </p:nvSpPr>
        <p:spPr>
          <a:xfrm>
            <a:off x="9692640" y="6428232"/>
            <a:ext cx="1920240" cy="228600"/>
          </a:xfrm>
          <a:prstGeom prst="rect">
            <a:avLst/>
          </a:prstGeom>
          <a:noFill/>
        </p:spPr>
        <p:txBody>
          <a:bodyPr wrap="square" lIns="0" rIns="0" tIns="0" bIns="0" anchor="t">
            <a:spAutoFit/>
          </a:bodyPr>
          <a:lstStyle/>
          <a:p>
            <a:pPr algn="r">
              <a:spcAft>
                <a:spcPts val="300"/>
              </a:spcAft>
            </a:pPr>
            <a:r>
              <a:rPr sz="1000" b="0">
                <a:solidFill>
                  <a:srgbClr val="6B5F55"/>
                </a:solidFill>
                <a:latin typeface="Calibri"/>
              </a:rPr>
              <a:t>BreakBite · 8 / 16</a:t>
            </a:r>
          </a:p>
        </p:txBody>
      </p:sp>
      <p:sp>
        <p:nvSpPr>
          <p:cNvPr id="8" name="Rounded Rectangle 7"/>
          <p:cNvSpPr/>
          <p:nvPr/>
        </p:nvSpPr>
        <p:spPr>
          <a:xfrm>
            <a:off x="548640" y="1463040"/>
            <a:ext cx="6400800" cy="4526280"/>
          </a:xfrm>
          <a:prstGeom prst="roundRect">
            <a:avLst>
              <a:gd name="adj" fmla="val 4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Table 8"/>
          <p:cNvGraphicFramePr>
            <a:graphicFrameLocks noGrp="1"/>
          </p:cNvGraphicFramePr>
          <p:nvPr/>
        </p:nvGraphicFramePr>
        <p:xfrm>
          <a:off x="777240" y="1691640"/>
          <a:ext cx="5943600" cy="3520440"/>
        </p:xfrm>
        <a:graphic>
          <a:graphicData uri="http://schemas.openxmlformats.org/drawingml/2006/table">
            <a:tbl>
              <a:tblPr firstRow="1" bandRow="1">
                <a:tableStyleId>{5C22544A-7EE6-4342-B048-85BDC9FD1C3A}</a:tableStyleId>
              </a:tblPr>
              <a:tblGrid>
                <a:gridCol w="3200400"/>
                <a:gridCol w="1371600"/>
                <a:gridCol w="1371600"/>
              </a:tblGrid>
              <a:tr h="502920">
                <a:tc>
                  <a:txBody>
                    <a:bodyPr/>
                    <a:lstStyle/>
                    <a:p>
                      <a:r>
                        <a:rPr sz="1400" b="1">
                          <a:solidFill>
                            <a:srgbClr val="FFFFFF"/>
                          </a:solidFill>
                          <a:latin typeface="Calibri"/>
                        </a:rPr>
                        <a:t>Chỉ số</a:t>
                      </a:r>
                    </a:p>
                  </a:txBody>
                  <a:tcPr anchor="ctr" marL="91440" marR="91440">
                    <a:solidFill>
                      <a:srgbClr val="622B14"/>
                    </a:solidFill>
                  </a:tcPr>
                </a:tc>
                <a:tc>
                  <a:txBody>
                    <a:bodyPr/>
                    <a:lstStyle/>
                    <a:p>
                      <a:r>
                        <a:rPr sz="1400" b="1">
                          <a:solidFill>
                            <a:srgbClr val="FFFFFF"/>
                          </a:solidFill>
                          <a:latin typeface="Calibri"/>
                        </a:rPr>
                        <a:t>Bản cũ</a:t>
                      </a:r>
                    </a:p>
                  </a:txBody>
                  <a:tcPr anchor="ctr" marL="91440" marR="91440">
                    <a:solidFill>
                      <a:srgbClr val="622B14"/>
                    </a:solidFill>
                  </a:tcPr>
                </a:tc>
                <a:tc>
                  <a:txBody>
                    <a:bodyPr/>
                    <a:lstStyle/>
                    <a:p>
                      <a:r>
                        <a:rPr sz="1400" b="1">
                          <a:solidFill>
                            <a:srgbClr val="FFFFFF"/>
                          </a:solidFill>
                          <a:latin typeface="Calibri"/>
                        </a:rPr>
                        <a:t>Bản v2</a:t>
                      </a:r>
                    </a:p>
                  </a:txBody>
                  <a:tcPr anchor="ctr" marL="91440" marR="91440">
                    <a:solidFill>
                      <a:srgbClr val="622B14"/>
                    </a:solidFill>
                  </a:tcPr>
                </a:tc>
              </a:tr>
              <a:tr h="502920">
                <a:tc>
                  <a:txBody>
                    <a:bodyPr/>
                    <a:lstStyle/>
                    <a:p>
                      <a:r>
                        <a:rPr sz="1400" b="1">
                          <a:solidFill>
                            <a:srgbClr val="622B14"/>
                          </a:solidFill>
                          <a:latin typeface="Calibri"/>
                        </a:rPr>
                        <a:t>Cam đậm (trung bình S01–S08)</a:t>
                      </a:r>
                    </a:p>
                  </a:txBody>
                  <a:tcPr anchor="ctr" marL="91440" marR="91440">
                    <a:solidFill>
                      <a:srgbClr val="FFFFFF"/>
                    </a:solidFill>
                  </a:tcPr>
                </a:tc>
                <a:tc>
                  <a:txBody>
                    <a:bodyPr/>
                    <a:lstStyle/>
                    <a:p>
                      <a:r>
                        <a:rPr sz="1400" b="0">
                          <a:solidFill>
                            <a:srgbClr val="622B14"/>
                          </a:solidFill>
                          <a:latin typeface="Calibri"/>
                        </a:rPr>
                        <a:t>5,9%</a:t>
                      </a:r>
                    </a:p>
                  </a:txBody>
                  <a:tcPr anchor="ctr" marL="91440" marR="91440">
                    <a:solidFill>
                      <a:srgbClr val="FFFFFF"/>
                    </a:solidFill>
                  </a:tcPr>
                </a:tc>
                <a:tc>
                  <a:txBody>
                    <a:bodyPr/>
                    <a:lstStyle/>
                    <a:p>
                      <a:r>
                        <a:rPr sz="1400" b="0">
                          <a:solidFill>
                            <a:srgbClr val="622B14"/>
                          </a:solidFill>
                          <a:latin typeface="Calibri"/>
                        </a:rPr>
                        <a:t>4,3%</a:t>
                      </a:r>
                    </a:p>
                  </a:txBody>
                  <a:tcPr anchor="ctr" marL="91440" marR="91440">
                    <a:solidFill>
                      <a:srgbClr val="FFFFFF"/>
                    </a:solidFill>
                  </a:tcPr>
                </a:tc>
              </a:tr>
              <a:tr h="502920">
                <a:tc>
                  <a:txBody>
                    <a:bodyPr/>
                    <a:lstStyle/>
                    <a:p>
                      <a:r>
                        <a:rPr sz="1400" b="1">
                          <a:solidFill>
                            <a:srgbClr val="622B14"/>
                          </a:solidFill>
                          <a:latin typeface="Calibri"/>
                        </a:rPr>
                        <a:t>Họ cam–be: nền, thẻ, chip</a:t>
                      </a:r>
                    </a:p>
                  </a:txBody>
                  <a:tcPr anchor="ctr" marL="91440" marR="91440">
                    <a:solidFill>
                      <a:srgbClr val="FFF1DE"/>
                    </a:solidFill>
                  </a:tcPr>
                </a:tc>
                <a:tc>
                  <a:txBody>
                    <a:bodyPr/>
                    <a:lstStyle/>
                    <a:p>
                      <a:r>
                        <a:rPr sz="1400" b="0">
                          <a:solidFill>
                            <a:srgbClr val="622B14"/>
                          </a:solidFill>
                          <a:latin typeface="Calibri"/>
                        </a:rPr>
                        <a:t>55,3%</a:t>
                      </a:r>
                    </a:p>
                  </a:txBody>
                  <a:tcPr anchor="ctr" marL="91440" marR="91440">
                    <a:solidFill>
                      <a:srgbClr val="FFF1DE"/>
                    </a:solidFill>
                  </a:tcPr>
                </a:tc>
                <a:tc>
                  <a:txBody>
                    <a:bodyPr/>
                    <a:lstStyle/>
                    <a:p>
                      <a:r>
                        <a:rPr sz="1400" b="0">
                          <a:solidFill>
                            <a:srgbClr val="622B14"/>
                          </a:solidFill>
                          <a:latin typeface="Calibri"/>
                        </a:rPr>
                        <a:t>4,4%</a:t>
                      </a:r>
                    </a:p>
                  </a:txBody>
                  <a:tcPr anchor="ctr" marL="91440" marR="91440">
                    <a:solidFill>
                      <a:srgbClr val="FFF1DE"/>
                    </a:solidFill>
                  </a:tcPr>
                </a:tc>
              </a:tr>
              <a:tr h="502920">
                <a:tc>
                  <a:txBody>
                    <a:bodyPr/>
                    <a:lstStyle/>
                    <a:p>
                      <a:r>
                        <a:rPr sz="1400" b="1">
                          <a:solidFill>
                            <a:srgbClr val="622B14"/>
                          </a:solidFill>
                          <a:latin typeface="Calibri"/>
                        </a:rPr>
                        <a:t>Emoji trong chữ</a:t>
                      </a:r>
                    </a:p>
                  </a:txBody>
                  <a:tcPr anchor="ctr" marL="91440" marR="91440">
                    <a:solidFill>
                      <a:srgbClr val="FFFFFF"/>
                    </a:solidFill>
                  </a:tcPr>
                </a:tc>
                <a:tc>
                  <a:txBody>
                    <a:bodyPr/>
                    <a:lstStyle/>
                    <a:p>
                      <a:r>
                        <a:rPr sz="1400" b="0">
                          <a:solidFill>
                            <a:srgbClr val="622B14"/>
                          </a:solidFill>
                          <a:latin typeface="Calibri"/>
                        </a:rPr>
                        <a:t>98 / 366</a:t>
                      </a:r>
                    </a:p>
                  </a:txBody>
                  <a:tcPr anchor="ctr" marL="91440" marR="91440">
                    <a:solidFill>
                      <a:srgbClr val="FFFFFF"/>
                    </a:solidFill>
                  </a:tcPr>
                </a:tc>
                <a:tc>
                  <a:txBody>
                    <a:bodyPr/>
                    <a:lstStyle/>
                    <a:p>
                      <a:r>
                        <a:rPr sz="1400" b="0">
                          <a:solidFill>
                            <a:srgbClr val="622B14"/>
                          </a:solidFill>
                          <a:latin typeface="Calibri"/>
                        </a:rPr>
                        <a:t>0</a:t>
                      </a:r>
                    </a:p>
                  </a:txBody>
                  <a:tcPr anchor="ctr" marL="91440" marR="91440">
                    <a:solidFill>
                      <a:srgbClr val="FFFFFF"/>
                    </a:solidFill>
                  </a:tcPr>
                </a:tc>
              </a:tr>
              <a:tr h="502920">
                <a:tc>
                  <a:txBody>
                    <a:bodyPr/>
                    <a:lstStyle/>
                    <a:p>
                      <a:r>
                        <a:rPr sz="1400" b="1">
                          <a:solidFill>
                            <a:srgbClr val="622B14"/>
                          </a:solidFill>
                          <a:latin typeface="Calibri"/>
                        </a:rPr>
                        <a:t>Chữ dưới 14 sp</a:t>
                      </a:r>
                    </a:p>
                  </a:txBody>
                  <a:tcPr anchor="ctr" marL="91440" marR="91440">
                    <a:solidFill>
                      <a:srgbClr val="FFF1DE"/>
                    </a:solidFill>
                  </a:tcPr>
                </a:tc>
                <a:tc>
                  <a:txBody>
                    <a:bodyPr/>
                    <a:lstStyle/>
                    <a:p>
                      <a:r>
                        <a:rPr sz="1400" b="0">
                          <a:solidFill>
                            <a:srgbClr val="622B14"/>
                          </a:solidFill>
                          <a:latin typeface="Calibri"/>
                        </a:rPr>
                        <a:t>86 dòng</a:t>
                      </a:r>
                    </a:p>
                  </a:txBody>
                  <a:tcPr anchor="ctr" marL="91440" marR="91440">
                    <a:solidFill>
                      <a:srgbClr val="FFF1DE"/>
                    </a:solidFill>
                  </a:tcPr>
                </a:tc>
                <a:tc>
                  <a:txBody>
                    <a:bodyPr/>
                    <a:lstStyle/>
                    <a:p>
                      <a:r>
                        <a:rPr sz="1400" b="0">
                          <a:solidFill>
                            <a:srgbClr val="622B14"/>
                          </a:solidFill>
                          <a:latin typeface="Calibri"/>
                        </a:rPr>
                        <a:t>0*</a:t>
                      </a:r>
                    </a:p>
                  </a:txBody>
                  <a:tcPr anchor="ctr" marL="91440" marR="91440">
                    <a:solidFill>
                      <a:srgbClr val="FFF1DE"/>
                    </a:solidFill>
                  </a:tcPr>
                </a:tc>
              </a:tr>
              <a:tr h="502920">
                <a:tc>
                  <a:txBody>
                    <a:bodyPr/>
                    <a:lstStyle/>
                    <a:p>
                      <a:r>
                        <a:rPr sz="1400" b="1">
                          <a:solidFill>
                            <a:srgbClr val="622B14"/>
                          </a:solidFill>
                          <a:latin typeface="Calibri"/>
                        </a:rPr>
                        <a:t>Chữ thiếu tương phản</a:t>
                      </a:r>
                    </a:p>
                  </a:txBody>
                  <a:tcPr anchor="ctr" marL="91440" marR="91440">
                    <a:solidFill>
                      <a:srgbClr val="FFFFFF"/>
                    </a:solidFill>
                  </a:tcPr>
                </a:tc>
                <a:tc>
                  <a:txBody>
                    <a:bodyPr/>
                    <a:lstStyle/>
                    <a:p>
                      <a:r>
                        <a:rPr sz="1400" b="0">
                          <a:solidFill>
                            <a:srgbClr val="622B14"/>
                          </a:solidFill>
                          <a:latin typeface="Calibri"/>
                        </a:rPr>
                        <a:t>8 chỗ</a:t>
                      </a:r>
                    </a:p>
                  </a:txBody>
                  <a:tcPr anchor="ctr" marL="91440" marR="91440">
                    <a:solidFill>
                      <a:srgbClr val="FFFFFF"/>
                    </a:solidFill>
                  </a:tcPr>
                </a:tc>
                <a:tc>
                  <a:txBody>
                    <a:bodyPr/>
                    <a:lstStyle/>
                    <a:p>
                      <a:r>
                        <a:rPr sz="1400" b="0">
                          <a:solidFill>
                            <a:srgbClr val="622B14"/>
                          </a:solidFill>
                          <a:latin typeface="Calibri"/>
                        </a:rPr>
                        <a:t>0</a:t>
                      </a:r>
                    </a:p>
                  </a:txBody>
                  <a:tcPr anchor="ctr" marL="91440" marR="91440">
                    <a:solidFill>
                      <a:srgbClr val="FFFFFF"/>
                    </a:solidFill>
                  </a:tcPr>
                </a:tc>
              </a:tr>
              <a:tr h="502920">
                <a:tc>
                  <a:txBody>
                    <a:bodyPr/>
                    <a:lstStyle/>
                    <a:p>
                      <a:r>
                        <a:rPr sz="1400" b="1">
                          <a:solidFill>
                            <a:srgbClr val="622B14"/>
                          </a:solidFill>
                          <a:latin typeface="Calibri"/>
                        </a:rPr>
                        <a:t>Vùng bấm dưới 48 dp</a:t>
                      </a:r>
                    </a:p>
                  </a:txBody>
                  <a:tcPr anchor="ctr" marL="91440" marR="91440">
                    <a:solidFill>
                      <a:srgbClr val="FFF1DE"/>
                    </a:solidFill>
                  </a:tcPr>
                </a:tc>
                <a:tc>
                  <a:txBody>
                    <a:bodyPr/>
                    <a:lstStyle/>
                    <a:p>
                      <a:r>
                        <a:rPr sz="1400" b="0">
                          <a:solidFill>
                            <a:srgbClr val="622B14"/>
                          </a:solidFill>
                          <a:latin typeface="Calibri"/>
                        </a:rPr>
                        <a:t>20 / 39</a:t>
                      </a:r>
                    </a:p>
                  </a:txBody>
                  <a:tcPr anchor="ctr" marL="91440" marR="91440">
                    <a:solidFill>
                      <a:srgbClr val="FFF1DE"/>
                    </a:solidFill>
                  </a:tcPr>
                </a:tc>
                <a:tc>
                  <a:txBody>
                    <a:bodyPr/>
                    <a:lstStyle/>
                    <a:p>
                      <a:r>
                        <a:rPr sz="1400" b="0">
                          <a:solidFill>
                            <a:srgbClr val="622B14"/>
                          </a:solidFill>
                          <a:latin typeface="Calibri"/>
                        </a:rPr>
                        <a:t>0 / 217</a:t>
                      </a:r>
                    </a:p>
                  </a:txBody>
                  <a:tcPr anchor="ctr" marL="91440" marR="91440">
                    <a:solidFill>
                      <a:srgbClr val="FFF1DE"/>
                    </a:solidFill>
                  </a:tcPr>
                </a:tc>
              </a:tr>
            </a:tbl>
          </a:graphicData>
        </a:graphic>
      </p:graphicFrame>
      <p:sp>
        <p:nvSpPr>
          <p:cNvPr id="10" name="TextBox 9"/>
          <p:cNvSpPr txBox="1"/>
          <p:nvPr/>
        </p:nvSpPr>
        <p:spPr>
          <a:xfrm>
            <a:off x="777240" y="5394960"/>
            <a:ext cx="5943600" cy="457200"/>
          </a:xfrm>
          <a:prstGeom prst="rect">
            <a:avLst/>
          </a:prstGeom>
          <a:noFill/>
        </p:spPr>
        <p:txBody>
          <a:bodyPr wrap="square" lIns="0" rIns="0" tIns="0" bIns="0" anchor="t">
            <a:spAutoFit/>
          </a:bodyPr>
          <a:lstStyle/>
          <a:p>
            <a:pPr algn="l">
              <a:spcAft>
                <a:spcPts val="300"/>
              </a:spcAft>
            </a:pPr>
            <a:r>
              <a:rPr sz="1000" b="0">
                <a:solidFill>
                  <a:srgbClr val="6B5F55"/>
                </a:solidFill>
                <a:latin typeface="Calibri"/>
              </a:rPr>
              <a:t>* trừ nhãn thanh dưới 12 sp. Nền v2 là #FAF8F5 nên không còn tính vào họ cam–be.</a:t>
            </a:r>
          </a:p>
        </p:txBody>
      </p:sp>
      <p:sp>
        <p:nvSpPr>
          <p:cNvPr id="11" name="Rounded Rectangle 10"/>
          <p:cNvSpPr/>
          <p:nvPr/>
        </p:nvSpPr>
        <p:spPr>
          <a:xfrm>
            <a:off x="7178040" y="1463040"/>
            <a:ext cx="4480560" cy="4526280"/>
          </a:xfrm>
          <a:prstGeom prst="roundRect">
            <a:avLst>
              <a:gd name="adj" fmla="val 4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06640" y="1645920"/>
            <a:ext cx="4023360" cy="4206240"/>
          </a:xfrm>
          <a:prstGeom prst="rect">
            <a:avLst/>
          </a:prstGeom>
          <a:noFill/>
        </p:spPr>
        <p:txBody>
          <a:bodyPr wrap="square" lIns="0" rIns="0" tIns="0" bIns="0" anchor="t">
            <a:spAutoFit/>
          </a:bodyPr>
          <a:lstStyle/>
          <a:p>
            <a:pPr algn="l">
              <a:spcAft>
                <a:spcPts val="900"/>
              </a:spcAft>
            </a:pPr>
            <a:r>
              <a:rPr sz="1200" b="1">
                <a:solidFill>
                  <a:srgbClr val="6B5F55"/>
                </a:solidFill>
                <a:latin typeface="Calibri"/>
              </a:rPr>
              <a:t>LỖI CHÍNH ĐÃ SỬA</a:t>
            </a:r>
          </a:p>
          <a:p>
            <a:pPr algn="l">
              <a:spcAft>
                <a:spcPts val="900"/>
              </a:spcAft>
            </a:pPr>
            <a:r>
              <a:rPr sz="1300" b="0">
                <a:solidFill>
                  <a:srgbClr val="622B14"/>
                </a:solidFill>
                <a:latin typeface="Calibri"/>
              </a:rPr>
              <a:t>Quá cam: nền kem trung tính, cam chỉ cho một nút chính</a:t>
            </a:r>
          </a:p>
          <a:p>
            <a:pPr algn="l">
              <a:spcAft>
                <a:spcPts val="900"/>
              </a:spcAft>
            </a:pPr>
            <a:r>
              <a:rPr sz="1300" b="0">
                <a:solidFill>
                  <a:srgbClr val="622B14"/>
                </a:solidFill>
                <a:latin typeface="Calibri"/>
              </a:rPr>
              <a:t>Icon lộn xộn: bỏ emoji, dùng một bộ 27 icon vector</a:t>
            </a:r>
          </a:p>
          <a:p>
            <a:pPr algn="l">
              <a:spcAft>
                <a:spcPts val="900"/>
              </a:spcAft>
            </a:pPr>
            <a:r>
              <a:rPr sz="1300" b="0">
                <a:solidFill>
                  <a:srgbClr val="622B14"/>
                </a:solidFill>
                <a:latin typeface="Calibri"/>
              </a:rPr>
              <a:t>Giỏ hàng và thanh toán lặp: tách S05 và S06</a:t>
            </a:r>
          </a:p>
          <a:p>
            <a:pPr algn="l">
              <a:spcAft>
                <a:spcPts val="900"/>
              </a:spcAft>
            </a:pPr>
            <a:r>
              <a:rPr sz="1300" b="0">
                <a:solidFill>
                  <a:srgbClr val="622B14"/>
                </a:solidFill>
                <a:latin typeface="Calibri"/>
              </a:rPr>
              <a:t>Vùng bấm 48 dp, chữ 14 sp, chữ cam đủ 4,5:1</a:t>
            </a:r>
          </a:p>
          <a:p>
            <a:pPr algn="l">
              <a:spcAft>
                <a:spcPts val="900"/>
              </a:spcAft>
            </a:pPr>
            <a:r>
              <a:rPr sz="1100" b="1">
                <a:solidFill>
                  <a:srgbClr val="B45309"/>
                </a:solidFill>
                <a:latin typeface="Calibri"/>
              </a:rPr>
              <a:t>Báo cáo đo do công cụ AI viết nên không độc lập; phản biện của AI khác chưa chạy.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8F5"/>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548640" y="384048"/>
            <a:ext cx="566928" cy="566928"/>
          </a:xfrm>
          <a:prstGeom prst="rect">
            <a:avLst/>
          </a:prstGeom>
        </p:spPr>
      </p:pic>
      <p:sp>
        <p:nvSpPr>
          <p:cNvPr id="3" name="TextBox 2"/>
          <p:cNvSpPr txBox="1"/>
          <p:nvPr/>
        </p:nvSpPr>
        <p:spPr>
          <a:xfrm>
            <a:off x="1280160" y="329184"/>
            <a:ext cx="10241280" cy="548640"/>
          </a:xfrm>
          <a:prstGeom prst="rect">
            <a:avLst/>
          </a:prstGeom>
          <a:noFill/>
        </p:spPr>
        <p:txBody>
          <a:bodyPr wrap="square" lIns="0" rIns="0" tIns="0" bIns="0" anchor="ctr">
            <a:spAutoFit/>
          </a:bodyPr>
          <a:lstStyle/>
          <a:p>
            <a:pPr algn="l">
              <a:spcAft>
                <a:spcPts val="300"/>
              </a:spcAft>
            </a:pPr>
            <a:r>
              <a:rPr sz="2800" b="1">
                <a:solidFill>
                  <a:srgbClr val="622B14"/>
                </a:solidFill>
                <a:latin typeface="Trebuchet MS"/>
              </a:rPr>
              <a:t>Final UI: luồng đặt món</a:t>
            </a:r>
          </a:p>
        </p:txBody>
      </p:sp>
      <p:sp>
        <p:nvSpPr>
          <p:cNvPr id="4" name="TextBox 3"/>
          <p:cNvSpPr txBox="1"/>
          <p:nvPr/>
        </p:nvSpPr>
        <p:spPr>
          <a:xfrm>
            <a:off x="1280160" y="868680"/>
            <a:ext cx="10241280" cy="320040"/>
          </a:xfrm>
          <a:prstGeom prst="rect">
            <a:avLst/>
          </a:prstGeom>
          <a:noFill/>
        </p:spPr>
        <p:txBody>
          <a:bodyPr wrap="square" lIns="0" rIns="0" tIns="0" bIns="0" anchor="t">
            <a:spAutoFit/>
          </a:bodyPr>
          <a:lstStyle/>
          <a:p>
            <a:pPr algn="l">
              <a:spcAft>
                <a:spcPts val="300"/>
              </a:spcAft>
            </a:pPr>
            <a:r>
              <a:rPr sz="1400" b="0">
                <a:solidFill>
                  <a:srgbClr val="6B5F55"/>
                </a:solidFill>
                <a:latin typeface="Calibri"/>
              </a:rPr>
              <a:t>S01–S08 bản v2, một nút cam mỗi màn</a:t>
            </a:r>
          </a:p>
        </p:txBody>
      </p:sp>
      <p:sp>
        <p:nvSpPr>
          <p:cNvPr id="5" name="Rounded Rectangle 4"/>
          <p:cNvSpPr/>
          <p:nvPr/>
        </p:nvSpPr>
        <p:spPr>
          <a:xfrm>
            <a:off x="1280160" y="1207008"/>
            <a:ext cx="822960" cy="45720"/>
          </a:xfrm>
          <a:prstGeom prst="roundRect">
            <a:avLst>
              <a:gd name="adj" fmla="val 50000"/>
            </a:avLst>
          </a:prstGeom>
          <a:solidFill>
            <a:srgbClr val="F69D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28232"/>
            <a:ext cx="8686800" cy="228600"/>
          </a:xfrm>
          <a:prstGeom prst="rect">
            <a:avLst/>
          </a:prstGeom>
          <a:noFill/>
        </p:spPr>
        <p:txBody>
          <a:bodyPr wrap="square" lIns="0" rIns="0" tIns="0" bIns="0" anchor="t">
            <a:spAutoFit/>
          </a:bodyPr>
          <a:lstStyle/>
          <a:p>
            <a:pPr algn="l">
              <a:spcAft>
                <a:spcPts val="300"/>
              </a:spcAft>
            </a:pPr>
            <a:r>
              <a:rPr sz="1000" b="0">
                <a:solidFill>
                  <a:srgbClr val="6B5F55"/>
                </a:solidFill>
                <a:latin typeface="Calibri"/>
              </a:rPr>
              <a:t>Minh chứng: assets/figma/final-ui-v2/ · Figma Page 03</a:t>
            </a:r>
          </a:p>
        </p:txBody>
      </p:sp>
      <p:sp>
        <p:nvSpPr>
          <p:cNvPr id="7" name="TextBox 6"/>
          <p:cNvSpPr txBox="1"/>
          <p:nvPr/>
        </p:nvSpPr>
        <p:spPr>
          <a:xfrm>
            <a:off x="9692640" y="6428232"/>
            <a:ext cx="1920240" cy="228600"/>
          </a:xfrm>
          <a:prstGeom prst="rect">
            <a:avLst/>
          </a:prstGeom>
          <a:noFill/>
        </p:spPr>
        <p:txBody>
          <a:bodyPr wrap="square" lIns="0" rIns="0" tIns="0" bIns="0" anchor="t">
            <a:spAutoFit/>
          </a:bodyPr>
          <a:lstStyle/>
          <a:p>
            <a:pPr algn="r">
              <a:spcAft>
                <a:spcPts val="300"/>
              </a:spcAft>
            </a:pPr>
            <a:r>
              <a:rPr sz="1000" b="0">
                <a:solidFill>
                  <a:srgbClr val="6B5F55"/>
                </a:solidFill>
                <a:latin typeface="Calibri"/>
              </a:rPr>
              <a:t>BreakBite · 9 / 16</a:t>
            </a:r>
          </a:p>
        </p:txBody>
      </p:sp>
      <p:sp>
        <p:nvSpPr>
          <p:cNvPr id="8" name="Rounded Rectangle 7"/>
          <p:cNvSpPr/>
          <p:nvPr/>
        </p:nvSpPr>
        <p:spPr>
          <a:xfrm>
            <a:off x="566928" y="1508760"/>
            <a:ext cx="1296162" cy="2880360"/>
          </a:xfrm>
          <a:prstGeom prst="roundRect">
            <a:avLst>
              <a:gd name="adj" fmla="val 7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mage.png"/>
          <p:cNvPicPr>
            <a:picLocks noChangeAspect="1"/>
          </p:cNvPicPr>
          <p:nvPr/>
        </p:nvPicPr>
        <p:blipFill>
          <a:blip r:embed="rId3"/>
          <a:stretch>
            <a:fillRect/>
          </a:stretch>
        </p:blipFill>
        <p:spPr>
          <a:xfrm>
            <a:off x="566928" y="1508760"/>
            <a:ext cx="1296162" cy="2880360"/>
          </a:xfrm>
          <a:prstGeom prst="rect">
            <a:avLst/>
          </a:prstGeom>
        </p:spPr>
      </p:pic>
      <p:sp>
        <p:nvSpPr>
          <p:cNvPr id="10" name="TextBox 9"/>
          <p:cNvSpPr txBox="1"/>
          <p:nvPr/>
        </p:nvSpPr>
        <p:spPr>
          <a:xfrm>
            <a:off x="521207" y="4480560"/>
            <a:ext cx="1371600" cy="457200"/>
          </a:xfrm>
          <a:prstGeom prst="rect">
            <a:avLst/>
          </a:prstGeom>
          <a:noFill/>
        </p:spPr>
        <p:txBody>
          <a:bodyPr wrap="square" lIns="0" rIns="0" tIns="0" bIns="0" anchor="t">
            <a:spAutoFit/>
          </a:bodyPr>
          <a:lstStyle/>
          <a:p>
            <a:pPr algn="l">
              <a:spcAft>
                <a:spcPts val="300"/>
              </a:spcAft>
            </a:pPr>
            <a:r>
              <a:rPr sz="1100" b="1">
                <a:solidFill>
                  <a:srgbClr val="622B14"/>
                </a:solidFill>
                <a:latin typeface="Calibri"/>
              </a:rPr>
              <a:t>S01 Onboarding</a:t>
            </a:r>
          </a:p>
        </p:txBody>
      </p:sp>
      <p:sp>
        <p:nvSpPr>
          <p:cNvPr id="11" name="Rounded Rectangle 10"/>
          <p:cNvSpPr/>
          <p:nvPr/>
        </p:nvSpPr>
        <p:spPr>
          <a:xfrm>
            <a:off x="1965960" y="1508760"/>
            <a:ext cx="1296162" cy="2880360"/>
          </a:xfrm>
          <a:prstGeom prst="roundRect">
            <a:avLst>
              <a:gd name="adj" fmla="val 7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age.png"/>
          <p:cNvPicPr>
            <a:picLocks noChangeAspect="1"/>
          </p:cNvPicPr>
          <p:nvPr/>
        </p:nvPicPr>
        <p:blipFill>
          <a:blip r:embed="rId4"/>
          <a:stretch>
            <a:fillRect/>
          </a:stretch>
        </p:blipFill>
        <p:spPr>
          <a:xfrm>
            <a:off x="1965960" y="1508760"/>
            <a:ext cx="1296162" cy="2880360"/>
          </a:xfrm>
          <a:prstGeom prst="rect">
            <a:avLst/>
          </a:prstGeom>
        </p:spPr>
      </p:pic>
      <p:sp>
        <p:nvSpPr>
          <p:cNvPr id="13" name="TextBox 12"/>
          <p:cNvSpPr txBox="1"/>
          <p:nvPr/>
        </p:nvSpPr>
        <p:spPr>
          <a:xfrm>
            <a:off x="1920240" y="4480560"/>
            <a:ext cx="1371600" cy="457200"/>
          </a:xfrm>
          <a:prstGeom prst="rect">
            <a:avLst/>
          </a:prstGeom>
          <a:noFill/>
        </p:spPr>
        <p:txBody>
          <a:bodyPr wrap="square" lIns="0" rIns="0" tIns="0" bIns="0" anchor="t">
            <a:spAutoFit/>
          </a:bodyPr>
          <a:lstStyle/>
          <a:p>
            <a:pPr algn="l">
              <a:spcAft>
                <a:spcPts val="300"/>
              </a:spcAft>
            </a:pPr>
            <a:r>
              <a:rPr sz="1100" b="1">
                <a:solidFill>
                  <a:srgbClr val="622B14"/>
                </a:solidFill>
                <a:latin typeface="Calibri"/>
              </a:rPr>
              <a:t>S02 Trang chủ</a:t>
            </a:r>
          </a:p>
        </p:txBody>
      </p:sp>
      <p:sp>
        <p:nvSpPr>
          <p:cNvPr id="14" name="Rounded Rectangle 13"/>
          <p:cNvSpPr/>
          <p:nvPr/>
        </p:nvSpPr>
        <p:spPr>
          <a:xfrm>
            <a:off x="3364992" y="1508760"/>
            <a:ext cx="1296162" cy="2880360"/>
          </a:xfrm>
          <a:prstGeom prst="roundRect">
            <a:avLst>
              <a:gd name="adj" fmla="val 7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mage.png"/>
          <p:cNvPicPr>
            <a:picLocks noChangeAspect="1"/>
          </p:cNvPicPr>
          <p:nvPr/>
        </p:nvPicPr>
        <p:blipFill>
          <a:blip r:embed="rId5"/>
          <a:stretch>
            <a:fillRect/>
          </a:stretch>
        </p:blipFill>
        <p:spPr>
          <a:xfrm>
            <a:off x="3364992" y="1508760"/>
            <a:ext cx="1296162" cy="2880360"/>
          </a:xfrm>
          <a:prstGeom prst="rect">
            <a:avLst/>
          </a:prstGeom>
        </p:spPr>
      </p:pic>
      <p:sp>
        <p:nvSpPr>
          <p:cNvPr id="16" name="TextBox 15"/>
          <p:cNvSpPr txBox="1"/>
          <p:nvPr/>
        </p:nvSpPr>
        <p:spPr>
          <a:xfrm>
            <a:off x="3319272" y="4480560"/>
            <a:ext cx="1371600" cy="457200"/>
          </a:xfrm>
          <a:prstGeom prst="rect">
            <a:avLst/>
          </a:prstGeom>
          <a:noFill/>
        </p:spPr>
        <p:txBody>
          <a:bodyPr wrap="square" lIns="0" rIns="0" tIns="0" bIns="0" anchor="t">
            <a:spAutoFit/>
          </a:bodyPr>
          <a:lstStyle/>
          <a:p>
            <a:pPr algn="l">
              <a:spcAft>
                <a:spcPts val="300"/>
              </a:spcAft>
            </a:pPr>
            <a:r>
              <a:rPr sz="1100" b="1">
                <a:solidFill>
                  <a:srgbClr val="622B14"/>
                </a:solidFill>
                <a:latin typeface="Calibri"/>
              </a:rPr>
              <a:t>S03 Thực đơn</a:t>
            </a:r>
          </a:p>
        </p:txBody>
      </p:sp>
      <p:sp>
        <p:nvSpPr>
          <p:cNvPr id="17" name="Rounded Rectangle 16"/>
          <p:cNvSpPr/>
          <p:nvPr/>
        </p:nvSpPr>
        <p:spPr>
          <a:xfrm>
            <a:off x="4764024" y="1508760"/>
            <a:ext cx="1296162" cy="2880360"/>
          </a:xfrm>
          <a:prstGeom prst="roundRect">
            <a:avLst>
              <a:gd name="adj" fmla="val 7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6"/>
          <a:stretch>
            <a:fillRect/>
          </a:stretch>
        </p:blipFill>
        <p:spPr>
          <a:xfrm>
            <a:off x="4764024" y="1508760"/>
            <a:ext cx="1296162" cy="2880360"/>
          </a:xfrm>
          <a:prstGeom prst="rect">
            <a:avLst/>
          </a:prstGeom>
        </p:spPr>
      </p:pic>
      <p:sp>
        <p:nvSpPr>
          <p:cNvPr id="19" name="TextBox 18"/>
          <p:cNvSpPr txBox="1"/>
          <p:nvPr/>
        </p:nvSpPr>
        <p:spPr>
          <a:xfrm>
            <a:off x="4718304" y="4480560"/>
            <a:ext cx="1371600" cy="457200"/>
          </a:xfrm>
          <a:prstGeom prst="rect">
            <a:avLst/>
          </a:prstGeom>
          <a:noFill/>
        </p:spPr>
        <p:txBody>
          <a:bodyPr wrap="square" lIns="0" rIns="0" tIns="0" bIns="0" anchor="t">
            <a:spAutoFit/>
          </a:bodyPr>
          <a:lstStyle/>
          <a:p>
            <a:pPr algn="l">
              <a:spcAft>
                <a:spcPts val="300"/>
              </a:spcAft>
            </a:pPr>
            <a:r>
              <a:rPr sz="1100" b="1">
                <a:solidFill>
                  <a:srgbClr val="622B14"/>
                </a:solidFill>
                <a:latin typeface="Calibri"/>
              </a:rPr>
              <a:t>S04 Chi tiết món</a:t>
            </a:r>
          </a:p>
        </p:txBody>
      </p:sp>
      <p:sp>
        <p:nvSpPr>
          <p:cNvPr id="20" name="Rounded Rectangle 19"/>
          <p:cNvSpPr/>
          <p:nvPr/>
        </p:nvSpPr>
        <p:spPr>
          <a:xfrm>
            <a:off x="6163056" y="1508760"/>
            <a:ext cx="1296162" cy="2880360"/>
          </a:xfrm>
          <a:prstGeom prst="roundRect">
            <a:avLst>
              <a:gd name="adj" fmla="val 7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mage.png"/>
          <p:cNvPicPr>
            <a:picLocks noChangeAspect="1"/>
          </p:cNvPicPr>
          <p:nvPr/>
        </p:nvPicPr>
        <p:blipFill>
          <a:blip r:embed="rId7"/>
          <a:stretch>
            <a:fillRect/>
          </a:stretch>
        </p:blipFill>
        <p:spPr>
          <a:xfrm>
            <a:off x="6163056" y="1508760"/>
            <a:ext cx="1296162" cy="2880360"/>
          </a:xfrm>
          <a:prstGeom prst="rect">
            <a:avLst/>
          </a:prstGeom>
        </p:spPr>
      </p:pic>
      <p:sp>
        <p:nvSpPr>
          <p:cNvPr id="22" name="TextBox 21"/>
          <p:cNvSpPr txBox="1"/>
          <p:nvPr/>
        </p:nvSpPr>
        <p:spPr>
          <a:xfrm>
            <a:off x="6117336" y="4480560"/>
            <a:ext cx="1371600" cy="457200"/>
          </a:xfrm>
          <a:prstGeom prst="rect">
            <a:avLst/>
          </a:prstGeom>
          <a:noFill/>
        </p:spPr>
        <p:txBody>
          <a:bodyPr wrap="square" lIns="0" rIns="0" tIns="0" bIns="0" anchor="t">
            <a:spAutoFit/>
          </a:bodyPr>
          <a:lstStyle/>
          <a:p>
            <a:pPr algn="l">
              <a:spcAft>
                <a:spcPts val="300"/>
              </a:spcAft>
            </a:pPr>
            <a:r>
              <a:rPr sz="1100" b="1">
                <a:solidFill>
                  <a:srgbClr val="622B14"/>
                </a:solidFill>
                <a:latin typeface="Calibri"/>
              </a:rPr>
              <a:t>S05 Giỏ hàng</a:t>
            </a:r>
          </a:p>
        </p:txBody>
      </p:sp>
      <p:sp>
        <p:nvSpPr>
          <p:cNvPr id="23" name="Rounded Rectangle 22"/>
          <p:cNvSpPr/>
          <p:nvPr/>
        </p:nvSpPr>
        <p:spPr>
          <a:xfrm>
            <a:off x="7562088" y="1508760"/>
            <a:ext cx="1296162" cy="2880360"/>
          </a:xfrm>
          <a:prstGeom prst="roundRect">
            <a:avLst>
              <a:gd name="adj" fmla="val 7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image.png"/>
          <p:cNvPicPr>
            <a:picLocks noChangeAspect="1"/>
          </p:cNvPicPr>
          <p:nvPr/>
        </p:nvPicPr>
        <p:blipFill>
          <a:blip r:embed="rId8"/>
          <a:stretch>
            <a:fillRect/>
          </a:stretch>
        </p:blipFill>
        <p:spPr>
          <a:xfrm>
            <a:off x="7562088" y="1508760"/>
            <a:ext cx="1296162" cy="2880360"/>
          </a:xfrm>
          <a:prstGeom prst="rect">
            <a:avLst/>
          </a:prstGeom>
        </p:spPr>
      </p:pic>
      <p:sp>
        <p:nvSpPr>
          <p:cNvPr id="25" name="TextBox 24"/>
          <p:cNvSpPr txBox="1"/>
          <p:nvPr/>
        </p:nvSpPr>
        <p:spPr>
          <a:xfrm>
            <a:off x="7516367" y="4480560"/>
            <a:ext cx="1371600" cy="457200"/>
          </a:xfrm>
          <a:prstGeom prst="rect">
            <a:avLst/>
          </a:prstGeom>
          <a:noFill/>
        </p:spPr>
        <p:txBody>
          <a:bodyPr wrap="square" lIns="0" rIns="0" tIns="0" bIns="0" anchor="t">
            <a:spAutoFit/>
          </a:bodyPr>
          <a:lstStyle/>
          <a:p>
            <a:pPr algn="l">
              <a:spcAft>
                <a:spcPts val="300"/>
              </a:spcAft>
            </a:pPr>
            <a:r>
              <a:rPr sz="1100" b="1">
                <a:solidFill>
                  <a:srgbClr val="622B14"/>
                </a:solidFill>
                <a:latin typeface="Calibri"/>
              </a:rPr>
              <a:t>S06 Thanh toán</a:t>
            </a:r>
          </a:p>
        </p:txBody>
      </p:sp>
      <p:sp>
        <p:nvSpPr>
          <p:cNvPr id="26" name="Rounded Rectangle 25"/>
          <p:cNvSpPr/>
          <p:nvPr/>
        </p:nvSpPr>
        <p:spPr>
          <a:xfrm>
            <a:off x="8961119" y="1508760"/>
            <a:ext cx="1296162" cy="2880360"/>
          </a:xfrm>
          <a:prstGeom prst="roundRect">
            <a:avLst>
              <a:gd name="adj" fmla="val 7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image.png"/>
          <p:cNvPicPr>
            <a:picLocks noChangeAspect="1"/>
          </p:cNvPicPr>
          <p:nvPr/>
        </p:nvPicPr>
        <p:blipFill>
          <a:blip r:embed="rId9"/>
          <a:stretch>
            <a:fillRect/>
          </a:stretch>
        </p:blipFill>
        <p:spPr>
          <a:xfrm>
            <a:off x="8961119" y="1508760"/>
            <a:ext cx="1296162" cy="2880360"/>
          </a:xfrm>
          <a:prstGeom prst="rect">
            <a:avLst/>
          </a:prstGeom>
        </p:spPr>
      </p:pic>
      <p:sp>
        <p:nvSpPr>
          <p:cNvPr id="28" name="TextBox 27"/>
          <p:cNvSpPr txBox="1"/>
          <p:nvPr/>
        </p:nvSpPr>
        <p:spPr>
          <a:xfrm>
            <a:off x="8915399" y="4480560"/>
            <a:ext cx="1371600" cy="457200"/>
          </a:xfrm>
          <a:prstGeom prst="rect">
            <a:avLst/>
          </a:prstGeom>
          <a:noFill/>
        </p:spPr>
        <p:txBody>
          <a:bodyPr wrap="square" lIns="0" rIns="0" tIns="0" bIns="0" anchor="t">
            <a:spAutoFit/>
          </a:bodyPr>
          <a:lstStyle/>
          <a:p>
            <a:pPr algn="l">
              <a:spcAft>
                <a:spcPts val="300"/>
              </a:spcAft>
            </a:pPr>
            <a:r>
              <a:rPr sz="1100" b="1">
                <a:solidFill>
                  <a:srgbClr val="622B14"/>
                </a:solidFill>
                <a:latin typeface="Calibri"/>
              </a:rPr>
              <a:t>S07 Theo dõi</a:t>
            </a:r>
          </a:p>
        </p:txBody>
      </p:sp>
      <p:sp>
        <p:nvSpPr>
          <p:cNvPr id="29" name="Rounded Rectangle 28"/>
          <p:cNvSpPr/>
          <p:nvPr/>
        </p:nvSpPr>
        <p:spPr>
          <a:xfrm>
            <a:off x="10360152" y="1508760"/>
            <a:ext cx="1296162" cy="2880360"/>
          </a:xfrm>
          <a:prstGeom prst="roundRect">
            <a:avLst>
              <a:gd name="adj" fmla="val 7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mage.png"/>
          <p:cNvPicPr>
            <a:picLocks noChangeAspect="1"/>
          </p:cNvPicPr>
          <p:nvPr/>
        </p:nvPicPr>
        <p:blipFill>
          <a:blip r:embed="rId10"/>
          <a:stretch>
            <a:fillRect/>
          </a:stretch>
        </p:blipFill>
        <p:spPr>
          <a:xfrm>
            <a:off x="10360152" y="1508760"/>
            <a:ext cx="1296162" cy="2880360"/>
          </a:xfrm>
          <a:prstGeom prst="rect">
            <a:avLst/>
          </a:prstGeom>
        </p:spPr>
      </p:pic>
      <p:sp>
        <p:nvSpPr>
          <p:cNvPr id="31" name="TextBox 30"/>
          <p:cNvSpPr txBox="1"/>
          <p:nvPr/>
        </p:nvSpPr>
        <p:spPr>
          <a:xfrm>
            <a:off x="10314432" y="4480560"/>
            <a:ext cx="1371600" cy="457200"/>
          </a:xfrm>
          <a:prstGeom prst="rect">
            <a:avLst/>
          </a:prstGeom>
          <a:noFill/>
        </p:spPr>
        <p:txBody>
          <a:bodyPr wrap="square" lIns="0" rIns="0" tIns="0" bIns="0" anchor="t">
            <a:spAutoFit/>
          </a:bodyPr>
          <a:lstStyle/>
          <a:p>
            <a:pPr algn="l">
              <a:spcAft>
                <a:spcPts val="300"/>
              </a:spcAft>
            </a:pPr>
            <a:r>
              <a:rPr sz="1100" b="1">
                <a:solidFill>
                  <a:srgbClr val="622B14"/>
                </a:solidFill>
                <a:latin typeface="Calibri"/>
              </a:rPr>
              <a:t>S08 Đơn hàng</a:t>
            </a:r>
          </a:p>
        </p:txBody>
      </p:sp>
      <p:sp>
        <p:nvSpPr>
          <p:cNvPr id="32" name="Rounded Rectangle 31"/>
          <p:cNvSpPr/>
          <p:nvPr/>
        </p:nvSpPr>
        <p:spPr>
          <a:xfrm>
            <a:off x="548640" y="5166360"/>
            <a:ext cx="11064240" cy="1005840"/>
          </a:xfrm>
          <a:prstGeom prst="roundRect">
            <a:avLst>
              <a:gd name="adj" fmla="val 4000"/>
            </a:avLst>
          </a:prstGeom>
          <a:solidFill>
            <a:srgbClr val="FFF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7240" y="5212080"/>
            <a:ext cx="10607040" cy="914400"/>
          </a:xfrm>
          <a:prstGeom prst="rect">
            <a:avLst/>
          </a:prstGeom>
          <a:noFill/>
        </p:spPr>
        <p:txBody>
          <a:bodyPr wrap="square" lIns="0" rIns="0" tIns="0" bIns="0" anchor="ctr">
            <a:spAutoFit/>
          </a:bodyPr>
          <a:lstStyle/>
          <a:p>
            <a:pPr algn="l">
              <a:spcAft>
                <a:spcPts val="600"/>
              </a:spcAft>
            </a:pPr>
            <a:r>
              <a:rPr sz="1300" b="1">
                <a:solidFill>
                  <a:srgbClr val="622B14"/>
                </a:solidFill>
                <a:latin typeface="Calibri"/>
              </a:rPr>
              <a:t>Trạng thái đi kèm: giỏ trống · mã sai · đang tải · lỗi thanh toán · trả tại quầy · chưa có đơn</a:t>
            </a:r>
          </a:p>
          <a:p>
            <a:pPr algn="l">
              <a:spcAft>
                <a:spcPts val="600"/>
              </a:spcAft>
            </a:pPr>
            <a:r>
              <a:rPr sz="1200" b="0">
                <a:solidFill>
                  <a:srgbClr val="6B5F55"/>
                </a:solidFill>
                <a:latin typeface="Calibri"/>
              </a:rPr>
              <a:t>Nền kem trung tính, thẻ trắng, một bộ icon vector, vùng bấm từ 48 dp, chữ từ 14 sp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8F5"/>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548640" y="384048"/>
            <a:ext cx="566928" cy="566928"/>
          </a:xfrm>
          <a:prstGeom prst="rect">
            <a:avLst/>
          </a:prstGeom>
        </p:spPr>
      </p:pic>
      <p:sp>
        <p:nvSpPr>
          <p:cNvPr id="3" name="TextBox 2"/>
          <p:cNvSpPr txBox="1"/>
          <p:nvPr/>
        </p:nvSpPr>
        <p:spPr>
          <a:xfrm>
            <a:off x="1280160" y="329184"/>
            <a:ext cx="10241280" cy="548640"/>
          </a:xfrm>
          <a:prstGeom prst="rect">
            <a:avLst/>
          </a:prstGeom>
          <a:noFill/>
        </p:spPr>
        <p:txBody>
          <a:bodyPr wrap="square" lIns="0" rIns="0" tIns="0" bIns="0" anchor="ctr">
            <a:spAutoFit/>
          </a:bodyPr>
          <a:lstStyle/>
          <a:p>
            <a:pPr algn="l">
              <a:spcAft>
                <a:spcPts val="300"/>
              </a:spcAft>
            </a:pPr>
            <a:r>
              <a:rPr sz="2800" b="1">
                <a:solidFill>
                  <a:srgbClr val="622B14"/>
                </a:solidFill>
                <a:latin typeface="Trebuchet MS"/>
              </a:rPr>
              <a:t>Final UI: vòng đời đơn và tài khoản</a:t>
            </a:r>
          </a:p>
        </p:txBody>
      </p:sp>
      <p:sp>
        <p:nvSpPr>
          <p:cNvPr id="4" name="TextBox 3"/>
          <p:cNvSpPr txBox="1"/>
          <p:nvPr/>
        </p:nvSpPr>
        <p:spPr>
          <a:xfrm>
            <a:off x="1280160" y="868680"/>
            <a:ext cx="10241280" cy="320040"/>
          </a:xfrm>
          <a:prstGeom prst="rect">
            <a:avLst/>
          </a:prstGeom>
          <a:noFill/>
        </p:spPr>
        <p:txBody>
          <a:bodyPr wrap="square" lIns="0" rIns="0" tIns="0" bIns="0" anchor="t">
            <a:spAutoFit/>
          </a:bodyPr>
          <a:lstStyle/>
          <a:p>
            <a:pPr algn="l">
              <a:spcAft>
                <a:spcPts val="300"/>
              </a:spcAft>
            </a:pPr>
            <a:r>
              <a:rPr sz="1400" b="0">
                <a:solidFill>
                  <a:srgbClr val="6B5F55"/>
                </a:solidFill>
                <a:latin typeface="Calibri"/>
              </a:rPr>
              <a:t>S09–S30 bản v2</a:t>
            </a:r>
          </a:p>
        </p:txBody>
      </p:sp>
      <p:sp>
        <p:nvSpPr>
          <p:cNvPr id="5" name="Rounded Rectangle 4"/>
          <p:cNvSpPr/>
          <p:nvPr/>
        </p:nvSpPr>
        <p:spPr>
          <a:xfrm>
            <a:off x="1280160" y="1207008"/>
            <a:ext cx="822960" cy="45720"/>
          </a:xfrm>
          <a:prstGeom prst="roundRect">
            <a:avLst>
              <a:gd name="adj" fmla="val 50000"/>
            </a:avLst>
          </a:prstGeom>
          <a:solidFill>
            <a:srgbClr val="F69D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28232"/>
            <a:ext cx="8686800" cy="228600"/>
          </a:xfrm>
          <a:prstGeom prst="rect">
            <a:avLst/>
          </a:prstGeom>
          <a:noFill/>
        </p:spPr>
        <p:txBody>
          <a:bodyPr wrap="square" lIns="0" rIns="0" tIns="0" bIns="0" anchor="t">
            <a:spAutoFit/>
          </a:bodyPr>
          <a:lstStyle/>
          <a:p>
            <a:pPr algn="l">
              <a:spcAft>
                <a:spcPts val="300"/>
              </a:spcAft>
            </a:pPr>
            <a:r>
              <a:rPr sz="1000" b="0">
                <a:solidFill>
                  <a:srgbClr val="6B5F55"/>
                </a:solidFill>
                <a:latin typeface="Calibri"/>
              </a:rPr>
              <a:t>Minh chứng: design/screens-s09-s30.md · assets/figma/final-ui-v2/</a:t>
            </a:r>
          </a:p>
        </p:txBody>
      </p:sp>
      <p:sp>
        <p:nvSpPr>
          <p:cNvPr id="7" name="TextBox 6"/>
          <p:cNvSpPr txBox="1"/>
          <p:nvPr/>
        </p:nvSpPr>
        <p:spPr>
          <a:xfrm>
            <a:off x="9692640" y="6428232"/>
            <a:ext cx="1920240" cy="228600"/>
          </a:xfrm>
          <a:prstGeom prst="rect">
            <a:avLst/>
          </a:prstGeom>
          <a:noFill/>
        </p:spPr>
        <p:txBody>
          <a:bodyPr wrap="square" lIns="0" rIns="0" tIns="0" bIns="0" anchor="t">
            <a:spAutoFit/>
          </a:bodyPr>
          <a:lstStyle/>
          <a:p>
            <a:pPr algn="r">
              <a:spcAft>
                <a:spcPts val="300"/>
              </a:spcAft>
            </a:pPr>
            <a:r>
              <a:rPr sz="1000" b="0">
                <a:solidFill>
                  <a:srgbClr val="6B5F55"/>
                </a:solidFill>
                <a:latin typeface="Calibri"/>
              </a:rPr>
              <a:t>BreakBite · 10 / 16</a:t>
            </a:r>
          </a:p>
        </p:txBody>
      </p:sp>
      <p:pic>
        <p:nvPicPr>
          <p:cNvPr id="8" name="Picture 7" descr="contact-sheet-s09-s25.png"/>
          <p:cNvPicPr>
            <a:picLocks noChangeAspect="1"/>
          </p:cNvPicPr>
          <p:nvPr/>
        </p:nvPicPr>
        <p:blipFill>
          <a:blip r:embed="rId3"/>
          <a:stretch>
            <a:fillRect/>
          </a:stretch>
        </p:blipFill>
        <p:spPr>
          <a:xfrm>
            <a:off x="548640" y="1463040"/>
            <a:ext cx="3731341" cy="4023360"/>
          </a:xfrm>
          <a:prstGeom prst="rect">
            <a:avLst/>
          </a:prstGeom>
        </p:spPr>
      </p:pic>
      <p:pic>
        <p:nvPicPr>
          <p:cNvPr id="9" name="Picture 8" descr="contact-sheet-s26-s30.png"/>
          <p:cNvPicPr>
            <a:picLocks noChangeAspect="1"/>
          </p:cNvPicPr>
          <p:nvPr/>
        </p:nvPicPr>
        <p:blipFill>
          <a:blip r:embed="rId4"/>
          <a:stretch>
            <a:fillRect/>
          </a:stretch>
        </p:blipFill>
        <p:spPr>
          <a:xfrm>
            <a:off x="4434840" y="1463040"/>
            <a:ext cx="3732514" cy="4023360"/>
          </a:xfrm>
          <a:prstGeom prst="rect">
            <a:avLst/>
          </a:prstGeom>
        </p:spPr>
      </p:pic>
      <p:sp>
        <p:nvSpPr>
          <p:cNvPr id="10" name="Rounded Rectangle 9"/>
          <p:cNvSpPr/>
          <p:nvPr/>
        </p:nvSpPr>
        <p:spPr>
          <a:xfrm>
            <a:off x="8412480" y="1463040"/>
            <a:ext cx="3246120" cy="4023360"/>
          </a:xfrm>
          <a:prstGeom prst="roundRect">
            <a:avLst>
              <a:gd name="adj" fmla="val 4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0" y="1600200"/>
            <a:ext cx="2926080" cy="3840480"/>
          </a:xfrm>
          <a:prstGeom prst="rect">
            <a:avLst/>
          </a:prstGeom>
          <a:noFill/>
        </p:spPr>
        <p:txBody>
          <a:bodyPr wrap="square" lIns="0" rIns="0" tIns="0" bIns="0" anchor="t">
            <a:spAutoFit/>
          </a:bodyPr>
          <a:lstStyle/>
          <a:p>
            <a:pPr algn="l">
              <a:spcAft>
                <a:spcPts val="400"/>
              </a:spcAft>
            </a:pPr>
            <a:r>
              <a:rPr sz="1300" b="1">
                <a:solidFill>
                  <a:srgbClr val="B45309"/>
                </a:solidFill>
                <a:latin typeface="Calibri"/>
              </a:rPr>
              <a:t>S09–S14</a:t>
            </a:r>
          </a:p>
          <a:p>
            <a:pPr algn="l">
              <a:spcAft>
                <a:spcPts val="400"/>
              </a:spcAft>
            </a:pPr>
            <a:r>
              <a:rPr sz="1200" b="0">
                <a:solidFill>
                  <a:srgbClr val="622B14"/>
                </a:solidFill>
                <a:latin typeface="Calibri"/>
              </a:rPr>
              <a:t>Sửa và huỷ đơn, lịch sử, yêu thích, đặt lại</a:t>
            </a:r>
          </a:p>
          <a:p>
            <a:pPr algn="l">
              <a:spcAft>
                <a:spcPts val="400"/>
              </a:spcAft>
            </a:pPr>
            <a:r>
              <a:rPr sz="1300" b="1">
                <a:solidFill>
                  <a:srgbClr val="B45309"/>
                </a:solidFill>
                <a:latin typeface="Calibri"/>
              </a:rPr>
              <a:t>S15–S20</a:t>
            </a:r>
          </a:p>
          <a:p>
            <a:pPr algn="l">
              <a:spcAft>
                <a:spcPts val="400"/>
              </a:spcAft>
            </a:pPr>
            <a:r>
              <a:rPr sz="1200" b="0">
                <a:solidFill>
                  <a:srgbClr val="622B14"/>
                </a:solidFill>
                <a:latin typeface="Calibri"/>
              </a:rPr>
              <a:t>Tài khoản, thông báo, nhận món bằng QR</a:t>
            </a:r>
          </a:p>
          <a:p>
            <a:pPr algn="l">
              <a:spcAft>
                <a:spcPts val="400"/>
              </a:spcAft>
            </a:pPr>
            <a:r>
              <a:rPr sz="1300" b="1">
                <a:solidFill>
                  <a:srgbClr val="B45309"/>
                </a:solidFill>
                <a:latin typeface="Calibri"/>
              </a:rPr>
              <a:t>S21–S25</a:t>
            </a:r>
          </a:p>
          <a:p>
            <a:pPr algn="l">
              <a:spcAft>
                <a:spcPts val="400"/>
              </a:spcAft>
            </a:pPr>
            <a:r>
              <a:rPr sz="1200" b="0">
                <a:solidFill>
                  <a:srgbClr val="622B14"/>
                </a:solidFill>
                <a:latin typeface="Calibri"/>
              </a:rPr>
              <a:t>Quán đóng, món hết, đánh giá, báo sự cố, hẹn giờ</a:t>
            </a:r>
          </a:p>
          <a:p>
            <a:pPr algn="l">
              <a:spcAft>
                <a:spcPts val="400"/>
              </a:spcAft>
            </a:pPr>
            <a:r>
              <a:rPr sz="1300" b="1">
                <a:solidFill>
                  <a:srgbClr val="B45309"/>
                </a:solidFill>
                <a:latin typeface="Calibri"/>
              </a:rPr>
              <a:t>S26–S30</a:t>
            </a:r>
          </a:p>
          <a:p>
            <a:pPr algn="l">
              <a:spcAft>
                <a:spcPts val="400"/>
              </a:spcAft>
            </a:pPr>
            <a:r>
              <a:rPr sz="1200" b="0">
                <a:solidFill>
                  <a:srgbClr val="622B14"/>
                </a:solidFill>
                <a:latin typeface="Calibri"/>
              </a:rPr>
              <a:t>Đăng nhập, chọn kiosk, tìm kiếm, mã giảm giá, mất mạng</a:t>
            </a:r>
          </a:p>
        </p:txBody>
      </p:sp>
      <p:sp>
        <p:nvSpPr>
          <p:cNvPr id="12" name="TextBox 11"/>
          <p:cNvSpPr txBox="1"/>
          <p:nvPr/>
        </p:nvSpPr>
        <p:spPr>
          <a:xfrm>
            <a:off x="548640" y="5623560"/>
            <a:ext cx="11064240" cy="548640"/>
          </a:xfrm>
          <a:prstGeom prst="rect">
            <a:avLst/>
          </a:prstGeom>
          <a:noFill/>
        </p:spPr>
        <p:txBody>
          <a:bodyPr wrap="square" lIns="0" rIns="0" tIns="0" bIns="0" anchor="t">
            <a:spAutoFit/>
          </a:bodyPr>
          <a:lstStyle/>
          <a:p>
            <a:pPr algn="l">
              <a:spcAft>
                <a:spcPts val="300"/>
              </a:spcAft>
            </a:pPr>
            <a:r>
              <a:rPr sz="1200" b="0">
                <a:solidFill>
                  <a:srgbClr val="6B5F55"/>
                </a:solidFill>
                <a:latin typeface="Calibri"/>
              </a:rPr>
              <a:t>Tìm kiếm trống, mã hết hạn, lỗi mạng và trạng thái tải đều có màn riêng; đăng nhập không bắt buộc.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8F5"/>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548640" y="384048"/>
            <a:ext cx="566928" cy="566928"/>
          </a:xfrm>
          <a:prstGeom prst="rect">
            <a:avLst/>
          </a:prstGeom>
        </p:spPr>
      </p:pic>
      <p:sp>
        <p:nvSpPr>
          <p:cNvPr id="3" name="TextBox 2"/>
          <p:cNvSpPr txBox="1"/>
          <p:nvPr/>
        </p:nvSpPr>
        <p:spPr>
          <a:xfrm>
            <a:off x="1280160" y="329184"/>
            <a:ext cx="10241280" cy="548640"/>
          </a:xfrm>
          <a:prstGeom prst="rect">
            <a:avLst/>
          </a:prstGeom>
          <a:noFill/>
        </p:spPr>
        <p:txBody>
          <a:bodyPr wrap="square" lIns="0" rIns="0" tIns="0" bIns="0" anchor="ctr">
            <a:spAutoFit/>
          </a:bodyPr>
          <a:lstStyle/>
          <a:p>
            <a:pPr algn="l">
              <a:spcAft>
                <a:spcPts val="300"/>
              </a:spcAft>
            </a:pPr>
            <a:r>
              <a:rPr sz="2800" b="1">
                <a:solidFill>
                  <a:srgbClr val="622B14"/>
                </a:solidFill>
                <a:latin typeface="Trebuchet MS"/>
              </a:rPr>
              <a:t>App người bán: BreakBite Kiosk</a:t>
            </a:r>
          </a:p>
        </p:txBody>
      </p:sp>
      <p:sp>
        <p:nvSpPr>
          <p:cNvPr id="4" name="TextBox 3"/>
          <p:cNvSpPr txBox="1"/>
          <p:nvPr/>
        </p:nvSpPr>
        <p:spPr>
          <a:xfrm>
            <a:off x="1280160" y="868680"/>
            <a:ext cx="10241280" cy="320040"/>
          </a:xfrm>
          <a:prstGeom prst="rect">
            <a:avLst/>
          </a:prstGeom>
          <a:noFill/>
        </p:spPr>
        <p:txBody>
          <a:bodyPr wrap="square" lIns="0" rIns="0" tIns="0" bIns="0" anchor="t">
            <a:spAutoFit/>
          </a:bodyPr>
          <a:lstStyle/>
          <a:p>
            <a:pPr algn="l">
              <a:spcAft>
                <a:spcPts val="300"/>
              </a:spcAft>
            </a:pPr>
            <a:r>
              <a:rPr sz="1400" b="0">
                <a:solidFill>
                  <a:srgbClr val="6B5F55"/>
                </a:solidFill>
                <a:latin typeface="Calibri"/>
              </a:rPr>
              <a:t>15 màn K01–K15 cho nhân viên quầy</a:t>
            </a:r>
          </a:p>
        </p:txBody>
      </p:sp>
      <p:sp>
        <p:nvSpPr>
          <p:cNvPr id="5" name="Rounded Rectangle 4"/>
          <p:cNvSpPr/>
          <p:nvPr/>
        </p:nvSpPr>
        <p:spPr>
          <a:xfrm>
            <a:off x="1280160" y="1207008"/>
            <a:ext cx="822960" cy="45720"/>
          </a:xfrm>
          <a:prstGeom prst="roundRect">
            <a:avLst>
              <a:gd name="adj" fmla="val 50000"/>
            </a:avLst>
          </a:prstGeom>
          <a:solidFill>
            <a:srgbClr val="F69D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28232"/>
            <a:ext cx="8686800" cy="228600"/>
          </a:xfrm>
          <a:prstGeom prst="rect">
            <a:avLst/>
          </a:prstGeom>
          <a:noFill/>
        </p:spPr>
        <p:txBody>
          <a:bodyPr wrap="square" lIns="0" rIns="0" tIns="0" bIns="0" anchor="t">
            <a:spAutoFit/>
          </a:bodyPr>
          <a:lstStyle/>
          <a:p>
            <a:pPr algn="l">
              <a:spcAft>
                <a:spcPts val="300"/>
              </a:spcAft>
            </a:pPr>
            <a:r>
              <a:rPr sz="1000" b="0">
                <a:solidFill>
                  <a:srgbClr val="6B5F55"/>
                </a:solidFill>
                <a:latin typeface="Calibri"/>
              </a:rPr>
              <a:t>Minh chứng: design/kitchen-app.md · assets/figma/final-ui-v2/kitchen/</a:t>
            </a:r>
          </a:p>
        </p:txBody>
      </p:sp>
      <p:sp>
        <p:nvSpPr>
          <p:cNvPr id="7" name="TextBox 6"/>
          <p:cNvSpPr txBox="1"/>
          <p:nvPr/>
        </p:nvSpPr>
        <p:spPr>
          <a:xfrm>
            <a:off x="9692640" y="6428232"/>
            <a:ext cx="1920240" cy="228600"/>
          </a:xfrm>
          <a:prstGeom prst="rect">
            <a:avLst/>
          </a:prstGeom>
          <a:noFill/>
        </p:spPr>
        <p:txBody>
          <a:bodyPr wrap="square" lIns="0" rIns="0" tIns="0" bIns="0" anchor="t">
            <a:spAutoFit/>
          </a:bodyPr>
          <a:lstStyle/>
          <a:p>
            <a:pPr algn="r">
              <a:spcAft>
                <a:spcPts val="300"/>
              </a:spcAft>
            </a:pPr>
            <a:r>
              <a:rPr sz="1000" b="0">
                <a:solidFill>
                  <a:srgbClr val="6B5F55"/>
                </a:solidFill>
                <a:latin typeface="Calibri"/>
              </a:rPr>
              <a:t>BreakBite · 11 / 16</a:t>
            </a:r>
          </a:p>
        </p:txBody>
      </p:sp>
      <p:sp>
        <p:nvSpPr>
          <p:cNvPr id="8" name="Rounded Rectangle 7"/>
          <p:cNvSpPr/>
          <p:nvPr/>
        </p:nvSpPr>
        <p:spPr>
          <a:xfrm>
            <a:off x="548640" y="1463040"/>
            <a:ext cx="6309360" cy="2743200"/>
          </a:xfrm>
          <a:prstGeom prst="roundRect">
            <a:avLst>
              <a:gd name="adj" fmla="val 4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600200"/>
            <a:ext cx="5852160" cy="2560320"/>
          </a:xfrm>
          <a:prstGeom prst="rect">
            <a:avLst/>
          </a:prstGeom>
          <a:noFill/>
        </p:spPr>
        <p:txBody>
          <a:bodyPr wrap="square" lIns="0" rIns="0" tIns="0" bIns="0" anchor="t">
            <a:spAutoFit/>
          </a:bodyPr>
          <a:lstStyle/>
          <a:p>
            <a:pPr algn="l">
              <a:spcAft>
                <a:spcPts val="700"/>
              </a:spcAft>
            </a:pPr>
            <a:r>
              <a:rPr sz="1100" b="1">
                <a:solidFill>
                  <a:srgbClr val="6B5F55"/>
                </a:solidFill>
                <a:latin typeface="Calibri"/>
              </a:rPr>
              <a:t>MÀN KHÁCH ĐÃ HỨA, QUẦY PHẢI THỰC HIỆN</a:t>
            </a:r>
          </a:p>
          <a:p>
            <a:pPr algn="l">
              <a:spcAft>
                <a:spcPts val="700"/>
              </a:spcAft>
            </a:pPr>
            <a:r>
              <a:rPr sz="1300" b="0">
                <a:solidFill>
                  <a:srgbClr val="622B14"/>
                </a:solidFill>
                <a:latin typeface="Calibri"/>
              </a:rPr>
              <a:t>Đã nhận, Đang làm, Sẵn sàng: nhận đơn, làm món, báo sẵn sàng</a:t>
            </a:r>
          </a:p>
          <a:p>
            <a:pPr algn="l">
              <a:spcAft>
                <a:spcPts val="700"/>
              </a:spcAft>
            </a:pPr>
            <a:r>
              <a:rPr sz="1300" b="0">
                <a:solidFill>
                  <a:srgbClr val="622B14"/>
                </a:solidFill>
                <a:latin typeface="Calibri"/>
              </a:rPr>
              <a:t>Mã QR: quét mã, xác nhận giao; trả tại quầy thì thu tiền rồi giao</a:t>
            </a:r>
          </a:p>
          <a:p>
            <a:pPr algn="l">
              <a:spcAft>
                <a:spcPts val="700"/>
              </a:spcAft>
            </a:pPr>
            <a:r>
              <a:rPr sz="1300" b="0">
                <a:solidFill>
                  <a:srgbClr val="622B14"/>
                </a:solidFill>
                <a:latin typeface="Calibri"/>
              </a:rPr>
              <a:t>Tạm hết: đánh dấu hết món, thêm và sửa món</a:t>
            </a:r>
          </a:p>
          <a:p>
            <a:pPr algn="l">
              <a:spcAft>
                <a:spcPts val="700"/>
              </a:spcAft>
            </a:pPr>
            <a:r>
              <a:rPr sz="1300" b="0">
                <a:solidFill>
                  <a:srgbClr val="622B14"/>
                </a:solidFill>
                <a:latin typeface="Calibri"/>
              </a:rPr>
              <a:t>Quán đóng: bật hoặc tắt nhận đơn</a:t>
            </a:r>
          </a:p>
          <a:p>
            <a:pPr algn="l">
              <a:spcAft>
                <a:spcPts val="700"/>
              </a:spcAft>
            </a:pPr>
            <a:r>
              <a:rPr sz="1300" b="0">
                <a:solidFill>
                  <a:srgbClr val="622B14"/>
                </a:solidFill>
                <a:latin typeface="Calibri"/>
              </a:rPr>
              <a:t>Huỷ đơn, sự cố: từ chối đơn, hoàn tiền</a:t>
            </a:r>
          </a:p>
        </p:txBody>
      </p:sp>
      <p:sp>
        <p:nvSpPr>
          <p:cNvPr id="10" name="Rounded Rectangle 9"/>
          <p:cNvSpPr/>
          <p:nvPr/>
        </p:nvSpPr>
        <p:spPr>
          <a:xfrm>
            <a:off x="548640" y="4389120"/>
            <a:ext cx="6309360" cy="1783080"/>
          </a:xfrm>
          <a:prstGeom prst="roundRect">
            <a:avLst>
              <a:gd name="adj" fmla="val 4000"/>
            </a:avLst>
          </a:prstGeom>
          <a:solidFill>
            <a:srgbClr val="FFF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4526280"/>
            <a:ext cx="5852160" cy="1554480"/>
          </a:xfrm>
          <a:prstGeom prst="rect">
            <a:avLst/>
          </a:prstGeom>
          <a:noFill/>
        </p:spPr>
        <p:txBody>
          <a:bodyPr wrap="square" lIns="0" rIns="0" tIns="0" bIns="0" anchor="t">
            <a:spAutoFit/>
          </a:bodyPr>
          <a:lstStyle/>
          <a:p>
            <a:pPr algn="l">
              <a:spcAft>
                <a:spcPts val="800"/>
              </a:spcAft>
            </a:pPr>
            <a:r>
              <a:rPr sz="1300" b="1">
                <a:solidFill>
                  <a:srgbClr val="622B14"/>
                </a:solidFill>
                <a:latin typeface="Calibri"/>
              </a:rPr>
              <a:t>Một nút cam mỗi màn; thanh toán luôn hiện trên thẻ đơn để biết đơn nào thu tiền mặt.</a:t>
            </a:r>
          </a:p>
          <a:p>
            <a:pPr algn="l">
              <a:spcAft>
                <a:spcPts val="800"/>
              </a:spcAft>
            </a:pPr>
            <a:r>
              <a:rPr sz="1200" b="0">
                <a:solidFill>
                  <a:srgbClr val="6B5F55"/>
                </a:solidFill>
                <a:latin typeface="Calibri"/>
              </a:rPr>
              <a:t>Bốn tab: Đơn, Quét mã, Món, Quán. Thống kê ca nằm trong tab Quán, xử lý sự cố mở từ tab Đơn.</a:t>
            </a:r>
          </a:p>
        </p:txBody>
      </p:sp>
      <p:pic>
        <p:nvPicPr>
          <p:cNvPr id="12" name="Picture 11" descr="contact-sheet-kitchen.png"/>
          <p:cNvPicPr>
            <a:picLocks noChangeAspect="1"/>
          </p:cNvPicPr>
          <p:nvPr/>
        </p:nvPicPr>
        <p:blipFill>
          <a:blip r:embed="rId3"/>
          <a:stretch>
            <a:fillRect/>
          </a:stretch>
        </p:blipFill>
        <p:spPr>
          <a:xfrm>
            <a:off x="7132320" y="1463040"/>
            <a:ext cx="4155358" cy="448056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8F5"/>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548640" y="384048"/>
            <a:ext cx="566928" cy="566928"/>
          </a:xfrm>
          <a:prstGeom prst="rect">
            <a:avLst/>
          </a:prstGeom>
        </p:spPr>
      </p:pic>
      <p:sp>
        <p:nvSpPr>
          <p:cNvPr id="3" name="TextBox 2"/>
          <p:cNvSpPr txBox="1"/>
          <p:nvPr/>
        </p:nvSpPr>
        <p:spPr>
          <a:xfrm>
            <a:off x="1280160" y="329184"/>
            <a:ext cx="10241280" cy="548640"/>
          </a:xfrm>
          <a:prstGeom prst="rect">
            <a:avLst/>
          </a:prstGeom>
          <a:noFill/>
        </p:spPr>
        <p:txBody>
          <a:bodyPr wrap="square" lIns="0" rIns="0" tIns="0" bIns="0" anchor="ctr">
            <a:spAutoFit/>
          </a:bodyPr>
          <a:lstStyle/>
          <a:p>
            <a:pPr algn="l">
              <a:spcAft>
                <a:spcPts val="300"/>
              </a:spcAft>
            </a:pPr>
            <a:r>
              <a:rPr sz="2800" b="1">
                <a:solidFill>
                  <a:srgbClr val="622B14"/>
                </a:solidFill>
                <a:latin typeface="Trebuchet MS"/>
              </a:rPr>
              <a:t>Design system</a:t>
            </a:r>
          </a:p>
        </p:txBody>
      </p:sp>
      <p:sp>
        <p:nvSpPr>
          <p:cNvPr id="4" name="TextBox 3"/>
          <p:cNvSpPr txBox="1"/>
          <p:nvPr/>
        </p:nvSpPr>
        <p:spPr>
          <a:xfrm>
            <a:off x="1280160" y="868680"/>
            <a:ext cx="10241280" cy="320040"/>
          </a:xfrm>
          <a:prstGeom prst="rect">
            <a:avLst/>
          </a:prstGeom>
          <a:noFill/>
        </p:spPr>
        <p:txBody>
          <a:bodyPr wrap="square" lIns="0" rIns="0" tIns="0" bIns="0" anchor="t">
            <a:spAutoFit/>
          </a:bodyPr>
          <a:lstStyle/>
          <a:p>
            <a:pPr algn="l">
              <a:spcAft>
                <a:spcPts val="300"/>
              </a:spcAft>
            </a:pPr>
            <a:r>
              <a:rPr sz="1400" b="0">
                <a:solidFill>
                  <a:srgbClr val="6B5F55"/>
                </a:solidFill>
                <a:latin typeface="Calibri"/>
              </a:rPr>
              <a:t>Token màu, chữ, khoảng cách và component dùng chung cho hai app</a:t>
            </a:r>
          </a:p>
        </p:txBody>
      </p:sp>
      <p:sp>
        <p:nvSpPr>
          <p:cNvPr id="5" name="Rounded Rectangle 4"/>
          <p:cNvSpPr/>
          <p:nvPr/>
        </p:nvSpPr>
        <p:spPr>
          <a:xfrm>
            <a:off x="1280160" y="1207008"/>
            <a:ext cx="822960" cy="45720"/>
          </a:xfrm>
          <a:prstGeom prst="roundRect">
            <a:avLst>
              <a:gd name="adj" fmla="val 50000"/>
            </a:avLst>
          </a:prstGeom>
          <a:solidFill>
            <a:srgbClr val="F69D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28232"/>
            <a:ext cx="8686800" cy="228600"/>
          </a:xfrm>
          <a:prstGeom prst="rect">
            <a:avLst/>
          </a:prstGeom>
          <a:noFill/>
        </p:spPr>
        <p:txBody>
          <a:bodyPr wrap="square" lIns="0" rIns="0" tIns="0" bIns="0" anchor="t">
            <a:spAutoFit/>
          </a:bodyPr>
          <a:lstStyle/>
          <a:p>
            <a:pPr algn="l">
              <a:spcAft>
                <a:spcPts val="300"/>
              </a:spcAft>
            </a:pPr>
            <a:r>
              <a:rPr sz="1000" b="0">
                <a:solidFill>
                  <a:srgbClr val="6B5F55"/>
                </a:solidFill>
                <a:latin typeface="Calibri"/>
              </a:rPr>
              <a:t>Minh chứng: Figma Page 04, 05 · handoff/flutter-handoff.md mục 5</a:t>
            </a:r>
          </a:p>
        </p:txBody>
      </p:sp>
      <p:sp>
        <p:nvSpPr>
          <p:cNvPr id="7" name="TextBox 6"/>
          <p:cNvSpPr txBox="1"/>
          <p:nvPr/>
        </p:nvSpPr>
        <p:spPr>
          <a:xfrm>
            <a:off x="9692640" y="6428232"/>
            <a:ext cx="1920240" cy="228600"/>
          </a:xfrm>
          <a:prstGeom prst="rect">
            <a:avLst/>
          </a:prstGeom>
          <a:noFill/>
        </p:spPr>
        <p:txBody>
          <a:bodyPr wrap="square" lIns="0" rIns="0" tIns="0" bIns="0" anchor="t">
            <a:spAutoFit/>
          </a:bodyPr>
          <a:lstStyle/>
          <a:p>
            <a:pPr algn="r">
              <a:spcAft>
                <a:spcPts val="300"/>
              </a:spcAft>
            </a:pPr>
            <a:r>
              <a:rPr sz="1000" b="0">
                <a:solidFill>
                  <a:srgbClr val="6B5F55"/>
                </a:solidFill>
                <a:latin typeface="Calibri"/>
              </a:rPr>
              <a:t>BreakBite · 12 / 16</a:t>
            </a:r>
          </a:p>
        </p:txBody>
      </p:sp>
      <p:sp>
        <p:nvSpPr>
          <p:cNvPr id="8" name="Rounded Rectangle 7"/>
          <p:cNvSpPr/>
          <p:nvPr/>
        </p:nvSpPr>
        <p:spPr>
          <a:xfrm>
            <a:off x="548640" y="1463040"/>
            <a:ext cx="6583680" cy="4754880"/>
          </a:xfrm>
          <a:prstGeom prst="roundRect">
            <a:avLst>
              <a:gd name="adj" fmla="val 4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600200"/>
            <a:ext cx="6126480" cy="320040"/>
          </a:xfrm>
          <a:prstGeom prst="rect">
            <a:avLst/>
          </a:prstGeom>
          <a:noFill/>
        </p:spPr>
        <p:txBody>
          <a:bodyPr wrap="square" lIns="0" rIns="0" tIns="0" bIns="0" anchor="t">
            <a:spAutoFit/>
          </a:bodyPr>
          <a:lstStyle/>
          <a:p>
            <a:pPr algn="l">
              <a:spcAft>
                <a:spcPts val="300"/>
              </a:spcAft>
            </a:pPr>
            <a:r>
              <a:rPr sz="1100" b="1">
                <a:solidFill>
                  <a:srgbClr val="6B5F55"/>
                </a:solidFill>
                <a:latin typeface="Calibri"/>
              </a:rPr>
              <a:t>MÀU</a:t>
            </a:r>
          </a:p>
        </p:txBody>
      </p:sp>
      <p:sp>
        <p:nvSpPr>
          <p:cNvPr id="10" name="Rounded Rectangle 9"/>
          <p:cNvSpPr/>
          <p:nvPr/>
        </p:nvSpPr>
        <p:spPr>
          <a:xfrm>
            <a:off x="777240" y="2011680"/>
            <a:ext cx="1051560" cy="777240"/>
          </a:xfrm>
          <a:prstGeom prst="roundRect">
            <a:avLst>
              <a:gd name="adj" fmla="val 15000"/>
            </a:avLst>
          </a:prstGeom>
          <a:solidFill>
            <a:srgbClr val="F69D39"/>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852928"/>
            <a:ext cx="1097280" cy="502920"/>
          </a:xfrm>
          <a:prstGeom prst="rect">
            <a:avLst/>
          </a:prstGeom>
          <a:noFill/>
        </p:spPr>
        <p:txBody>
          <a:bodyPr wrap="square" lIns="0" rIns="0" tIns="0" bIns="0" anchor="t">
            <a:spAutoFit/>
          </a:bodyPr>
          <a:lstStyle/>
          <a:p>
            <a:pPr algn="l">
              <a:spcAft>
                <a:spcPts val="0"/>
              </a:spcAft>
            </a:pPr>
            <a:r>
              <a:rPr sz="1100" b="1">
                <a:solidFill>
                  <a:srgbClr val="622B14"/>
                </a:solidFill>
                <a:latin typeface="Calibri"/>
              </a:rPr>
              <a:t>#F69D39</a:t>
            </a:r>
          </a:p>
          <a:p>
            <a:pPr algn="l">
              <a:spcAft>
                <a:spcPts val="0"/>
              </a:spcAft>
            </a:pPr>
            <a:r>
              <a:rPr sz="1000" b="0">
                <a:solidFill>
                  <a:srgbClr val="6B5F55"/>
                </a:solidFill>
                <a:latin typeface="Calibri"/>
              </a:rPr>
              <a:t>primary</a:t>
            </a:r>
          </a:p>
        </p:txBody>
      </p:sp>
      <p:sp>
        <p:nvSpPr>
          <p:cNvPr id="12" name="Rounded Rectangle 11"/>
          <p:cNvSpPr/>
          <p:nvPr/>
        </p:nvSpPr>
        <p:spPr>
          <a:xfrm>
            <a:off x="1965960" y="2011680"/>
            <a:ext cx="1051560" cy="777240"/>
          </a:xfrm>
          <a:prstGeom prst="roundRect">
            <a:avLst>
              <a:gd name="adj" fmla="val 15000"/>
            </a:avLst>
          </a:prstGeom>
          <a:solidFill>
            <a:srgbClr val="622B14"/>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65960" y="2852928"/>
            <a:ext cx="1097280" cy="502920"/>
          </a:xfrm>
          <a:prstGeom prst="rect">
            <a:avLst/>
          </a:prstGeom>
          <a:noFill/>
        </p:spPr>
        <p:txBody>
          <a:bodyPr wrap="square" lIns="0" rIns="0" tIns="0" bIns="0" anchor="t">
            <a:spAutoFit/>
          </a:bodyPr>
          <a:lstStyle/>
          <a:p>
            <a:pPr algn="l">
              <a:spcAft>
                <a:spcPts val="0"/>
              </a:spcAft>
            </a:pPr>
            <a:r>
              <a:rPr sz="1100" b="1">
                <a:solidFill>
                  <a:srgbClr val="622B14"/>
                </a:solidFill>
                <a:latin typeface="Calibri"/>
              </a:rPr>
              <a:t>#622B14</a:t>
            </a:r>
          </a:p>
          <a:p>
            <a:pPr algn="l">
              <a:spcAft>
                <a:spcPts val="0"/>
              </a:spcAft>
            </a:pPr>
            <a:r>
              <a:rPr sz="1000" b="0">
                <a:solidFill>
                  <a:srgbClr val="6B5F55"/>
                </a:solidFill>
                <a:latin typeface="Calibri"/>
              </a:rPr>
              <a:t>chữ, trên cam</a:t>
            </a:r>
          </a:p>
        </p:txBody>
      </p:sp>
      <p:sp>
        <p:nvSpPr>
          <p:cNvPr id="14" name="Rounded Rectangle 13"/>
          <p:cNvSpPr/>
          <p:nvPr/>
        </p:nvSpPr>
        <p:spPr>
          <a:xfrm>
            <a:off x="3154680" y="2011680"/>
            <a:ext cx="1051560" cy="777240"/>
          </a:xfrm>
          <a:prstGeom prst="roundRect">
            <a:avLst>
              <a:gd name="adj" fmla="val 15000"/>
            </a:avLst>
          </a:prstGeom>
          <a:solidFill>
            <a:srgbClr val="B45309"/>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54680" y="2852928"/>
            <a:ext cx="1097280" cy="502920"/>
          </a:xfrm>
          <a:prstGeom prst="rect">
            <a:avLst/>
          </a:prstGeom>
          <a:noFill/>
        </p:spPr>
        <p:txBody>
          <a:bodyPr wrap="square" lIns="0" rIns="0" tIns="0" bIns="0" anchor="t">
            <a:spAutoFit/>
          </a:bodyPr>
          <a:lstStyle/>
          <a:p>
            <a:pPr algn="l">
              <a:spcAft>
                <a:spcPts val="0"/>
              </a:spcAft>
            </a:pPr>
            <a:r>
              <a:rPr sz="1100" b="1">
                <a:solidFill>
                  <a:srgbClr val="622B14"/>
                </a:solidFill>
                <a:latin typeface="Calibri"/>
              </a:rPr>
              <a:t>#B45309</a:t>
            </a:r>
          </a:p>
          <a:p>
            <a:pPr algn="l">
              <a:spcAft>
                <a:spcPts val="0"/>
              </a:spcAft>
            </a:pPr>
            <a:r>
              <a:rPr sz="1000" b="0">
                <a:solidFill>
                  <a:srgbClr val="6B5F55"/>
                </a:solidFill>
                <a:latin typeface="Calibri"/>
              </a:rPr>
              <a:t>chữ nhấn</a:t>
            </a:r>
          </a:p>
        </p:txBody>
      </p:sp>
      <p:sp>
        <p:nvSpPr>
          <p:cNvPr id="16" name="Rounded Rectangle 15"/>
          <p:cNvSpPr/>
          <p:nvPr/>
        </p:nvSpPr>
        <p:spPr>
          <a:xfrm>
            <a:off x="4343400" y="2011680"/>
            <a:ext cx="1051560" cy="777240"/>
          </a:xfrm>
          <a:prstGeom prst="roundRect">
            <a:avLst>
              <a:gd name="adj" fmla="val 15000"/>
            </a:avLst>
          </a:prstGeom>
          <a:solidFill>
            <a:srgbClr val="15803D"/>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43400" y="2852928"/>
            <a:ext cx="1097280" cy="502920"/>
          </a:xfrm>
          <a:prstGeom prst="rect">
            <a:avLst/>
          </a:prstGeom>
          <a:noFill/>
        </p:spPr>
        <p:txBody>
          <a:bodyPr wrap="square" lIns="0" rIns="0" tIns="0" bIns="0" anchor="t">
            <a:spAutoFit/>
          </a:bodyPr>
          <a:lstStyle/>
          <a:p>
            <a:pPr algn="l">
              <a:spcAft>
                <a:spcPts val="0"/>
              </a:spcAft>
            </a:pPr>
            <a:r>
              <a:rPr sz="1100" b="1">
                <a:solidFill>
                  <a:srgbClr val="622B14"/>
                </a:solidFill>
                <a:latin typeface="Calibri"/>
              </a:rPr>
              <a:t>#15803D</a:t>
            </a:r>
          </a:p>
          <a:p>
            <a:pPr algn="l">
              <a:spcAft>
                <a:spcPts val="0"/>
              </a:spcAft>
            </a:pPr>
            <a:r>
              <a:rPr sz="1000" b="0">
                <a:solidFill>
                  <a:srgbClr val="6B5F55"/>
                </a:solidFill>
                <a:latin typeface="Calibri"/>
              </a:rPr>
              <a:t>thành công</a:t>
            </a:r>
          </a:p>
        </p:txBody>
      </p:sp>
      <p:sp>
        <p:nvSpPr>
          <p:cNvPr id="18" name="Rounded Rectangle 17"/>
          <p:cNvSpPr/>
          <p:nvPr/>
        </p:nvSpPr>
        <p:spPr>
          <a:xfrm>
            <a:off x="5532120" y="2011680"/>
            <a:ext cx="1051560" cy="777240"/>
          </a:xfrm>
          <a:prstGeom prst="roundRect">
            <a:avLst>
              <a:gd name="adj" fmla="val 15000"/>
            </a:avLst>
          </a:prstGeom>
          <a:solidFill>
            <a:srgbClr val="B91C1C"/>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532120" y="2852928"/>
            <a:ext cx="1097280" cy="502920"/>
          </a:xfrm>
          <a:prstGeom prst="rect">
            <a:avLst/>
          </a:prstGeom>
          <a:noFill/>
        </p:spPr>
        <p:txBody>
          <a:bodyPr wrap="square" lIns="0" rIns="0" tIns="0" bIns="0" anchor="t">
            <a:spAutoFit/>
          </a:bodyPr>
          <a:lstStyle/>
          <a:p>
            <a:pPr algn="l">
              <a:spcAft>
                <a:spcPts val="0"/>
              </a:spcAft>
            </a:pPr>
            <a:r>
              <a:rPr sz="1100" b="1">
                <a:solidFill>
                  <a:srgbClr val="622B14"/>
                </a:solidFill>
                <a:latin typeface="Calibri"/>
              </a:rPr>
              <a:t>#B91C1C</a:t>
            </a:r>
          </a:p>
          <a:p>
            <a:pPr algn="l">
              <a:spcAft>
                <a:spcPts val="0"/>
              </a:spcAft>
            </a:pPr>
            <a:r>
              <a:rPr sz="1000" b="0">
                <a:solidFill>
                  <a:srgbClr val="6B5F55"/>
                </a:solidFill>
                <a:latin typeface="Calibri"/>
              </a:rPr>
              <a:t>lỗi</a:t>
            </a:r>
          </a:p>
        </p:txBody>
      </p:sp>
      <p:sp>
        <p:nvSpPr>
          <p:cNvPr id="20" name="Rounded Rectangle 19"/>
          <p:cNvSpPr/>
          <p:nvPr/>
        </p:nvSpPr>
        <p:spPr>
          <a:xfrm>
            <a:off x="777240" y="3474720"/>
            <a:ext cx="1051560" cy="777240"/>
          </a:xfrm>
          <a:prstGeom prst="roundRect">
            <a:avLst>
              <a:gd name="adj" fmla="val 15000"/>
            </a:avLst>
          </a:prstGeom>
          <a:solidFill>
            <a:srgbClr val="FAF8F5"/>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315968"/>
            <a:ext cx="1097280" cy="502920"/>
          </a:xfrm>
          <a:prstGeom prst="rect">
            <a:avLst/>
          </a:prstGeom>
          <a:noFill/>
        </p:spPr>
        <p:txBody>
          <a:bodyPr wrap="square" lIns="0" rIns="0" tIns="0" bIns="0" anchor="t">
            <a:spAutoFit/>
          </a:bodyPr>
          <a:lstStyle/>
          <a:p>
            <a:pPr algn="l">
              <a:spcAft>
                <a:spcPts val="0"/>
              </a:spcAft>
            </a:pPr>
            <a:r>
              <a:rPr sz="1100" b="1">
                <a:solidFill>
                  <a:srgbClr val="622B14"/>
                </a:solidFill>
                <a:latin typeface="Calibri"/>
              </a:rPr>
              <a:t>#FAF8F5</a:t>
            </a:r>
          </a:p>
          <a:p>
            <a:pPr algn="l">
              <a:spcAft>
                <a:spcPts val="0"/>
              </a:spcAft>
            </a:pPr>
            <a:r>
              <a:rPr sz="1000" b="0">
                <a:solidFill>
                  <a:srgbClr val="6B5F55"/>
                </a:solidFill>
                <a:latin typeface="Calibri"/>
              </a:rPr>
              <a:t>nền</a:t>
            </a:r>
          </a:p>
        </p:txBody>
      </p:sp>
      <p:sp>
        <p:nvSpPr>
          <p:cNvPr id="22" name="Rounded Rectangle 21"/>
          <p:cNvSpPr/>
          <p:nvPr/>
        </p:nvSpPr>
        <p:spPr>
          <a:xfrm>
            <a:off x="1965960" y="3474720"/>
            <a:ext cx="1051560" cy="777240"/>
          </a:xfrm>
          <a:prstGeom prst="roundRect">
            <a:avLst>
              <a:gd name="adj" fmla="val 15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965960" y="4315968"/>
            <a:ext cx="1097280" cy="502920"/>
          </a:xfrm>
          <a:prstGeom prst="rect">
            <a:avLst/>
          </a:prstGeom>
          <a:noFill/>
        </p:spPr>
        <p:txBody>
          <a:bodyPr wrap="square" lIns="0" rIns="0" tIns="0" bIns="0" anchor="t">
            <a:spAutoFit/>
          </a:bodyPr>
          <a:lstStyle/>
          <a:p>
            <a:pPr algn="l">
              <a:spcAft>
                <a:spcPts val="0"/>
              </a:spcAft>
            </a:pPr>
            <a:r>
              <a:rPr sz="1100" b="1">
                <a:solidFill>
                  <a:srgbClr val="622B14"/>
                </a:solidFill>
                <a:latin typeface="Calibri"/>
              </a:rPr>
              <a:t>#FFFFFF</a:t>
            </a:r>
          </a:p>
          <a:p>
            <a:pPr algn="l">
              <a:spcAft>
                <a:spcPts val="0"/>
              </a:spcAft>
            </a:pPr>
            <a:r>
              <a:rPr sz="1000" b="0">
                <a:solidFill>
                  <a:srgbClr val="6B5F55"/>
                </a:solidFill>
                <a:latin typeface="Calibri"/>
              </a:rPr>
              <a:t>thẻ</a:t>
            </a:r>
          </a:p>
        </p:txBody>
      </p:sp>
      <p:sp>
        <p:nvSpPr>
          <p:cNvPr id="24" name="Rounded Rectangle 23"/>
          <p:cNvSpPr/>
          <p:nvPr/>
        </p:nvSpPr>
        <p:spPr>
          <a:xfrm>
            <a:off x="3154680" y="3474720"/>
            <a:ext cx="1051560" cy="777240"/>
          </a:xfrm>
          <a:prstGeom prst="roundRect">
            <a:avLst>
              <a:gd name="adj" fmla="val 15000"/>
            </a:avLst>
          </a:prstGeom>
          <a:solidFill>
            <a:srgbClr val="E4DFD8"/>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54680" y="4315968"/>
            <a:ext cx="1097280" cy="502920"/>
          </a:xfrm>
          <a:prstGeom prst="rect">
            <a:avLst/>
          </a:prstGeom>
          <a:noFill/>
        </p:spPr>
        <p:txBody>
          <a:bodyPr wrap="square" lIns="0" rIns="0" tIns="0" bIns="0" anchor="t">
            <a:spAutoFit/>
          </a:bodyPr>
          <a:lstStyle/>
          <a:p>
            <a:pPr algn="l">
              <a:spcAft>
                <a:spcPts val="0"/>
              </a:spcAft>
            </a:pPr>
            <a:r>
              <a:rPr sz="1100" b="1">
                <a:solidFill>
                  <a:srgbClr val="622B14"/>
                </a:solidFill>
                <a:latin typeface="Calibri"/>
              </a:rPr>
              <a:t>#E4DFD8</a:t>
            </a:r>
          </a:p>
          <a:p>
            <a:pPr algn="l">
              <a:spcAft>
                <a:spcPts val="0"/>
              </a:spcAft>
            </a:pPr>
            <a:r>
              <a:rPr sz="1000" b="0">
                <a:solidFill>
                  <a:srgbClr val="6B5F55"/>
                </a:solidFill>
                <a:latin typeface="Calibri"/>
              </a:rPr>
              <a:t>viền</a:t>
            </a:r>
          </a:p>
        </p:txBody>
      </p:sp>
      <p:sp>
        <p:nvSpPr>
          <p:cNvPr id="26" name="Rounded Rectangle 25"/>
          <p:cNvSpPr/>
          <p:nvPr/>
        </p:nvSpPr>
        <p:spPr>
          <a:xfrm>
            <a:off x="4343400" y="3474720"/>
            <a:ext cx="1051560" cy="777240"/>
          </a:xfrm>
          <a:prstGeom prst="roundRect">
            <a:avLst>
              <a:gd name="adj" fmla="val 15000"/>
            </a:avLst>
          </a:prstGeom>
          <a:solidFill>
            <a:srgbClr val="FFF1DE"/>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43400" y="4315968"/>
            <a:ext cx="1097280" cy="502920"/>
          </a:xfrm>
          <a:prstGeom prst="rect">
            <a:avLst/>
          </a:prstGeom>
          <a:noFill/>
        </p:spPr>
        <p:txBody>
          <a:bodyPr wrap="square" lIns="0" rIns="0" tIns="0" bIns="0" anchor="t">
            <a:spAutoFit/>
          </a:bodyPr>
          <a:lstStyle/>
          <a:p>
            <a:pPr algn="l">
              <a:spcAft>
                <a:spcPts val="0"/>
              </a:spcAft>
            </a:pPr>
            <a:r>
              <a:rPr sz="1100" b="1">
                <a:solidFill>
                  <a:srgbClr val="622B14"/>
                </a:solidFill>
                <a:latin typeface="Calibri"/>
              </a:rPr>
              <a:t>#FFF1DE</a:t>
            </a:r>
          </a:p>
          <a:p>
            <a:pPr algn="l">
              <a:spcAft>
                <a:spcPts val="0"/>
              </a:spcAft>
            </a:pPr>
            <a:r>
              <a:rPr sz="1000" b="0">
                <a:solidFill>
                  <a:srgbClr val="6B5F55"/>
                </a:solidFill>
                <a:latin typeface="Calibri"/>
              </a:rPr>
              <a:t>đang chọn</a:t>
            </a:r>
          </a:p>
        </p:txBody>
      </p:sp>
      <p:sp>
        <p:nvSpPr>
          <p:cNvPr id="28" name="Rounded Rectangle 27"/>
          <p:cNvSpPr/>
          <p:nvPr/>
        </p:nvSpPr>
        <p:spPr>
          <a:xfrm>
            <a:off x="5532120" y="3474720"/>
            <a:ext cx="1051560" cy="777240"/>
          </a:xfrm>
          <a:prstGeom prst="roundRect">
            <a:avLst>
              <a:gd name="adj" fmla="val 15000"/>
            </a:avLst>
          </a:prstGeom>
          <a:solidFill>
            <a:srgbClr val="6B5F55"/>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532120" y="4315968"/>
            <a:ext cx="1097280" cy="502920"/>
          </a:xfrm>
          <a:prstGeom prst="rect">
            <a:avLst/>
          </a:prstGeom>
          <a:noFill/>
        </p:spPr>
        <p:txBody>
          <a:bodyPr wrap="square" lIns="0" rIns="0" tIns="0" bIns="0" anchor="t">
            <a:spAutoFit/>
          </a:bodyPr>
          <a:lstStyle/>
          <a:p>
            <a:pPr algn="l">
              <a:spcAft>
                <a:spcPts val="0"/>
              </a:spcAft>
            </a:pPr>
            <a:r>
              <a:rPr sz="1100" b="1">
                <a:solidFill>
                  <a:srgbClr val="622B14"/>
                </a:solidFill>
                <a:latin typeface="Calibri"/>
              </a:rPr>
              <a:t>#6B5F55</a:t>
            </a:r>
          </a:p>
          <a:p>
            <a:pPr algn="l">
              <a:spcAft>
                <a:spcPts val="0"/>
              </a:spcAft>
            </a:pPr>
            <a:r>
              <a:rPr sz="1000" b="0">
                <a:solidFill>
                  <a:srgbClr val="6B5F55"/>
                </a:solidFill>
                <a:latin typeface="Calibri"/>
              </a:rPr>
              <a:t>chữ phụ</a:t>
            </a:r>
          </a:p>
        </p:txBody>
      </p:sp>
      <p:sp>
        <p:nvSpPr>
          <p:cNvPr id="30" name="TextBox 29"/>
          <p:cNvSpPr txBox="1"/>
          <p:nvPr/>
        </p:nvSpPr>
        <p:spPr>
          <a:xfrm>
            <a:off x="777240" y="5074920"/>
            <a:ext cx="6126480" cy="1005840"/>
          </a:xfrm>
          <a:prstGeom prst="rect">
            <a:avLst/>
          </a:prstGeom>
          <a:noFill/>
        </p:spPr>
        <p:txBody>
          <a:bodyPr wrap="square" lIns="0" rIns="0" tIns="0" bIns="0" anchor="t">
            <a:spAutoFit/>
          </a:bodyPr>
          <a:lstStyle/>
          <a:p>
            <a:pPr algn="l">
              <a:spcAft>
                <a:spcPts val="300"/>
              </a:spcAft>
            </a:pPr>
            <a:r>
              <a:rPr sz="1200" b="0">
                <a:solidFill>
                  <a:srgbClr val="6B5F55"/>
                </a:solidFill>
                <a:latin typeface="Calibri"/>
              </a:rPr>
              <a:t>Cam chỉ cho một nút chính mỗi màn và trạng thái đang chọn. Nền và thẻ là các tông trung tính ấm.</a:t>
            </a:r>
          </a:p>
        </p:txBody>
      </p:sp>
      <p:sp>
        <p:nvSpPr>
          <p:cNvPr id="31" name="Rounded Rectangle 30"/>
          <p:cNvSpPr/>
          <p:nvPr/>
        </p:nvSpPr>
        <p:spPr>
          <a:xfrm>
            <a:off x="7360920" y="1463040"/>
            <a:ext cx="4297680" cy="4754880"/>
          </a:xfrm>
          <a:prstGeom prst="roundRect">
            <a:avLst>
              <a:gd name="adj" fmla="val 4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589520" y="1600200"/>
            <a:ext cx="3840480" cy="2194560"/>
          </a:xfrm>
          <a:prstGeom prst="rect">
            <a:avLst/>
          </a:prstGeom>
          <a:noFill/>
        </p:spPr>
        <p:txBody>
          <a:bodyPr wrap="square" lIns="0" rIns="0" tIns="0" bIns="0" anchor="t">
            <a:spAutoFit/>
          </a:bodyPr>
          <a:lstStyle/>
          <a:p>
            <a:pPr algn="l">
              <a:spcAft>
                <a:spcPts val="500"/>
              </a:spcAft>
            </a:pPr>
            <a:r>
              <a:rPr sz="1100" b="1">
                <a:solidFill>
                  <a:srgbClr val="6B5F55"/>
                </a:solidFill>
                <a:latin typeface="Calibri"/>
              </a:rPr>
              <a:t>CHỮ · Nunito</a:t>
            </a:r>
          </a:p>
          <a:p>
            <a:pPr algn="l">
              <a:spcAft>
                <a:spcPts val="500"/>
              </a:spcAft>
            </a:pPr>
            <a:r>
              <a:rPr sz="1700" b="1">
                <a:solidFill>
                  <a:srgbClr val="622B14"/>
                </a:solidFill>
                <a:latin typeface="Trebuchet MS"/>
              </a:rPr>
              <a:t>Display 24 sp · Bold</a:t>
            </a:r>
          </a:p>
          <a:p>
            <a:pPr algn="l">
              <a:spcAft>
                <a:spcPts val="500"/>
              </a:spcAft>
            </a:pPr>
            <a:r>
              <a:rPr sz="1500" b="1">
                <a:solidFill>
                  <a:srgbClr val="622B14"/>
                </a:solidFill>
                <a:latin typeface="Trebuchet MS"/>
              </a:rPr>
              <a:t>Headline 20 sp · Bold</a:t>
            </a:r>
          </a:p>
          <a:p>
            <a:pPr algn="l">
              <a:spcAft>
                <a:spcPts val="500"/>
              </a:spcAft>
            </a:pPr>
            <a:r>
              <a:rPr sz="1300" b="1">
                <a:solidFill>
                  <a:srgbClr val="622B14"/>
                </a:solidFill>
                <a:latin typeface="Calibri"/>
              </a:rPr>
              <a:t>Title 16 sp · SemiBold</a:t>
            </a:r>
          </a:p>
          <a:p>
            <a:pPr algn="l">
              <a:spcAft>
                <a:spcPts val="500"/>
              </a:spcAft>
            </a:pPr>
            <a:r>
              <a:rPr sz="1200" b="0">
                <a:solidFill>
                  <a:srgbClr val="622B14"/>
                </a:solidFill>
                <a:latin typeface="Calibri"/>
              </a:rPr>
              <a:t>Body 14 sp · Regular</a:t>
            </a:r>
          </a:p>
          <a:p>
            <a:pPr algn="l">
              <a:spcAft>
                <a:spcPts val="500"/>
              </a:spcAft>
            </a:pPr>
            <a:r>
              <a:rPr sz="1100" b="0">
                <a:solidFill>
                  <a:srgbClr val="6B5F55"/>
                </a:solidFill>
                <a:latin typeface="Calibri"/>
              </a:rPr>
              <a:t>Lưới 4 dp · lề 16 dp · bo góc 8, 12, 16, 24</a:t>
            </a:r>
          </a:p>
        </p:txBody>
      </p:sp>
      <p:sp>
        <p:nvSpPr>
          <p:cNvPr id="33" name="TextBox 32"/>
          <p:cNvSpPr txBox="1"/>
          <p:nvPr/>
        </p:nvSpPr>
        <p:spPr>
          <a:xfrm>
            <a:off x="7589520" y="3840480"/>
            <a:ext cx="3840480" cy="274320"/>
          </a:xfrm>
          <a:prstGeom prst="rect">
            <a:avLst/>
          </a:prstGeom>
          <a:noFill/>
        </p:spPr>
        <p:txBody>
          <a:bodyPr wrap="square" lIns="0" rIns="0" tIns="0" bIns="0" anchor="t">
            <a:spAutoFit/>
          </a:bodyPr>
          <a:lstStyle/>
          <a:p>
            <a:pPr algn="l">
              <a:spcAft>
                <a:spcPts val="300"/>
              </a:spcAft>
            </a:pPr>
            <a:r>
              <a:rPr sz="1100" b="1">
                <a:solidFill>
                  <a:srgbClr val="6B5F55"/>
                </a:solidFill>
                <a:latin typeface="Calibri"/>
              </a:rPr>
              <a:t>ICON · 27 icon vector một nét</a:t>
            </a:r>
          </a:p>
        </p:txBody>
      </p:sp>
      <p:pic>
        <p:nvPicPr>
          <p:cNvPr id="34" name="Picture 33" descr="image.png"/>
          <p:cNvPicPr>
            <a:picLocks noChangeAspect="1"/>
          </p:cNvPicPr>
          <p:nvPr/>
        </p:nvPicPr>
        <p:blipFill>
          <a:blip r:embed="rId3"/>
          <a:stretch>
            <a:fillRect/>
          </a:stretch>
        </p:blipFill>
        <p:spPr>
          <a:xfrm>
            <a:off x="7589520" y="4206240"/>
            <a:ext cx="502920" cy="502920"/>
          </a:xfrm>
          <a:prstGeom prst="rect">
            <a:avLst/>
          </a:prstGeom>
        </p:spPr>
      </p:pic>
      <p:pic>
        <p:nvPicPr>
          <p:cNvPr id="35" name="Picture 34" descr="image.png"/>
          <p:cNvPicPr>
            <a:picLocks noChangeAspect="1"/>
          </p:cNvPicPr>
          <p:nvPr/>
        </p:nvPicPr>
        <p:blipFill>
          <a:blip r:embed="rId4"/>
          <a:stretch>
            <a:fillRect/>
          </a:stretch>
        </p:blipFill>
        <p:spPr>
          <a:xfrm>
            <a:off x="8211312" y="4206240"/>
            <a:ext cx="502920" cy="502920"/>
          </a:xfrm>
          <a:prstGeom prst="rect">
            <a:avLst/>
          </a:prstGeom>
        </p:spPr>
      </p:pic>
      <p:pic>
        <p:nvPicPr>
          <p:cNvPr id="36" name="Picture 35" descr="image.png"/>
          <p:cNvPicPr>
            <a:picLocks noChangeAspect="1"/>
          </p:cNvPicPr>
          <p:nvPr/>
        </p:nvPicPr>
        <p:blipFill>
          <a:blip r:embed="rId5"/>
          <a:stretch>
            <a:fillRect/>
          </a:stretch>
        </p:blipFill>
        <p:spPr>
          <a:xfrm>
            <a:off x="8833104" y="4206240"/>
            <a:ext cx="502920" cy="502920"/>
          </a:xfrm>
          <a:prstGeom prst="rect">
            <a:avLst/>
          </a:prstGeom>
        </p:spPr>
      </p:pic>
      <p:pic>
        <p:nvPicPr>
          <p:cNvPr id="37" name="Picture 36" descr="image.png"/>
          <p:cNvPicPr>
            <a:picLocks noChangeAspect="1"/>
          </p:cNvPicPr>
          <p:nvPr/>
        </p:nvPicPr>
        <p:blipFill>
          <a:blip r:embed="rId6"/>
          <a:stretch>
            <a:fillRect/>
          </a:stretch>
        </p:blipFill>
        <p:spPr>
          <a:xfrm>
            <a:off x="9454896" y="4206240"/>
            <a:ext cx="502920" cy="502920"/>
          </a:xfrm>
          <a:prstGeom prst="rect">
            <a:avLst/>
          </a:prstGeom>
        </p:spPr>
      </p:pic>
      <p:pic>
        <p:nvPicPr>
          <p:cNvPr id="38" name="Picture 37" descr="image.png"/>
          <p:cNvPicPr>
            <a:picLocks noChangeAspect="1"/>
          </p:cNvPicPr>
          <p:nvPr/>
        </p:nvPicPr>
        <p:blipFill>
          <a:blip r:embed="rId7"/>
          <a:stretch>
            <a:fillRect/>
          </a:stretch>
        </p:blipFill>
        <p:spPr>
          <a:xfrm>
            <a:off x="10076688" y="4206240"/>
            <a:ext cx="502920" cy="502920"/>
          </a:xfrm>
          <a:prstGeom prst="rect">
            <a:avLst/>
          </a:prstGeom>
        </p:spPr>
      </p:pic>
      <p:pic>
        <p:nvPicPr>
          <p:cNvPr id="39" name="Picture 38" descr="image.png"/>
          <p:cNvPicPr>
            <a:picLocks noChangeAspect="1"/>
          </p:cNvPicPr>
          <p:nvPr/>
        </p:nvPicPr>
        <p:blipFill>
          <a:blip r:embed="rId8"/>
          <a:stretch>
            <a:fillRect/>
          </a:stretch>
        </p:blipFill>
        <p:spPr>
          <a:xfrm>
            <a:off x="10698480" y="4206240"/>
            <a:ext cx="502920" cy="502920"/>
          </a:xfrm>
          <a:prstGeom prst="rect">
            <a:avLst/>
          </a:prstGeom>
        </p:spPr>
      </p:pic>
      <p:sp>
        <p:nvSpPr>
          <p:cNvPr id="40" name="TextBox 39"/>
          <p:cNvSpPr txBox="1"/>
          <p:nvPr/>
        </p:nvSpPr>
        <p:spPr>
          <a:xfrm>
            <a:off x="7589520" y="4937760"/>
            <a:ext cx="3840480" cy="1188720"/>
          </a:xfrm>
          <a:prstGeom prst="rect">
            <a:avLst/>
          </a:prstGeom>
          <a:noFill/>
        </p:spPr>
        <p:txBody>
          <a:bodyPr wrap="square" lIns="0" rIns="0" tIns="0" bIns="0" anchor="t">
            <a:spAutoFit/>
          </a:bodyPr>
          <a:lstStyle/>
          <a:p>
            <a:pPr algn="l">
              <a:spcAft>
                <a:spcPts val="300"/>
              </a:spcAft>
            </a:pPr>
            <a:r>
              <a:rPr sz="1200" b="0">
                <a:solidFill>
                  <a:srgbClr val="6B5F55"/>
                </a:solidFill>
                <a:latin typeface="Calibri"/>
              </a:rPr>
              <a:t>Component: Chip, NavBar, Card/Food, IconButton, Button, Dialog, có variant theo trạng thái.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8F5"/>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548640" y="384048"/>
            <a:ext cx="566928" cy="566928"/>
          </a:xfrm>
          <a:prstGeom prst="rect">
            <a:avLst/>
          </a:prstGeom>
        </p:spPr>
      </p:pic>
      <p:sp>
        <p:nvSpPr>
          <p:cNvPr id="3" name="TextBox 2"/>
          <p:cNvSpPr txBox="1"/>
          <p:nvPr/>
        </p:nvSpPr>
        <p:spPr>
          <a:xfrm>
            <a:off x="1280160" y="329184"/>
            <a:ext cx="10241280" cy="548640"/>
          </a:xfrm>
          <a:prstGeom prst="rect">
            <a:avLst/>
          </a:prstGeom>
          <a:noFill/>
        </p:spPr>
        <p:txBody>
          <a:bodyPr wrap="square" lIns="0" rIns="0" tIns="0" bIns="0" anchor="ctr">
            <a:spAutoFit/>
          </a:bodyPr>
          <a:lstStyle/>
          <a:p>
            <a:pPr algn="l">
              <a:spcAft>
                <a:spcPts val="300"/>
              </a:spcAft>
            </a:pPr>
            <a:r>
              <a:rPr sz="2800" b="1">
                <a:solidFill>
                  <a:srgbClr val="622B14"/>
                </a:solidFill>
                <a:latin typeface="Trebuchet MS"/>
              </a:rPr>
              <a:t>Accessibility và responsive</a:t>
            </a:r>
          </a:p>
        </p:txBody>
      </p:sp>
      <p:sp>
        <p:nvSpPr>
          <p:cNvPr id="4" name="TextBox 3"/>
          <p:cNvSpPr txBox="1"/>
          <p:nvPr/>
        </p:nvSpPr>
        <p:spPr>
          <a:xfrm>
            <a:off x="1280160" y="868680"/>
            <a:ext cx="10241280" cy="320040"/>
          </a:xfrm>
          <a:prstGeom prst="rect">
            <a:avLst/>
          </a:prstGeom>
          <a:noFill/>
        </p:spPr>
        <p:txBody>
          <a:bodyPr wrap="square" lIns="0" rIns="0" tIns="0" bIns="0" anchor="t">
            <a:spAutoFit/>
          </a:bodyPr>
          <a:lstStyle/>
          <a:p>
            <a:pPr algn="l">
              <a:spcAft>
                <a:spcPts val="300"/>
              </a:spcAft>
            </a:pPr>
            <a:r>
              <a:rPr sz="1400" b="0">
                <a:solidFill>
                  <a:srgbClr val="6B5F55"/>
                </a:solidFill>
                <a:latin typeface="Calibri"/>
              </a:rPr>
              <a:t>Đo bằng công cụ, không ước lượng bằng mắt</a:t>
            </a:r>
          </a:p>
        </p:txBody>
      </p:sp>
      <p:sp>
        <p:nvSpPr>
          <p:cNvPr id="5" name="Rounded Rectangle 4"/>
          <p:cNvSpPr/>
          <p:nvPr/>
        </p:nvSpPr>
        <p:spPr>
          <a:xfrm>
            <a:off x="1280160" y="1207008"/>
            <a:ext cx="822960" cy="45720"/>
          </a:xfrm>
          <a:prstGeom prst="roundRect">
            <a:avLst>
              <a:gd name="adj" fmla="val 50000"/>
            </a:avLst>
          </a:prstGeom>
          <a:solidFill>
            <a:srgbClr val="F69D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28232"/>
            <a:ext cx="8686800" cy="228600"/>
          </a:xfrm>
          <a:prstGeom prst="rect">
            <a:avLst/>
          </a:prstGeom>
          <a:noFill/>
        </p:spPr>
        <p:txBody>
          <a:bodyPr wrap="square" lIns="0" rIns="0" tIns="0" bIns="0" anchor="t">
            <a:spAutoFit/>
          </a:bodyPr>
          <a:lstStyle/>
          <a:p>
            <a:pPr algn="l">
              <a:spcAft>
                <a:spcPts val="300"/>
              </a:spcAft>
            </a:pPr>
            <a:r>
              <a:rPr sz="1000" b="0">
                <a:solidFill>
                  <a:srgbClr val="6B5F55"/>
                </a:solidFill>
                <a:latin typeface="Calibri"/>
              </a:rPr>
              <a:t>Minh chứng: design/design-decisions.md · tests/audit/ · Figma Page 03</a:t>
            </a:r>
          </a:p>
        </p:txBody>
      </p:sp>
      <p:sp>
        <p:nvSpPr>
          <p:cNvPr id="7" name="TextBox 6"/>
          <p:cNvSpPr txBox="1"/>
          <p:nvPr/>
        </p:nvSpPr>
        <p:spPr>
          <a:xfrm>
            <a:off x="9692640" y="6428232"/>
            <a:ext cx="1920240" cy="228600"/>
          </a:xfrm>
          <a:prstGeom prst="rect">
            <a:avLst/>
          </a:prstGeom>
          <a:noFill/>
        </p:spPr>
        <p:txBody>
          <a:bodyPr wrap="square" lIns="0" rIns="0" tIns="0" bIns="0" anchor="t">
            <a:spAutoFit/>
          </a:bodyPr>
          <a:lstStyle/>
          <a:p>
            <a:pPr algn="r">
              <a:spcAft>
                <a:spcPts val="300"/>
              </a:spcAft>
            </a:pPr>
            <a:r>
              <a:rPr sz="1000" b="0">
                <a:solidFill>
                  <a:srgbClr val="6B5F55"/>
                </a:solidFill>
                <a:latin typeface="Calibri"/>
              </a:rPr>
              <a:t>BreakBite · 13 / 16</a:t>
            </a:r>
          </a:p>
        </p:txBody>
      </p:sp>
      <p:sp>
        <p:nvSpPr>
          <p:cNvPr id="8" name="Rounded Rectangle 7"/>
          <p:cNvSpPr/>
          <p:nvPr/>
        </p:nvSpPr>
        <p:spPr>
          <a:xfrm>
            <a:off x="548640" y="1463040"/>
            <a:ext cx="2697480" cy="1600200"/>
          </a:xfrm>
          <a:prstGeom prst="roundRect">
            <a:avLst>
              <a:gd name="adj" fmla="val 4000"/>
            </a:avLst>
          </a:prstGeom>
          <a:solidFill>
            <a:srgbClr val="FFF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554480"/>
            <a:ext cx="2286000" cy="640080"/>
          </a:xfrm>
          <a:prstGeom prst="rect">
            <a:avLst/>
          </a:prstGeom>
          <a:noFill/>
        </p:spPr>
        <p:txBody>
          <a:bodyPr wrap="square" lIns="0" rIns="0" tIns="0" bIns="0" anchor="t">
            <a:spAutoFit/>
          </a:bodyPr>
          <a:lstStyle/>
          <a:p>
            <a:pPr algn="l">
              <a:spcAft>
                <a:spcPts val="300"/>
              </a:spcAft>
            </a:pPr>
            <a:r>
              <a:rPr sz="2800" b="1">
                <a:solidFill>
                  <a:srgbClr val="B45309"/>
                </a:solidFill>
                <a:latin typeface="Trebuchet MS"/>
              </a:rPr>
              <a:t>5,23:1</a:t>
            </a:r>
          </a:p>
        </p:txBody>
      </p:sp>
      <p:sp>
        <p:nvSpPr>
          <p:cNvPr id="10" name="TextBox 9"/>
          <p:cNvSpPr txBox="1"/>
          <p:nvPr/>
        </p:nvSpPr>
        <p:spPr>
          <a:xfrm>
            <a:off x="777240" y="2286000"/>
            <a:ext cx="2286000" cy="731520"/>
          </a:xfrm>
          <a:prstGeom prst="rect">
            <a:avLst/>
          </a:prstGeom>
          <a:noFill/>
        </p:spPr>
        <p:txBody>
          <a:bodyPr wrap="square" lIns="0" rIns="0" tIns="0" bIns="0" anchor="t">
            <a:spAutoFit/>
          </a:bodyPr>
          <a:lstStyle/>
          <a:p>
            <a:pPr algn="l">
              <a:spcAft>
                <a:spcPts val="100"/>
              </a:spcAft>
            </a:pPr>
            <a:r>
              <a:rPr sz="1300" b="1">
                <a:solidFill>
                  <a:srgbClr val="622B14"/>
                </a:solidFill>
                <a:latin typeface="Calibri"/>
              </a:rPr>
              <a:t>chữ nút nâu trên cam</a:t>
            </a:r>
          </a:p>
          <a:p>
            <a:pPr algn="l">
              <a:spcAft>
                <a:spcPts val="100"/>
              </a:spcAft>
            </a:pPr>
            <a:r>
              <a:rPr sz="1100" b="0">
                <a:solidFill>
                  <a:srgbClr val="6B5F55"/>
                </a:solidFill>
                <a:latin typeface="Calibri"/>
              </a:rPr>
              <a:t>ngưỡng WCAG 4,5:1</a:t>
            </a:r>
          </a:p>
        </p:txBody>
      </p:sp>
      <p:sp>
        <p:nvSpPr>
          <p:cNvPr id="11" name="Rounded Rectangle 10"/>
          <p:cNvSpPr/>
          <p:nvPr/>
        </p:nvSpPr>
        <p:spPr>
          <a:xfrm>
            <a:off x="3355848" y="1463040"/>
            <a:ext cx="2697480" cy="1600200"/>
          </a:xfrm>
          <a:prstGeom prst="roundRect">
            <a:avLst>
              <a:gd name="adj" fmla="val 4000"/>
            </a:avLst>
          </a:prstGeom>
          <a:solidFill>
            <a:srgbClr val="FFF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84448" y="1554480"/>
            <a:ext cx="2286000" cy="640080"/>
          </a:xfrm>
          <a:prstGeom prst="rect">
            <a:avLst/>
          </a:prstGeom>
          <a:noFill/>
        </p:spPr>
        <p:txBody>
          <a:bodyPr wrap="square" lIns="0" rIns="0" tIns="0" bIns="0" anchor="t">
            <a:spAutoFit/>
          </a:bodyPr>
          <a:lstStyle/>
          <a:p>
            <a:pPr algn="l">
              <a:spcAft>
                <a:spcPts val="300"/>
              </a:spcAft>
            </a:pPr>
            <a:r>
              <a:rPr sz="2800" b="1">
                <a:solidFill>
                  <a:srgbClr val="B45309"/>
                </a:solidFill>
                <a:latin typeface="Trebuchet MS"/>
              </a:rPr>
              <a:t>48 dp</a:t>
            </a:r>
          </a:p>
        </p:txBody>
      </p:sp>
      <p:sp>
        <p:nvSpPr>
          <p:cNvPr id="13" name="TextBox 12"/>
          <p:cNvSpPr txBox="1"/>
          <p:nvPr/>
        </p:nvSpPr>
        <p:spPr>
          <a:xfrm>
            <a:off x="3584448" y="2286000"/>
            <a:ext cx="2286000" cy="731520"/>
          </a:xfrm>
          <a:prstGeom prst="rect">
            <a:avLst/>
          </a:prstGeom>
          <a:noFill/>
        </p:spPr>
        <p:txBody>
          <a:bodyPr wrap="square" lIns="0" rIns="0" tIns="0" bIns="0" anchor="t">
            <a:spAutoFit/>
          </a:bodyPr>
          <a:lstStyle/>
          <a:p>
            <a:pPr algn="l">
              <a:spcAft>
                <a:spcPts val="100"/>
              </a:spcAft>
            </a:pPr>
            <a:r>
              <a:rPr sz="1300" b="1">
                <a:solidFill>
                  <a:srgbClr val="622B14"/>
                </a:solidFill>
                <a:latin typeface="Calibri"/>
              </a:rPr>
              <a:t>vùng bấm nhỏ nhất</a:t>
            </a:r>
          </a:p>
          <a:p>
            <a:pPr algn="l">
              <a:spcAft>
                <a:spcPts val="100"/>
              </a:spcAft>
            </a:pPr>
            <a:r>
              <a:rPr sz="1100" b="0">
                <a:solidFill>
                  <a:srgbClr val="6B5F55"/>
                </a:solidFill>
                <a:latin typeface="Calibri"/>
              </a:rPr>
              <a:t>0 / 217 vùng dưới 48 dp</a:t>
            </a:r>
          </a:p>
        </p:txBody>
      </p:sp>
      <p:sp>
        <p:nvSpPr>
          <p:cNvPr id="14" name="Rounded Rectangle 13"/>
          <p:cNvSpPr/>
          <p:nvPr/>
        </p:nvSpPr>
        <p:spPr>
          <a:xfrm>
            <a:off x="6163055" y="1463040"/>
            <a:ext cx="2697480" cy="1600200"/>
          </a:xfrm>
          <a:prstGeom prst="roundRect">
            <a:avLst>
              <a:gd name="adj" fmla="val 4000"/>
            </a:avLst>
          </a:prstGeom>
          <a:solidFill>
            <a:srgbClr val="FFF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91655" y="1554480"/>
            <a:ext cx="2286000" cy="640080"/>
          </a:xfrm>
          <a:prstGeom prst="rect">
            <a:avLst/>
          </a:prstGeom>
          <a:noFill/>
        </p:spPr>
        <p:txBody>
          <a:bodyPr wrap="square" lIns="0" rIns="0" tIns="0" bIns="0" anchor="t">
            <a:spAutoFit/>
          </a:bodyPr>
          <a:lstStyle/>
          <a:p>
            <a:pPr algn="l">
              <a:spcAft>
                <a:spcPts val="300"/>
              </a:spcAft>
            </a:pPr>
            <a:r>
              <a:rPr sz="2800" b="1">
                <a:solidFill>
                  <a:srgbClr val="B45309"/>
                </a:solidFill>
                <a:latin typeface="Trebuchet MS"/>
              </a:rPr>
              <a:t>14 sp</a:t>
            </a:r>
          </a:p>
        </p:txBody>
      </p:sp>
      <p:sp>
        <p:nvSpPr>
          <p:cNvPr id="16" name="TextBox 15"/>
          <p:cNvSpPr txBox="1"/>
          <p:nvPr/>
        </p:nvSpPr>
        <p:spPr>
          <a:xfrm>
            <a:off x="6391655" y="2286000"/>
            <a:ext cx="2286000" cy="731520"/>
          </a:xfrm>
          <a:prstGeom prst="rect">
            <a:avLst/>
          </a:prstGeom>
          <a:noFill/>
        </p:spPr>
        <p:txBody>
          <a:bodyPr wrap="square" lIns="0" rIns="0" tIns="0" bIns="0" anchor="t">
            <a:spAutoFit/>
          </a:bodyPr>
          <a:lstStyle/>
          <a:p>
            <a:pPr algn="l">
              <a:spcAft>
                <a:spcPts val="100"/>
              </a:spcAft>
            </a:pPr>
            <a:r>
              <a:rPr sz="1300" b="1">
                <a:solidFill>
                  <a:srgbClr val="622B14"/>
                </a:solidFill>
                <a:latin typeface="Calibri"/>
              </a:rPr>
              <a:t>chữ nội dung nhỏ nhất</a:t>
            </a:r>
          </a:p>
          <a:p>
            <a:pPr algn="l">
              <a:spcAft>
                <a:spcPts val="100"/>
              </a:spcAft>
            </a:pPr>
            <a:r>
              <a:rPr sz="1100" b="0">
                <a:solidFill>
                  <a:srgbClr val="6B5F55"/>
                </a:solidFill>
                <a:latin typeface="Calibri"/>
              </a:rPr>
              <a:t>nhãn thanh dưới 12 sp</a:t>
            </a:r>
          </a:p>
        </p:txBody>
      </p:sp>
      <p:sp>
        <p:nvSpPr>
          <p:cNvPr id="17" name="Rounded Rectangle 16"/>
          <p:cNvSpPr/>
          <p:nvPr/>
        </p:nvSpPr>
        <p:spPr>
          <a:xfrm>
            <a:off x="8970263" y="1463040"/>
            <a:ext cx="2697480" cy="1600200"/>
          </a:xfrm>
          <a:prstGeom prst="roundRect">
            <a:avLst>
              <a:gd name="adj" fmla="val 4000"/>
            </a:avLst>
          </a:prstGeom>
          <a:solidFill>
            <a:srgbClr val="FFF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98863" y="1554480"/>
            <a:ext cx="2286000" cy="640080"/>
          </a:xfrm>
          <a:prstGeom prst="rect">
            <a:avLst/>
          </a:prstGeom>
          <a:noFill/>
        </p:spPr>
        <p:txBody>
          <a:bodyPr wrap="square" lIns="0" rIns="0" tIns="0" bIns="0" anchor="t">
            <a:spAutoFit/>
          </a:bodyPr>
          <a:lstStyle/>
          <a:p>
            <a:pPr algn="l">
              <a:spcAft>
                <a:spcPts val="300"/>
              </a:spcAft>
            </a:pPr>
            <a:r>
              <a:rPr sz="2800" b="1">
                <a:solidFill>
                  <a:srgbClr val="B45309"/>
                </a:solidFill>
                <a:latin typeface="Trebuchet MS"/>
              </a:rPr>
              <a:t>0</a:t>
            </a:r>
          </a:p>
        </p:txBody>
      </p:sp>
      <p:sp>
        <p:nvSpPr>
          <p:cNvPr id="19" name="TextBox 18"/>
          <p:cNvSpPr txBox="1"/>
          <p:nvPr/>
        </p:nvSpPr>
        <p:spPr>
          <a:xfrm>
            <a:off x="9198863" y="2286000"/>
            <a:ext cx="2286000" cy="731520"/>
          </a:xfrm>
          <a:prstGeom prst="rect">
            <a:avLst/>
          </a:prstGeom>
          <a:noFill/>
        </p:spPr>
        <p:txBody>
          <a:bodyPr wrap="square" lIns="0" rIns="0" tIns="0" bIns="0" anchor="t">
            <a:spAutoFit/>
          </a:bodyPr>
          <a:lstStyle/>
          <a:p>
            <a:pPr algn="l">
              <a:spcAft>
                <a:spcPts val="100"/>
              </a:spcAft>
            </a:pPr>
            <a:r>
              <a:rPr sz="1300" b="1">
                <a:solidFill>
                  <a:srgbClr val="622B14"/>
                </a:solidFill>
                <a:latin typeface="Calibri"/>
              </a:rPr>
              <a:t>emoji trong giao diện</a:t>
            </a:r>
          </a:p>
          <a:p>
            <a:pPr algn="l">
              <a:spcAft>
                <a:spcPts val="100"/>
              </a:spcAft>
            </a:pPr>
            <a:r>
              <a:rPr sz="1100" b="0">
                <a:solidFill>
                  <a:srgbClr val="6B5F55"/>
                </a:solidFill>
                <a:latin typeface="Calibri"/>
              </a:rPr>
              <a:t>một bộ 27 icon vector</a:t>
            </a:r>
          </a:p>
        </p:txBody>
      </p:sp>
      <p:sp>
        <p:nvSpPr>
          <p:cNvPr id="20" name="Rounded Rectangle 19"/>
          <p:cNvSpPr/>
          <p:nvPr/>
        </p:nvSpPr>
        <p:spPr>
          <a:xfrm>
            <a:off x="548640" y="3291840"/>
            <a:ext cx="6949440" cy="2971800"/>
          </a:xfrm>
          <a:prstGeom prst="roundRect">
            <a:avLst>
              <a:gd name="adj" fmla="val 4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3383280"/>
            <a:ext cx="6400800" cy="274320"/>
          </a:xfrm>
          <a:prstGeom prst="rect">
            <a:avLst/>
          </a:prstGeom>
          <a:noFill/>
        </p:spPr>
        <p:txBody>
          <a:bodyPr wrap="square" lIns="0" rIns="0" tIns="0" bIns="0" anchor="t">
            <a:spAutoFit/>
          </a:bodyPr>
          <a:lstStyle/>
          <a:p>
            <a:pPr algn="l">
              <a:spcAft>
                <a:spcPts val="300"/>
              </a:spcAft>
            </a:pPr>
            <a:r>
              <a:rPr sz="1100" b="1">
                <a:solidFill>
                  <a:srgbClr val="6B5F55"/>
                </a:solidFill>
                <a:latin typeface="Calibri"/>
              </a:rPr>
              <a:t>360 DP VÀ 412 DP</a:t>
            </a:r>
          </a:p>
        </p:txBody>
      </p:sp>
      <p:sp>
        <p:nvSpPr>
          <p:cNvPr id="22" name="Rounded Rectangle 21"/>
          <p:cNvSpPr/>
          <p:nvPr/>
        </p:nvSpPr>
        <p:spPr>
          <a:xfrm>
            <a:off x="822960" y="3749039"/>
            <a:ext cx="1028700" cy="2286000"/>
          </a:xfrm>
          <a:prstGeom prst="roundRect">
            <a:avLst>
              <a:gd name="adj" fmla="val 7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mage.png"/>
          <p:cNvPicPr>
            <a:picLocks noChangeAspect="1"/>
          </p:cNvPicPr>
          <p:nvPr/>
        </p:nvPicPr>
        <p:blipFill>
          <a:blip r:embed="rId3"/>
          <a:stretch>
            <a:fillRect/>
          </a:stretch>
        </p:blipFill>
        <p:spPr>
          <a:xfrm>
            <a:off x="822960" y="3749039"/>
            <a:ext cx="1028700" cy="2286000"/>
          </a:xfrm>
          <a:prstGeom prst="rect">
            <a:avLst/>
          </a:prstGeom>
        </p:spPr>
      </p:pic>
      <p:sp>
        <p:nvSpPr>
          <p:cNvPr id="24" name="Rounded Rectangle 23"/>
          <p:cNvSpPr/>
          <p:nvPr/>
        </p:nvSpPr>
        <p:spPr>
          <a:xfrm>
            <a:off x="2016252" y="3749039"/>
            <a:ext cx="1177290" cy="2286000"/>
          </a:xfrm>
          <a:prstGeom prst="roundRect">
            <a:avLst>
              <a:gd name="adj" fmla="val 7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mage.png"/>
          <p:cNvPicPr>
            <a:picLocks noChangeAspect="1"/>
          </p:cNvPicPr>
          <p:nvPr/>
        </p:nvPicPr>
        <p:blipFill>
          <a:blip r:embed="rId4"/>
          <a:stretch>
            <a:fillRect/>
          </a:stretch>
        </p:blipFill>
        <p:spPr>
          <a:xfrm>
            <a:off x="2016252" y="3749039"/>
            <a:ext cx="1177290" cy="2286000"/>
          </a:xfrm>
          <a:prstGeom prst="rect">
            <a:avLst/>
          </a:prstGeom>
        </p:spPr>
      </p:pic>
      <p:sp>
        <p:nvSpPr>
          <p:cNvPr id="26" name="Rounded Rectangle 25"/>
          <p:cNvSpPr/>
          <p:nvPr/>
        </p:nvSpPr>
        <p:spPr>
          <a:xfrm>
            <a:off x="3358134" y="3749039"/>
            <a:ext cx="1028700" cy="2286000"/>
          </a:xfrm>
          <a:prstGeom prst="roundRect">
            <a:avLst>
              <a:gd name="adj" fmla="val 7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image.png"/>
          <p:cNvPicPr>
            <a:picLocks noChangeAspect="1"/>
          </p:cNvPicPr>
          <p:nvPr/>
        </p:nvPicPr>
        <p:blipFill>
          <a:blip r:embed="rId5"/>
          <a:stretch>
            <a:fillRect/>
          </a:stretch>
        </p:blipFill>
        <p:spPr>
          <a:xfrm>
            <a:off x="3358134" y="3749039"/>
            <a:ext cx="1028700" cy="2286000"/>
          </a:xfrm>
          <a:prstGeom prst="rect">
            <a:avLst/>
          </a:prstGeom>
        </p:spPr>
      </p:pic>
      <p:sp>
        <p:nvSpPr>
          <p:cNvPr id="28" name="Rounded Rectangle 27"/>
          <p:cNvSpPr/>
          <p:nvPr/>
        </p:nvSpPr>
        <p:spPr>
          <a:xfrm>
            <a:off x="4551426" y="3749039"/>
            <a:ext cx="1177290" cy="2286000"/>
          </a:xfrm>
          <a:prstGeom prst="roundRect">
            <a:avLst>
              <a:gd name="adj" fmla="val 7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image.png"/>
          <p:cNvPicPr>
            <a:picLocks noChangeAspect="1"/>
          </p:cNvPicPr>
          <p:nvPr/>
        </p:nvPicPr>
        <p:blipFill>
          <a:blip r:embed="rId6"/>
          <a:stretch>
            <a:fillRect/>
          </a:stretch>
        </p:blipFill>
        <p:spPr>
          <a:xfrm>
            <a:off x="4551426" y="3749039"/>
            <a:ext cx="1177290" cy="2286000"/>
          </a:xfrm>
          <a:prstGeom prst="rect">
            <a:avLst/>
          </a:prstGeom>
        </p:spPr>
      </p:pic>
      <p:sp>
        <p:nvSpPr>
          <p:cNvPr id="30" name="TextBox 29"/>
          <p:cNvSpPr txBox="1"/>
          <p:nvPr/>
        </p:nvSpPr>
        <p:spPr>
          <a:xfrm>
            <a:off x="822960" y="6080760"/>
            <a:ext cx="6400800" cy="228600"/>
          </a:xfrm>
          <a:prstGeom prst="rect">
            <a:avLst/>
          </a:prstGeom>
          <a:noFill/>
        </p:spPr>
        <p:txBody>
          <a:bodyPr wrap="square" lIns="0" rIns="0" tIns="0" bIns="0" anchor="t">
            <a:spAutoFit/>
          </a:bodyPr>
          <a:lstStyle/>
          <a:p>
            <a:pPr algn="l">
              <a:spcAft>
                <a:spcPts val="300"/>
              </a:spcAft>
            </a:pPr>
            <a:r>
              <a:rPr sz="1000" b="0">
                <a:solidFill>
                  <a:srgbClr val="6B5F55"/>
                </a:solidFill>
                <a:latin typeface="Calibri"/>
              </a:rPr>
              <a:t>S02 và S05: 360 dp, 412 dp</a:t>
            </a:r>
          </a:p>
        </p:txBody>
      </p:sp>
      <p:sp>
        <p:nvSpPr>
          <p:cNvPr id="31" name="Rounded Rectangle 30"/>
          <p:cNvSpPr/>
          <p:nvPr/>
        </p:nvSpPr>
        <p:spPr>
          <a:xfrm>
            <a:off x="7726679" y="3291840"/>
            <a:ext cx="3931920" cy="2971800"/>
          </a:xfrm>
          <a:prstGeom prst="roundRect">
            <a:avLst>
              <a:gd name="adj" fmla="val 4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955279" y="3429000"/>
            <a:ext cx="3474720" cy="2743200"/>
          </a:xfrm>
          <a:prstGeom prst="rect">
            <a:avLst/>
          </a:prstGeom>
          <a:noFill/>
        </p:spPr>
        <p:txBody>
          <a:bodyPr wrap="square" lIns="0" rIns="0" tIns="0" bIns="0" anchor="t">
            <a:spAutoFit/>
          </a:bodyPr>
          <a:lstStyle/>
          <a:p>
            <a:pPr algn="l">
              <a:spcAft>
                <a:spcPts val="900"/>
              </a:spcAft>
            </a:pPr>
            <a:r>
              <a:rPr sz="1200" b="0">
                <a:solidFill>
                  <a:srgbClr val="622B14"/>
                </a:solidFill>
                <a:latin typeface="Calibri"/>
              </a:rPr>
              <a:t>Tương phản đo bằng công thức WCAG, không có chữ nào dưới ngưỡng</a:t>
            </a:r>
          </a:p>
          <a:p>
            <a:pPr algn="l">
              <a:spcAft>
                <a:spcPts val="900"/>
              </a:spcAft>
            </a:pPr>
            <a:r>
              <a:rPr sz="1200" b="0">
                <a:solidFill>
                  <a:srgbClr val="622B14"/>
                </a:solidFill>
                <a:latin typeface="Calibri"/>
              </a:rPr>
              <a:t>Trạng thái luôn có chữ hoặc icon đi kèm màu</a:t>
            </a:r>
          </a:p>
          <a:p>
            <a:pPr algn="l">
              <a:spcAft>
                <a:spcPts val="900"/>
              </a:spcAft>
            </a:pPr>
            <a:r>
              <a:rPr sz="1200" b="0">
                <a:solidFill>
                  <a:srgbClr val="622B14"/>
                </a:solidFill>
                <a:latin typeface="Calibri"/>
              </a:rPr>
              <a:t>Bản 412 dp dựng bằng constraints, không cuộn ngang</a:t>
            </a:r>
          </a:p>
          <a:p>
            <a:pPr algn="l">
              <a:spcAft>
                <a:spcPts val="900"/>
              </a:spcAft>
            </a:pPr>
            <a:r>
              <a:rPr sz="1200" b="1">
                <a:solidFill>
                  <a:srgbClr val="B45309"/>
                </a:solidFill>
                <a:latin typeface="Calibri"/>
              </a:rPr>
              <a:t>Kiểm trên 114 khung bằng Figma Plugin API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8F5"/>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548640" y="384048"/>
            <a:ext cx="566928" cy="566928"/>
          </a:xfrm>
          <a:prstGeom prst="rect">
            <a:avLst/>
          </a:prstGeom>
        </p:spPr>
      </p:pic>
      <p:sp>
        <p:nvSpPr>
          <p:cNvPr id="3" name="TextBox 2"/>
          <p:cNvSpPr txBox="1"/>
          <p:nvPr/>
        </p:nvSpPr>
        <p:spPr>
          <a:xfrm>
            <a:off x="1280160" y="329184"/>
            <a:ext cx="10241280" cy="548640"/>
          </a:xfrm>
          <a:prstGeom prst="rect">
            <a:avLst/>
          </a:prstGeom>
          <a:noFill/>
        </p:spPr>
        <p:txBody>
          <a:bodyPr wrap="square" lIns="0" rIns="0" tIns="0" bIns="0" anchor="ctr">
            <a:spAutoFit/>
          </a:bodyPr>
          <a:lstStyle/>
          <a:p>
            <a:pPr algn="l">
              <a:spcAft>
                <a:spcPts val="300"/>
              </a:spcAft>
            </a:pPr>
            <a:r>
              <a:rPr sz="2800" b="1">
                <a:solidFill>
                  <a:srgbClr val="622B14"/>
                </a:solidFill>
                <a:latin typeface="Trebuchet MS"/>
              </a:rPr>
              <a:t>Prototype và kiểm thử</a:t>
            </a:r>
          </a:p>
        </p:txBody>
      </p:sp>
      <p:sp>
        <p:nvSpPr>
          <p:cNvPr id="4" name="TextBox 3"/>
          <p:cNvSpPr txBox="1"/>
          <p:nvPr/>
        </p:nvSpPr>
        <p:spPr>
          <a:xfrm>
            <a:off x="1280160" y="868680"/>
            <a:ext cx="10241280" cy="320040"/>
          </a:xfrm>
          <a:prstGeom prst="rect">
            <a:avLst/>
          </a:prstGeom>
          <a:noFill/>
        </p:spPr>
        <p:txBody>
          <a:bodyPr wrap="square" lIns="0" rIns="0" tIns="0" bIns="0" anchor="t">
            <a:spAutoFit/>
          </a:bodyPr>
          <a:lstStyle/>
          <a:p>
            <a:pPr algn="l">
              <a:spcAft>
                <a:spcPts val="300"/>
              </a:spcAft>
            </a:pPr>
            <a:r>
              <a:rPr sz="1400" b="0">
                <a:solidFill>
                  <a:srgbClr val="6B5F55"/>
                </a:solidFill>
                <a:latin typeface="Calibri"/>
              </a:rPr>
              <a:t>Prototype nối cả hai app, có kiểm thử tự động</a:t>
            </a:r>
          </a:p>
        </p:txBody>
      </p:sp>
      <p:sp>
        <p:nvSpPr>
          <p:cNvPr id="5" name="Rounded Rectangle 4"/>
          <p:cNvSpPr/>
          <p:nvPr/>
        </p:nvSpPr>
        <p:spPr>
          <a:xfrm>
            <a:off x="1280160" y="1207008"/>
            <a:ext cx="822960" cy="45720"/>
          </a:xfrm>
          <a:prstGeom prst="roundRect">
            <a:avLst>
              <a:gd name="adj" fmla="val 50000"/>
            </a:avLst>
          </a:prstGeom>
          <a:solidFill>
            <a:srgbClr val="F69D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28232"/>
            <a:ext cx="8686800" cy="228600"/>
          </a:xfrm>
          <a:prstGeom prst="rect">
            <a:avLst/>
          </a:prstGeom>
          <a:noFill/>
        </p:spPr>
        <p:txBody>
          <a:bodyPr wrap="square" lIns="0" rIns="0" tIns="0" bIns="0" anchor="t">
            <a:spAutoFit/>
          </a:bodyPr>
          <a:lstStyle/>
          <a:p>
            <a:pPr algn="l">
              <a:spcAft>
                <a:spcPts val="300"/>
              </a:spcAft>
            </a:pPr>
            <a:r>
              <a:rPr sz="1000" b="0">
                <a:solidFill>
                  <a:srgbClr val="6B5F55"/>
                </a:solidFill>
                <a:latin typeface="Calibri"/>
              </a:rPr>
              <a:t>Minh chứng: tests/ · docs/test-reports/ · Figma Page 03</a:t>
            </a:r>
          </a:p>
        </p:txBody>
      </p:sp>
      <p:sp>
        <p:nvSpPr>
          <p:cNvPr id="7" name="TextBox 6"/>
          <p:cNvSpPr txBox="1"/>
          <p:nvPr/>
        </p:nvSpPr>
        <p:spPr>
          <a:xfrm>
            <a:off x="9692640" y="6428232"/>
            <a:ext cx="1920240" cy="228600"/>
          </a:xfrm>
          <a:prstGeom prst="rect">
            <a:avLst/>
          </a:prstGeom>
          <a:noFill/>
        </p:spPr>
        <p:txBody>
          <a:bodyPr wrap="square" lIns="0" rIns="0" tIns="0" bIns="0" anchor="t">
            <a:spAutoFit/>
          </a:bodyPr>
          <a:lstStyle/>
          <a:p>
            <a:pPr algn="r">
              <a:spcAft>
                <a:spcPts val="300"/>
              </a:spcAft>
            </a:pPr>
            <a:r>
              <a:rPr sz="1000" b="0">
                <a:solidFill>
                  <a:srgbClr val="6B5F55"/>
                </a:solidFill>
                <a:latin typeface="Calibri"/>
              </a:rPr>
              <a:t>BreakBite · 14 / 16</a:t>
            </a:r>
          </a:p>
        </p:txBody>
      </p:sp>
      <p:sp>
        <p:nvSpPr>
          <p:cNvPr id="8" name="Rounded Rectangle 7"/>
          <p:cNvSpPr/>
          <p:nvPr/>
        </p:nvSpPr>
        <p:spPr>
          <a:xfrm>
            <a:off x="548640" y="1463040"/>
            <a:ext cx="5486400" cy="4114800"/>
          </a:xfrm>
          <a:prstGeom prst="roundRect">
            <a:avLst>
              <a:gd name="adj" fmla="val 4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600200"/>
            <a:ext cx="5029200" cy="3840480"/>
          </a:xfrm>
          <a:prstGeom prst="rect">
            <a:avLst/>
          </a:prstGeom>
          <a:noFill/>
        </p:spPr>
        <p:txBody>
          <a:bodyPr wrap="square" lIns="0" rIns="0" tIns="0" bIns="0" anchor="t">
            <a:spAutoFit/>
          </a:bodyPr>
          <a:lstStyle/>
          <a:p>
            <a:pPr algn="l">
              <a:spcAft>
                <a:spcPts val="900"/>
              </a:spcAft>
            </a:pPr>
            <a:r>
              <a:rPr sz="1100" b="1">
                <a:solidFill>
                  <a:srgbClr val="6B5F55"/>
                </a:solidFill>
                <a:latin typeface="Calibri"/>
              </a:rPr>
              <a:t>PROTOTYPE FIGMA BẢN V2</a:t>
            </a:r>
          </a:p>
          <a:p>
            <a:pPr algn="l">
              <a:spcAft>
                <a:spcPts val="900"/>
              </a:spcAft>
            </a:pPr>
            <a:r>
              <a:rPr sz="1400" b="1">
                <a:solidFill>
                  <a:srgbClr val="622B14"/>
                </a:solidFill>
                <a:latin typeface="Calibri"/>
              </a:rPr>
              <a:t>217 vùng bấm trên 58 khung, 12 điểm bắt đầu</a:t>
            </a:r>
          </a:p>
          <a:p>
            <a:pPr algn="l">
              <a:spcAft>
                <a:spcPts val="900"/>
              </a:spcAft>
            </a:pPr>
            <a:r>
              <a:rPr sz="1300" b="0">
                <a:solidFill>
                  <a:srgbClr val="622B14"/>
                </a:solidFill>
                <a:latin typeface="Calibri"/>
              </a:rPr>
              <a:t>Dialog huỷ đơn và từ chối đơn dạng overlay</a:t>
            </a:r>
          </a:p>
          <a:p>
            <a:pPr algn="l">
              <a:spcAft>
                <a:spcPts val="900"/>
              </a:spcAft>
            </a:pPr>
            <a:r>
              <a:rPr sz="1300" b="0">
                <a:solidFill>
                  <a:srgbClr val="622B14"/>
                </a:solidFill>
                <a:latin typeface="Calibri"/>
              </a:rPr>
              <a:t>Màn đang tải tự chuyển sau 1,2 giây</a:t>
            </a:r>
          </a:p>
          <a:p>
            <a:pPr algn="l">
              <a:spcAft>
                <a:spcPts val="900"/>
              </a:spcAft>
            </a:pPr>
            <a:r>
              <a:rPr sz="1300" b="0">
                <a:solidFill>
                  <a:srgbClr val="622B14"/>
                </a:solidFill>
                <a:latin typeface="Calibri"/>
              </a:rPr>
              <a:t>Back đúng, không màn cụt, không màn mồ côi</a:t>
            </a:r>
          </a:p>
          <a:p>
            <a:pPr algn="l">
              <a:spcAft>
                <a:spcPts val="900"/>
              </a:spcAft>
            </a:pPr>
            <a:r>
              <a:rPr sz="1300" b="0">
                <a:solidFill>
                  <a:srgbClr val="622B14"/>
                </a:solidFill>
                <a:latin typeface="Calibri"/>
              </a:rPr>
              <a:t>Đi qua cả luồng khách và luồng người bán</a:t>
            </a:r>
          </a:p>
        </p:txBody>
      </p:sp>
      <p:sp>
        <p:nvSpPr>
          <p:cNvPr id="10" name="Rounded Rectangle 9"/>
          <p:cNvSpPr/>
          <p:nvPr/>
        </p:nvSpPr>
        <p:spPr>
          <a:xfrm>
            <a:off x="6263640" y="1463040"/>
            <a:ext cx="5394960" cy="4114800"/>
          </a:xfrm>
          <a:prstGeom prst="roundRect">
            <a:avLst>
              <a:gd name="adj" fmla="val 4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600200"/>
            <a:ext cx="4937760" cy="3840480"/>
          </a:xfrm>
          <a:prstGeom prst="rect">
            <a:avLst/>
          </a:prstGeom>
          <a:noFill/>
        </p:spPr>
        <p:txBody>
          <a:bodyPr wrap="square" lIns="0" rIns="0" tIns="0" bIns="0" anchor="t">
            <a:spAutoFit/>
          </a:bodyPr>
          <a:lstStyle/>
          <a:p>
            <a:pPr algn="l">
              <a:spcAft>
                <a:spcPts val="900"/>
              </a:spcAft>
            </a:pPr>
            <a:r>
              <a:rPr sz="1100" b="1">
                <a:solidFill>
                  <a:srgbClr val="6B5F55"/>
                </a:solidFill>
                <a:latin typeface="Calibri"/>
              </a:rPr>
              <a:t>KIỂM THỬ TỰ ĐỘNG · PLAYWRIGHT</a:t>
            </a:r>
          </a:p>
          <a:p>
            <a:pPr algn="l">
              <a:spcAft>
                <a:spcPts val="900"/>
              </a:spcAft>
            </a:pPr>
            <a:r>
              <a:rPr sz="1300" b="0">
                <a:solidFill>
                  <a:srgbClr val="622B14"/>
                </a:solidFill>
                <a:latin typeface="Calibri"/>
              </a:rPr>
              <a:t>Prototype bản cũ: 13 / 13 test đạt, bấm theo toạ độ vùng bấm</a:t>
            </a:r>
          </a:p>
          <a:p>
            <a:pPr algn="l">
              <a:spcAft>
                <a:spcPts val="900"/>
              </a:spcAft>
            </a:pPr>
            <a:r>
              <a:rPr sz="1300" b="1">
                <a:solidFill>
                  <a:srgbClr val="622B14"/>
                </a:solidFill>
                <a:latin typeface="Calibri"/>
              </a:rPr>
              <a:t>Đồ thị flow bản v2: 7 / 7 test đạt</a:t>
            </a:r>
          </a:p>
          <a:p>
            <a:pPr algn="l">
              <a:spcAft>
                <a:spcPts val="900"/>
              </a:spcAft>
            </a:pPr>
            <a:r>
              <a:rPr sz="1300" b="0">
                <a:solidFill>
                  <a:srgbClr val="622B14"/>
                </a:solidFill>
                <a:latin typeface="Calibri"/>
              </a:rPr>
              <a:t>Đặt đơn từ Trang chủ tới Theo dõi đơn: 3 chạm</a:t>
            </a:r>
          </a:p>
          <a:p>
            <a:pPr algn="l">
              <a:spcAft>
                <a:spcPts val="900"/>
              </a:spcAft>
            </a:pPr>
            <a:r>
              <a:rPr sz="1300" b="0">
                <a:solidFill>
                  <a:srgbClr val="622B14"/>
                </a:solidFill>
                <a:latin typeface="Calibri"/>
              </a:rPr>
              <a:t>Flow 3 có lối phục hồi về giỏ hàng và đơn tiền mặt</a:t>
            </a:r>
          </a:p>
        </p:txBody>
      </p:sp>
      <p:sp>
        <p:nvSpPr>
          <p:cNvPr id="12" name="Rounded Rectangle 11"/>
          <p:cNvSpPr/>
          <p:nvPr/>
        </p:nvSpPr>
        <p:spPr>
          <a:xfrm>
            <a:off x="548640" y="5715000"/>
            <a:ext cx="11109960" cy="548640"/>
          </a:xfrm>
          <a:prstGeom prst="roundRect">
            <a:avLst>
              <a:gd name="adj" fmla="val 4000"/>
            </a:avLst>
          </a:prstGeom>
          <a:solidFill>
            <a:srgbClr val="FFF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698480" cy="548640"/>
          </a:xfrm>
          <a:prstGeom prst="rect">
            <a:avLst/>
          </a:prstGeom>
          <a:noFill/>
        </p:spPr>
        <p:txBody>
          <a:bodyPr wrap="square" lIns="0" rIns="0" tIns="0" bIns="0" anchor="ctr">
            <a:spAutoFit/>
          </a:bodyPr>
          <a:lstStyle/>
          <a:p>
            <a:pPr algn="l">
              <a:spcAft>
                <a:spcPts val="300"/>
              </a:spcAft>
            </a:pPr>
            <a:r>
              <a:rPr sz="1200" b="1">
                <a:solidFill>
                  <a:srgbClr val="622B14"/>
                </a:solidFill>
                <a:latin typeface="Calibri"/>
              </a:rPr>
              <a:t>Kiểm thử tự động chỉ chứng minh prototype đi đúng đường đã thiết kế; không thay usability test với người thật.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8F5"/>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548640" y="384048"/>
            <a:ext cx="566928" cy="566928"/>
          </a:xfrm>
          <a:prstGeom prst="rect">
            <a:avLst/>
          </a:prstGeom>
        </p:spPr>
      </p:pic>
      <p:sp>
        <p:nvSpPr>
          <p:cNvPr id="3" name="TextBox 2"/>
          <p:cNvSpPr txBox="1"/>
          <p:nvPr/>
        </p:nvSpPr>
        <p:spPr>
          <a:xfrm>
            <a:off x="1280160" y="329184"/>
            <a:ext cx="10241280" cy="548640"/>
          </a:xfrm>
          <a:prstGeom prst="rect">
            <a:avLst/>
          </a:prstGeom>
          <a:noFill/>
        </p:spPr>
        <p:txBody>
          <a:bodyPr wrap="square" lIns="0" rIns="0" tIns="0" bIns="0" anchor="ctr">
            <a:spAutoFit/>
          </a:bodyPr>
          <a:lstStyle/>
          <a:p>
            <a:pPr algn="l">
              <a:spcAft>
                <a:spcPts val="300"/>
              </a:spcAft>
            </a:pPr>
            <a:r>
              <a:rPr sz="2800" b="1">
                <a:solidFill>
                  <a:srgbClr val="622B14"/>
                </a:solidFill>
                <a:latin typeface="Trebuchet MS"/>
              </a:rPr>
              <a:t>Bàn giao và Quality Gates</a:t>
            </a:r>
          </a:p>
        </p:txBody>
      </p:sp>
      <p:sp>
        <p:nvSpPr>
          <p:cNvPr id="4" name="TextBox 3"/>
          <p:cNvSpPr txBox="1"/>
          <p:nvPr/>
        </p:nvSpPr>
        <p:spPr>
          <a:xfrm>
            <a:off x="1280160" y="868680"/>
            <a:ext cx="10241280" cy="320040"/>
          </a:xfrm>
          <a:prstGeom prst="rect">
            <a:avLst/>
          </a:prstGeom>
          <a:noFill/>
        </p:spPr>
        <p:txBody>
          <a:bodyPr wrap="square" lIns="0" rIns="0" tIns="0" bIns="0" anchor="t">
            <a:spAutoFit/>
          </a:bodyPr>
          <a:lstStyle/>
          <a:p>
            <a:pPr algn="l">
              <a:spcAft>
                <a:spcPts val="300"/>
              </a:spcAft>
            </a:pPr>
            <a:r>
              <a:rPr sz="1400" b="0">
                <a:solidFill>
                  <a:srgbClr val="6B5F55"/>
                </a:solidFill>
                <a:latin typeface="Calibri"/>
              </a:rPr>
              <a:t>Handoff cho Flutter; tự chấm theo sáu gate của môn</a:t>
            </a:r>
          </a:p>
        </p:txBody>
      </p:sp>
      <p:sp>
        <p:nvSpPr>
          <p:cNvPr id="5" name="Rounded Rectangle 4"/>
          <p:cNvSpPr/>
          <p:nvPr/>
        </p:nvSpPr>
        <p:spPr>
          <a:xfrm>
            <a:off x="1280160" y="1207008"/>
            <a:ext cx="822960" cy="45720"/>
          </a:xfrm>
          <a:prstGeom prst="roundRect">
            <a:avLst>
              <a:gd name="adj" fmla="val 50000"/>
            </a:avLst>
          </a:prstGeom>
          <a:solidFill>
            <a:srgbClr val="F69D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28232"/>
            <a:ext cx="8686800" cy="228600"/>
          </a:xfrm>
          <a:prstGeom prst="rect">
            <a:avLst/>
          </a:prstGeom>
          <a:noFill/>
        </p:spPr>
        <p:txBody>
          <a:bodyPr wrap="square" lIns="0" rIns="0" tIns="0" bIns="0" anchor="t">
            <a:spAutoFit/>
          </a:bodyPr>
          <a:lstStyle/>
          <a:p>
            <a:pPr algn="l">
              <a:spcAft>
                <a:spcPts val="300"/>
              </a:spcAft>
            </a:pPr>
            <a:r>
              <a:rPr sz="1000" b="0">
                <a:solidFill>
                  <a:srgbClr val="6B5F55"/>
                </a:solidFill>
                <a:latin typeface="Calibri"/>
              </a:rPr>
              <a:t>Minh chứng: handoff/flutter-handoff.md · docs/quy-chuan-ux-ui.md · skills/</a:t>
            </a:r>
          </a:p>
        </p:txBody>
      </p:sp>
      <p:sp>
        <p:nvSpPr>
          <p:cNvPr id="7" name="TextBox 6"/>
          <p:cNvSpPr txBox="1"/>
          <p:nvPr/>
        </p:nvSpPr>
        <p:spPr>
          <a:xfrm>
            <a:off x="9692640" y="6428232"/>
            <a:ext cx="1920240" cy="228600"/>
          </a:xfrm>
          <a:prstGeom prst="rect">
            <a:avLst/>
          </a:prstGeom>
          <a:noFill/>
        </p:spPr>
        <p:txBody>
          <a:bodyPr wrap="square" lIns="0" rIns="0" tIns="0" bIns="0" anchor="t">
            <a:spAutoFit/>
          </a:bodyPr>
          <a:lstStyle/>
          <a:p>
            <a:pPr algn="r">
              <a:spcAft>
                <a:spcPts val="300"/>
              </a:spcAft>
            </a:pPr>
            <a:r>
              <a:rPr sz="1000" b="0">
                <a:solidFill>
                  <a:srgbClr val="6B5F55"/>
                </a:solidFill>
                <a:latin typeface="Calibri"/>
              </a:rPr>
              <a:t>BreakBite · 15 / 16</a:t>
            </a:r>
          </a:p>
        </p:txBody>
      </p:sp>
      <p:sp>
        <p:nvSpPr>
          <p:cNvPr id="8" name="Rounded Rectangle 7"/>
          <p:cNvSpPr/>
          <p:nvPr/>
        </p:nvSpPr>
        <p:spPr>
          <a:xfrm>
            <a:off x="548640" y="1463040"/>
            <a:ext cx="5212080" cy="4754880"/>
          </a:xfrm>
          <a:prstGeom prst="roundRect">
            <a:avLst>
              <a:gd name="adj" fmla="val 4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600200"/>
            <a:ext cx="4754880" cy="274320"/>
          </a:xfrm>
          <a:prstGeom prst="rect">
            <a:avLst/>
          </a:prstGeom>
          <a:noFill/>
        </p:spPr>
        <p:txBody>
          <a:bodyPr wrap="square" lIns="0" rIns="0" tIns="0" bIns="0" anchor="t">
            <a:spAutoFit/>
          </a:bodyPr>
          <a:lstStyle/>
          <a:p>
            <a:pPr algn="l">
              <a:spcAft>
                <a:spcPts val="300"/>
              </a:spcAft>
            </a:pPr>
            <a:r>
              <a:rPr sz="1100" b="1">
                <a:solidFill>
                  <a:srgbClr val="6B5F55"/>
                </a:solidFill>
                <a:latin typeface="Calibri"/>
              </a:rPr>
              <a:t>HANDOFF FLUTTER (KHÔNG VIẾT CODE)</a:t>
            </a:r>
          </a:p>
        </p:txBody>
      </p:sp>
      <p:graphicFrame>
        <p:nvGraphicFramePr>
          <p:cNvPr id="10" name="Table 9"/>
          <p:cNvGraphicFramePr>
            <a:graphicFrameLocks noGrp="1"/>
          </p:cNvGraphicFramePr>
          <p:nvPr/>
        </p:nvGraphicFramePr>
        <p:xfrm>
          <a:off x="777240" y="1965960"/>
          <a:ext cx="4754880" cy="2743200"/>
        </p:xfrm>
        <a:graphic>
          <a:graphicData uri="http://schemas.openxmlformats.org/drawingml/2006/table">
            <a:tbl>
              <a:tblPr firstRow="1" bandRow="1">
                <a:tableStyleId>{5C22544A-7EE6-4342-B048-85BDC9FD1C3A}</a:tableStyleId>
              </a:tblPr>
              <a:tblGrid>
                <a:gridCol w="2103120"/>
                <a:gridCol w="2651760"/>
              </a:tblGrid>
              <a:tr h="457200">
                <a:tc>
                  <a:txBody>
                    <a:bodyPr/>
                    <a:lstStyle/>
                    <a:p>
                      <a:r>
                        <a:rPr sz="1300" b="1">
                          <a:solidFill>
                            <a:srgbClr val="FFFFFF"/>
                          </a:solidFill>
                          <a:latin typeface="Calibri"/>
                        </a:rPr>
                        <a:t>Figma</a:t>
                      </a:r>
                    </a:p>
                  </a:txBody>
                  <a:tcPr anchor="ctr" marL="91440" marR="91440">
                    <a:solidFill>
                      <a:srgbClr val="622B14"/>
                    </a:solidFill>
                  </a:tcPr>
                </a:tc>
                <a:tc>
                  <a:txBody>
                    <a:bodyPr/>
                    <a:lstStyle/>
                    <a:p>
                      <a:r>
                        <a:rPr sz="1300" b="1">
                          <a:solidFill>
                            <a:srgbClr val="FFFFFF"/>
                          </a:solidFill>
                          <a:latin typeface="Calibri"/>
                        </a:rPr>
                        <a:t>Flutter</a:t>
                      </a:r>
                    </a:p>
                  </a:txBody>
                  <a:tcPr anchor="ctr" marL="91440" marR="91440">
                    <a:solidFill>
                      <a:srgbClr val="622B14"/>
                    </a:solidFill>
                  </a:tcPr>
                </a:tc>
              </a:tr>
              <a:tr h="457200">
                <a:tc>
                  <a:txBody>
                    <a:bodyPr/>
                    <a:lstStyle/>
                    <a:p>
                      <a:r>
                        <a:rPr sz="1300" b="1">
                          <a:solidFill>
                            <a:srgbClr val="622B14"/>
                          </a:solidFill>
                          <a:latin typeface="Calibri"/>
                        </a:rPr>
                        <a:t>color/primary</a:t>
                      </a:r>
                    </a:p>
                  </a:txBody>
                  <a:tcPr anchor="ctr" marL="91440" marR="91440">
                    <a:solidFill>
                      <a:srgbClr val="FFFFFF"/>
                    </a:solidFill>
                  </a:tcPr>
                </a:tc>
                <a:tc>
                  <a:txBody>
                    <a:bodyPr/>
                    <a:lstStyle/>
                    <a:p>
                      <a:r>
                        <a:rPr sz="1300" b="0">
                          <a:solidFill>
                            <a:srgbClr val="622B14"/>
                          </a:solidFill>
                          <a:latin typeface="Calibri"/>
                        </a:rPr>
                        <a:t>ColorScheme.primary</a:t>
                      </a:r>
                    </a:p>
                  </a:txBody>
                  <a:tcPr anchor="ctr" marL="91440" marR="91440">
                    <a:solidFill>
                      <a:srgbClr val="FFFFFF"/>
                    </a:solidFill>
                  </a:tcPr>
                </a:tc>
              </a:tr>
              <a:tr h="457200">
                <a:tc>
                  <a:txBody>
                    <a:bodyPr/>
                    <a:lstStyle/>
                    <a:p>
                      <a:r>
                        <a:rPr sz="1300" b="1">
                          <a:solidFill>
                            <a:srgbClr val="622B14"/>
                          </a:solidFill>
                          <a:latin typeface="Calibri"/>
                        </a:rPr>
                        <a:t>Chip</a:t>
                      </a:r>
                    </a:p>
                  </a:txBody>
                  <a:tcPr anchor="ctr" marL="91440" marR="91440">
                    <a:solidFill>
                      <a:srgbClr val="FFF1DE"/>
                    </a:solidFill>
                  </a:tcPr>
                </a:tc>
                <a:tc>
                  <a:txBody>
                    <a:bodyPr/>
                    <a:lstStyle/>
                    <a:p>
                      <a:r>
                        <a:rPr sz="1300" b="0">
                          <a:solidFill>
                            <a:srgbClr val="622B14"/>
                          </a:solidFill>
                          <a:latin typeface="Calibri"/>
                        </a:rPr>
                        <a:t>ChoiceChip, 48 dp</a:t>
                      </a:r>
                    </a:p>
                  </a:txBody>
                  <a:tcPr anchor="ctr" marL="91440" marR="91440">
                    <a:solidFill>
                      <a:srgbClr val="FFF1DE"/>
                    </a:solidFill>
                  </a:tcPr>
                </a:tc>
              </a:tr>
              <a:tr h="457200">
                <a:tc>
                  <a:txBody>
                    <a:bodyPr/>
                    <a:lstStyle/>
                    <a:p>
                      <a:r>
                        <a:rPr sz="1300" b="1">
                          <a:solidFill>
                            <a:srgbClr val="622B14"/>
                          </a:solidFill>
                          <a:latin typeface="Calibri"/>
                        </a:rPr>
                        <a:t>NavBar</a:t>
                      </a:r>
                    </a:p>
                  </a:txBody>
                  <a:tcPr anchor="ctr" marL="91440" marR="91440">
                    <a:solidFill>
                      <a:srgbClr val="FFFFFF"/>
                    </a:solidFill>
                  </a:tcPr>
                </a:tc>
                <a:tc>
                  <a:txBody>
                    <a:bodyPr/>
                    <a:lstStyle/>
                    <a:p>
                      <a:r>
                        <a:rPr sz="1300" b="0">
                          <a:solidFill>
                            <a:srgbClr val="622B14"/>
                          </a:solidFill>
                          <a:latin typeface="Calibri"/>
                        </a:rPr>
                        <a:t>NavigationBar</a:t>
                      </a:r>
                    </a:p>
                  </a:txBody>
                  <a:tcPr anchor="ctr" marL="91440" marR="91440">
                    <a:solidFill>
                      <a:srgbClr val="FFFFFF"/>
                    </a:solidFill>
                  </a:tcPr>
                </a:tc>
              </a:tr>
              <a:tr h="457200">
                <a:tc>
                  <a:txBody>
                    <a:bodyPr/>
                    <a:lstStyle/>
                    <a:p>
                      <a:r>
                        <a:rPr sz="1300" b="1">
                          <a:solidFill>
                            <a:srgbClr val="622B14"/>
                          </a:solidFill>
                          <a:latin typeface="Calibri"/>
                        </a:rPr>
                        <a:t>Card/Food</a:t>
                      </a:r>
                    </a:p>
                  </a:txBody>
                  <a:tcPr anchor="ctr" marL="91440" marR="91440">
                    <a:solidFill>
                      <a:srgbClr val="FFF1DE"/>
                    </a:solidFill>
                  </a:tcPr>
                </a:tc>
                <a:tc>
                  <a:txBody>
                    <a:bodyPr/>
                    <a:lstStyle/>
                    <a:p>
                      <a:r>
                        <a:rPr sz="1300" b="0">
                          <a:solidFill>
                            <a:srgbClr val="622B14"/>
                          </a:solidFill>
                          <a:latin typeface="Calibri"/>
                        </a:rPr>
                        <a:t>Card + ListTile</a:t>
                      </a:r>
                    </a:p>
                  </a:txBody>
                  <a:tcPr anchor="ctr" marL="91440" marR="91440">
                    <a:solidFill>
                      <a:srgbClr val="FFF1DE"/>
                    </a:solidFill>
                  </a:tcPr>
                </a:tc>
              </a:tr>
              <a:tr h="457200">
                <a:tc>
                  <a:txBody>
                    <a:bodyPr/>
                    <a:lstStyle/>
                    <a:p>
                      <a:r>
                        <a:rPr sz="1300" b="1">
                          <a:solidFill>
                            <a:srgbClr val="622B14"/>
                          </a:solidFill>
                          <a:latin typeface="Calibri"/>
                        </a:rPr>
                        <a:t>IconButton</a:t>
                      </a:r>
                    </a:p>
                  </a:txBody>
                  <a:tcPr anchor="ctr" marL="91440" marR="91440">
                    <a:solidFill>
                      <a:srgbClr val="FFFFFF"/>
                    </a:solidFill>
                  </a:tcPr>
                </a:tc>
                <a:tc>
                  <a:txBody>
                    <a:bodyPr/>
                    <a:lstStyle/>
                    <a:p>
                      <a:r>
                        <a:rPr sz="1300" b="0">
                          <a:solidFill>
                            <a:srgbClr val="622B14"/>
                          </a:solidFill>
                          <a:latin typeface="Calibri"/>
                        </a:rPr>
                        <a:t>IconButton 48 × 48</a:t>
                      </a:r>
                    </a:p>
                  </a:txBody>
                  <a:tcPr anchor="ctr" marL="91440" marR="91440">
                    <a:solidFill>
                      <a:srgbClr val="FFFFFF"/>
                    </a:solidFill>
                  </a:tcPr>
                </a:tc>
              </a:tr>
            </a:tbl>
          </a:graphicData>
        </a:graphic>
      </p:graphicFrame>
      <p:sp>
        <p:nvSpPr>
          <p:cNvPr id="11" name="TextBox 10"/>
          <p:cNvSpPr txBox="1"/>
          <p:nvPr/>
        </p:nvSpPr>
        <p:spPr>
          <a:xfrm>
            <a:off x="777240" y="4846320"/>
            <a:ext cx="4754880" cy="1280160"/>
          </a:xfrm>
          <a:prstGeom prst="rect">
            <a:avLst/>
          </a:prstGeom>
          <a:noFill/>
        </p:spPr>
        <p:txBody>
          <a:bodyPr wrap="square" lIns="0" rIns="0" tIns="0" bIns="0" anchor="t">
            <a:spAutoFit/>
          </a:bodyPr>
          <a:lstStyle/>
          <a:p>
            <a:pPr algn="l">
              <a:spcAft>
                <a:spcPts val="300"/>
              </a:spcAft>
            </a:pPr>
            <a:r>
              <a:rPr sz="1200" b="0">
                <a:solidFill>
                  <a:srgbClr val="622B14"/>
                </a:solidFill>
                <a:latin typeface="Calibri"/>
              </a:rPr>
              <a:t>6 mục cho mỗi màn (layout, component, state, tương tác, điều hướng, ràng buộc) cho S01–S30 và K01–K15.</a:t>
            </a:r>
          </a:p>
        </p:txBody>
      </p:sp>
      <p:sp>
        <p:nvSpPr>
          <p:cNvPr id="12" name="Rounded Rectangle 11"/>
          <p:cNvSpPr/>
          <p:nvPr/>
        </p:nvSpPr>
        <p:spPr>
          <a:xfrm>
            <a:off x="5989320" y="1463040"/>
            <a:ext cx="5669280" cy="4754880"/>
          </a:xfrm>
          <a:prstGeom prst="roundRect">
            <a:avLst>
              <a:gd name="adj" fmla="val 4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7920" y="1600200"/>
            <a:ext cx="5212080" cy="274320"/>
          </a:xfrm>
          <a:prstGeom prst="rect">
            <a:avLst/>
          </a:prstGeom>
          <a:noFill/>
        </p:spPr>
        <p:txBody>
          <a:bodyPr wrap="square" lIns="0" rIns="0" tIns="0" bIns="0" anchor="t">
            <a:spAutoFit/>
          </a:bodyPr>
          <a:lstStyle/>
          <a:p>
            <a:pPr algn="l">
              <a:spcAft>
                <a:spcPts val="300"/>
              </a:spcAft>
            </a:pPr>
            <a:r>
              <a:rPr sz="1100" b="1">
                <a:solidFill>
                  <a:srgbClr val="6B5F55"/>
                </a:solidFill>
                <a:latin typeface="Calibri"/>
              </a:rPr>
              <a:t>TỰ CHẤM THEO QUALITY GATES</a:t>
            </a:r>
          </a:p>
        </p:txBody>
      </p:sp>
      <p:sp>
        <p:nvSpPr>
          <p:cNvPr id="14" name="TextBox 13"/>
          <p:cNvSpPr txBox="1"/>
          <p:nvPr/>
        </p:nvSpPr>
        <p:spPr>
          <a:xfrm>
            <a:off x="6217920" y="2011680"/>
            <a:ext cx="548640" cy="457200"/>
          </a:xfrm>
          <a:prstGeom prst="rect">
            <a:avLst/>
          </a:prstGeom>
          <a:noFill/>
        </p:spPr>
        <p:txBody>
          <a:bodyPr wrap="square" lIns="0" rIns="0" tIns="0" bIns="0" anchor="ctr">
            <a:spAutoFit/>
          </a:bodyPr>
          <a:lstStyle/>
          <a:p>
            <a:pPr algn="l">
              <a:spcAft>
                <a:spcPts val="300"/>
              </a:spcAft>
            </a:pPr>
            <a:r>
              <a:rPr sz="1400" b="1">
                <a:solidFill>
                  <a:srgbClr val="622B14"/>
                </a:solidFill>
                <a:latin typeface="Trebuchet MS"/>
              </a:rPr>
              <a:t>G0</a:t>
            </a:r>
          </a:p>
        </p:txBody>
      </p:sp>
      <p:sp>
        <p:nvSpPr>
          <p:cNvPr id="15" name="TextBox 14"/>
          <p:cNvSpPr txBox="1"/>
          <p:nvPr/>
        </p:nvSpPr>
        <p:spPr>
          <a:xfrm>
            <a:off x="6812280" y="2011680"/>
            <a:ext cx="1828800" cy="457200"/>
          </a:xfrm>
          <a:prstGeom prst="rect">
            <a:avLst/>
          </a:prstGeom>
          <a:noFill/>
        </p:spPr>
        <p:txBody>
          <a:bodyPr wrap="square" lIns="0" rIns="0" tIns="0" bIns="0" anchor="ctr">
            <a:spAutoFit/>
          </a:bodyPr>
          <a:lstStyle/>
          <a:p>
            <a:pPr algn="l">
              <a:spcAft>
                <a:spcPts val="300"/>
              </a:spcAft>
            </a:pPr>
            <a:r>
              <a:rPr sz="1300" b="0">
                <a:solidFill>
                  <a:srgbClr val="622B14"/>
                </a:solidFill>
                <a:latin typeface="Calibri"/>
              </a:rPr>
              <a:t>Problem</a:t>
            </a:r>
          </a:p>
        </p:txBody>
      </p:sp>
      <p:sp>
        <p:nvSpPr>
          <p:cNvPr id="16" name="Rounded Rectangle 15"/>
          <p:cNvSpPr/>
          <p:nvPr/>
        </p:nvSpPr>
        <p:spPr>
          <a:xfrm>
            <a:off x="8778240" y="2084832"/>
            <a:ext cx="1828800" cy="310896"/>
          </a:xfrm>
          <a:prstGeom prst="roundRect">
            <a:avLst>
              <a:gd name="adj" fmla="val 50000"/>
            </a:avLst>
          </a:prstGeom>
          <a:solidFill>
            <a:srgbClr val="E8F5EC"/>
          </a:solidFill>
          <a:ln w="9525">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78240" y="2084832"/>
            <a:ext cx="1828800" cy="310896"/>
          </a:xfrm>
          <a:prstGeom prst="rect">
            <a:avLst/>
          </a:prstGeom>
          <a:noFill/>
        </p:spPr>
        <p:txBody>
          <a:bodyPr wrap="square" lIns="0" rIns="0" tIns="0" bIns="0" anchor="ctr">
            <a:spAutoFit/>
          </a:bodyPr>
          <a:lstStyle/>
          <a:p>
            <a:pPr algn="ctr">
              <a:spcAft>
                <a:spcPts val="300"/>
              </a:spcAft>
            </a:pPr>
            <a:r>
              <a:rPr sz="1100" b="1">
                <a:solidFill>
                  <a:srgbClr val="15803D"/>
                </a:solidFill>
                <a:latin typeface="Calibri"/>
              </a:rPr>
              <a:t>Đạt</a:t>
            </a:r>
          </a:p>
        </p:txBody>
      </p:sp>
      <p:sp>
        <p:nvSpPr>
          <p:cNvPr id="18" name="TextBox 17"/>
          <p:cNvSpPr txBox="1"/>
          <p:nvPr/>
        </p:nvSpPr>
        <p:spPr>
          <a:xfrm>
            <a:off x="6217920" y="2578608"/>
            <a:ext cx="548640" cy="457200"/>
          </a:xfrm>
          <a:prstGeom prst="rect">
            <a:avLst/>
          </a:prstGeom>
          <a:noFill/>
        </p:spPr>
        <p:txBody>
          <a:bodyPr wrap="square" lIns="0" rIns="0" tIns="0" bIns="0" anchor="ctr">
            <a:spAutoFit/>
          </a:bodyPr>
          <a:lstStyle/>
          <a:p>
            <a:pPr algn="l">
              <a:spcAft>
                <a:spcPts val="300"/>
              </a:spcAft>
            </a:pPr>
            <a:r>
              <a:rPr sz="1400" b="1">
                <a:solidFill>
                  <a:srgbClr val="622B14"/>
                </a:solidFill>
                <a:latin typeface="Trebuchet MS"/>
              </a:rPr>
              <a:t>G1</a:t>
            </a:r>
          </a:p>
        </p:txBody>
      </p:sp>
      <p:sp>
        <p:nvSpPr>
          <p:cNvPr id="19" name="TextBox 18"/>
          <p:cNvSpPr txBox="1"/>
          <p:nvPr/>
        </p:nvSpPr>
        <p:spPr>
          <a:xfrm>
            <a:off x="6812280" y="2578608"/>
            <a:ext cx="1828800" cy="457200"/>
          </a:xfrm>
          <a:prstGeom prst="rect">
            <a:avLst/>
          </a:prstGeom>
          <a:noFill/>
        </p:spPr>
        <p:txBody>
          <a:bodyPr wrap="square" lIns="0" rIns="0" tIns="0" bIns="0" anchor="ctr">
            <a:spAutoFit/>
          </a:bodyPr>
          <a:lstStyle/>
          <a:p>
            <a:pPr algn="l">
              <a:spcAft>
                <a:spcPts val="300"/>
              </a:spcAft>
            </a:pPr>
            <a:r>
              <a:rPr sz="1300" b="0">
                <a:solidFill>
                  <a:srgbClr val="622B14"/>
                </a:solidFill>
                <a:latin typeface="Calibri"/>
              </a:rPr>
              <a:t>Research</a:t>
            </a:r>
          </a:p>
        </p:txBody>
      </p:sp>
      <p:sp>
        <p:nvSpPr>
          <p:cNvPr id="20" name="Rounded Rectangle 19"/>
          <p:cNvSpPr/>
          <p:nvPr/>
        </p:nvSpPr>
        <p:spPr>
          <a:xfrm>
            <a:off x="8778240" y="2651760"/>
            <a:ext cx="1828800" cy="310896"/>
          </a:xfrm>
          <a:prstGeom prst="roundRect">
            <a:avLst>
              <a:gd name="adj" fmla="val 50000"/>
            </a:avLst>
          </a:prstGeom>
          <a:solidFill>
            <a:srgbClr val="FFF1DE"/>
          </a:solidFill>
          <a:ln w="952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78240" y="2651760"/>
            <a:ext cx="1828800" cy="310896"/>
          </a:xfrm>
          <a:prstGeom prst="rect">
            <a:avLst/>
          </a:prstGeom>
          <a:noFill/>
        </p:spPr>
        <p:txBody>
          <a:bodyPr wrap="square" lIns="0" rIns="0" tIns="0" bIns="0" anchor="ctr">
            <a:spAutoFit/>
          </a:bodyPr>
          <a:lstStyle/>
          <a:p>
            <a:pPr algn="ctr">
              <a:spcAft>
                <a:spcPts val="300"/>
              </a:spcAft>
            </a:pPr>
            <a:r>
              <a:rPr sz="1100" b="1">
                <a:solidFill>
                  <a:srgbClr val="B45309"/>
                </a:solidFill>
                <a:latin typeface="Calibri"/>
              </a:rPr>
              <a:t>Có điều kiện</a:t>
            </a:r>
          </a:p>
        </p:txBody>
      </p:sp>
      <p:sp>
        <p:nvSpPr>
          <p:cNvPr id="22" name="TextBox 21"/>
          <p:cNvSpPr txBox="1"/>
          <p:nvPr/>
        </p:nvSpPr>
        <p:spPr>
          <a:xfrm>
            <a:off x="6217920" y="3145536"/>
            <a:ext cx="548640" cy="457200"/>
          </a:xfrm>
          <a:prstGeom prst="rect">
            <a:avLst/>
          </a:prstGeom>
          <a:noFill/>
        </p:spPr>
        <p:txBody>
          <a:bodyPr wrap="square" lIns="0" rIns="0" tIns="0" bIns="0" anchor="ctr">
            <a:spAutoFit/>
          </a:bodyPr>
          <a:lstStyle/>
          <a:p>
            <a:pPr algn="l">
              <a:spcAft>
                <a:spcPts val="300"/>
              </a:spcAft>
            </a:pPr>
            <a:r>
              <a:rPr sz="1400" b="1">
                <a:solidFill>
                  <a:srgbClr val="622B14"/>
                </a:solidFill>
                <a:latin typeface="Trebuchet MS"/>
              </a:rPr>
              <a:t>G2</a:t>
            </a:r>
          </a:p>
        </p:txBody>
      </p:sp>
      <p:sp>
        <p:nvSpPr>
          <p:cNvPr id="23" name="TextBox 22"/>
          <p:cNvSpPr txBox="1"/>
          <p:nvPr/>
        </p:nvSpPr>
        <p:spPr>
          <a:xfrm>
            <a:off x="6812280" y="3145536"/>
            <a:ext cx="1828800" cy="457200"/>
          </a:xfrm>
          <a:prstGeom prst="rect">
            <a:avLst/>
          </a:prstGeom>
          <a:noFill/>
        </p:spPr>
        <p:txBody>
          <a:bodyPr wrap="square" lIns="0" rIns="0" tIns="0" bIns="0" anchor="ctr">
            <a:spAutoFit/>
          </a:bodyPr>
          <a:lstStyle/>
          <a:p>
            <a:pPr algn="l">
              <a:spcAft>
                <a:spcPts val="300"/>
              </a:spcAft>
            </a:pPr>
            <a:r>
              <a:rPr sz="1300" b="0">
                <a:solidFill>
                  <a:srgbClr val="622B14"/>
                </a:solidFill>
                <a:latin typeface="Calibri"/>
              </a:rPr>
              <a:t>UX Design</a:t>
            </a:r>
          </a:p>
        </p:txBody>
      </p:sp>
      <p:sp>
        <p:nvSpPr>
          <p:cNvPr id="24" name="Rounded Rectangle 23"/>
          <p:cNvSpPr/>
          <p:nvPr/>
        </p:nvSpPr>
        <p:spPr>
          <a:xfrm>
            <a:off x="8778240" y="3218688"/>
            <a:ext cx="1828800" cy="310896"/>
          </a:xfrm>
          <a:prstGeom prst="roundRect">
            <a:avLst>
              <a:gd name="adj" fmla="val 50000"/>
            </a:avLst>
          </a:prstGeom>
          <a:solidFill>
            <a:srgbClr val="FFF1DE"/>
          </a:solidFill>
          <a:ln w="952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78240" y="3218688"/>
            <a:ext cx="1828800" cy="310896"/>
          </a:xfrm>
          <a:prstGeom prst="rect">
            <a:avLst/>
          </a:prstGeom>
          <a:noFill/>
        </p:spPr>
        <p:txBody>
          <a:bodyPr wrap="square" lIns="0" rIns="0" tIns="0" bIns="0" anchor="ctr">
            <a:spAutoFit/>
          </a:bodyPr>
          <a:lstStyle/>
          <a:p>
            <a:pPr algn="ctr">
              <a:spcAft>
                <a:spcPts val="300"/>
              </a:spcAft>
            </a:pPr>
            <a:r>
              <a:rPr sz="1100" b="1">
                <a:solidFill>
                  <a:srgbClr val="B45309"/>
                </a:solidFill>
                <a:latin typeface="Calibri"/>
              </a:rPr>
              <a:t>5 / 6</a:t>
            </a:r>
          </a:p>
        </p:txBody>
      </p:sp>
      <p:sp>
        <p:nvSpPr>
          <p:cNvPr id="26" name="TextBox 25"/>
          <p:cNvSpPr txBox="1"/>
          <p:nvPr/>
        </p:nvSpPr>
        <p:spPr>
          <a:xfrm>
            <a:off x="6217920" y="3712464"/>
            <a:ext cx="548640" cy="457200"/>
          </a:xfrm>
          <a:prstGeom prst="rect">
            <a:avLst/>
          </a:prstGeom>
          <a:noFill/>
        </p:spPr>
        <p:txBody>
          <a:bodyPr wrap="square" lIns="0" rIns="0" tIns="0" bIns="0" anchor="ctr">
            <a:spAutoFit/>
          </a:bodyPr>
          <a:lstStyle/>
          <a:p>
            <a:pPr algn="l">
              <a:spcAft>
                <a:spcPts val="300"/>
              </a:spcAft>
            </a:pPr>
            <a:r>
              <a:rPr sz="1400" b="1">
                <a:solidFill>
                  <a:srgbClr val="622B14"/>
                </a:solidFill>
                <a:latin typeface="Trebuchet MS"/>
              </a:rPr>
              <a:t>G3</a:t>
            </a:r>
          </a:p>
        </p:txBody>
      </p:sp>
      <p:sp>
        <p:nvSpPr>
          <p:cNvPr id="27" name="TextBox 26"/>
          <p:cNvSpPr txBox="1"/>
          <p:nvPr/>
        </p:nvSpPr>
        <p:spPr>
          <a:xfrm>
            <a:off x="6812280" y="3712464"/>
            <a:ext cx="1828800" cy="457200"/>
          </a:xfrm>
          <a:prstGeom prst="rect">
            <a:avLst/>
          </a:prstGeom>
          <a:noFill/>
        </p:spPr>
        <p:txBody>
          <a:bodyPr wrap="square" lIns="0" rIns="0" tIns="0" bIns="0" anchor="ctr">
            <a:spAutoFit/>
          </a:bodyPr>
          <a:lstStyle/>
          <a:p>
            <a:pPr algn="l">
              <a:spcAft>
                <a:spcPts val="300"/>
              </a:spcAft>
            </a:pPr>
            <a:r>
              <a:rPr sz="1300" b="0">
                <a:solidFill>
                  <a:srgbClr val="622B14"/>
                </a:solidFill>
                <a:latin typeface="Calibri"/>
              </a:rPr>
              <a:t>UI Concept</a:t>
            </a:r>
          </a:p>
        </p:txBody>
      </p:sp>
      <p:sp>
        <p:nvSpPr>
          <p:cNvPr id="28" name="Rounded Rectangle 27"/>
          <p:cNvSpPr/>
          <p:nvPr/>
        </p:nvSpPr>
        <p:spPr>
          <a:xfrm>
            <a:off x="8778240" y="3785616"/>
            <a:ext cx="1828800" cy="310896"/>
          </a:xfrm>
          <a:prstGeom prst="roundRect">
            <a:avLst>
              <a:gd name="adj" fmla="val 50000"/>
            </a:avLst>
          </a:prstGeom>
          <a:solidFill>
            <a:srgbClr val="E8F5EC"/>
          </a:solidFill>
          <a:ln w="9525">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78240" y="3785616"/>
            <a:ext cx="1828800" cy="310896"/>
          </a:xfrm>
          <a:prstGeom prst="rect">
            <a:avLst/>
          </a:prstGeom>
          <a:noFill/>
        </p:spPr>
        <p:txBody>
          <a:bodyPr wrap="square" lIns="0" rIns="0" tIns="0" bIns="0" anchor="ctr">
            <a:spAutoFit/>
          </a:bodyPr>
          <a:lstStyle/>
          <a:p>
            <a:pPr algn="ctr">
              <a:spcAft>
                <a:spcPts val="300"/>
              </a:spcAft>
            </a:pPr>
            <a:r>
              <a:rPr sz="1100" b="1">
                <a:solidFill>
                  <a:srgbClr val="15803D"/>
                </a:solidFill>
                <a:latin typeface="Calibri"/>
              </a:rPr>
              <a:t>Đạt</a:t>
            </a:r>
          </a:p>
        </p:txBody>
      </p:sp>
      <p:sp>
        <p:nvSpPr>
          <p:cNvPr id="30" name="TextBox 29"/>
          <p:cNvSpPr txBox="1"/>
          <p:nvPr/>
        </p:nvSpPr>
        <p:spPr>
          <a:xfrm>
            <a:off x="6217920" y="4279392"/>
            <a:ext cx="548640" cy="457200"/>
          </a:xfrm>
          <a:prstGeom prst="rect">
            <a:avLst/>
          </a:prstGeom>
          <a:noFill/>
        </p:spPr>
        <p:txBody>
          <a:bodyPr wrap="square" lIns="0" rIns="0" tIns="0" bIns="0" anchor="ctr">
            <a:spAutoFit/>
          </a:bodyPr>
          <a:lstStyle/>
          <a:p>
            <a:pPr algn="l">
              <a:spcAft>
                <a:spcPts val="300"/>
              </a:spcAft>
            </a:pPr>
            <a:r>
              <a:rPr sz="1400" b="1">
                <a:solidFill>
                  <a:srgbClr val="622B14"/>
                </a:solidFill>
                <a:latin typeface="Trebuchet MS"/>
              </a:rPr>
              <a:t>G4</a:t>
            </a:r>
          </a:p>
        </p:txBody>
      </p:sp>
      <p:sp>
        <p:nvSpPr>
          <p:cNvPr id="31" name="TextBox 30"/>
          <p:cNvSpPr txBox="1"/>
          <p:nvPr/>
        </p:nvSpPr>
        <p:spPr>
          <a:xfrm>
            <a:off x="6812280" y="4279392"/>
            <a:ext cx="1828800" cy="457200"/>
          </a:xfrm>
          <a:prstGeom prst="rect">
            <a:avLst/>
          </a:prstGeom>
          <a:noFill/>
        </p:spPr>
        <p:txBody>
          <a:bodyPr wrap="square" lIns="0" rIns="0" tIns="0" bIns="0" anchor="ctr">
            <a:spAutoFit/>
          </a:bodyPr>
          <a:lstStyle/>
          <a:p>
            <a:pPr algn="l">
              <a:spcAft>
                <a:spcPts val="300"/>
              </a:spcAft>
            </a:pPr>
            <a:r>
              <a:rPr sz="1300" b="0">
                <a:solidFill>
                  <a:srgbClr val="622B14"/>
                </a:solidFill>
                <a:latin typeface="Calibri"/>
              </a:rPr>
              <a:t>UI Design</a:t>
            </a:r>
          </a:p>
        </p:txBody>
      </p:sp>
      <p:sp>
        <p:nvSpPr>
          <p:cNvPr id="32" name="Rounded Rectangle 31"/>
          <p:cNvSpPr/>
          <p:nvPr/>
        </p:nvSpPr>
        <p:spPr>
          <a:xfrm>
            <a:off x="8778240" y="4352544"/>
            <a:ext cx="1828800" cy="310896"/>
          </a:xfrm>
          <a:prstGeom prst="roundRect">
            <a:avLst>
              <a:gd name="adj" fmla="val 50000"/>
            </a:avLst>
          </a:prstGeom>
          <a:solidFill>
            <a:srgbClr val="FFF1DE"/>
          </a:solidFill>
          <a:ln w="952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778240" y="4352544"/>
            <a:ext cx="1828800" cy="310896"/>
          </a:xfrm>
          <a:prstGeom prst="rect">
            <a:avLst/>
          </a:prstGeom>
          <a:noFill/>
        </p:spPr>
        <p:txBody>
          <a:bodyPr wrap="square" lIns="0" rIns="0" tIns="0" bIns="0" anchor="ctr">
            <a:spAutoFit/>
          </a:bodyPr>
          <a:lstStyle/>
          <a:p>
            <a:pPr algn="ctr">
              <a:spcAft>
                <a:spcPts val="300"/>
              </a:spcAft>
            </a:pPr>
            <a:r>
              <a:rPr sz="1100" b="1">
                <a:solidFill>
                  <a:srgbClr val="B45309"/>
                </a:solidFill>
                <a:latin typeface="Calibri"/>
              </a:rPr>
              <a:t>Có điều kiện</a:t>
            </a:r>
          </a:p>
        </p:txBody>
      </p:sp>
      <p:sp>
        <p:nvSpPr>
          <p:cNvPr id="34" name="TextBox 33"/>
          <p:cNvSpPr txBox="1"/>
          <p:nvPr/>
        </p:nvSpPr>
        <p:spPr>
          <a:xfrm>
            <a:off x="6217920" y="4846320"/>
            <a:ext cx="548640" cy="457200"/>
          </a:xfrm>
          <a:prstGeom prst="rect">
            <a:avLst/>
          </a:prstGeom>
          <a:noFill/>
        </p:spPr>
        <p:txBody>
          <a:bodyPr wrap="square" lIns="0" rIns="0" tIns="0" bIns="0" anchor="ctr">
            <a:spAutoFit/>
          </a:bodyPr>
          <a:lstStyle/>
          <a:p>
            <a:pPr algn="l">
              <a:spcAft>
                <a:spcPts val="300"/>
              </a:spcAft>
            </a:pPr>
            <a:r>
              <a:rPr sz="1400" b="1">
                <a:solidFill>
                  <a:srgbClr val="622B14"/>
                </a:solidFill>
                <a:latin typeface="Trebuchet MS"/>
              </a:rPr>
              <a:t>G5</a:t>
            </a:r>
          </a:p>
        </p:txBody>
      </p:sp>
      <p:sp>
        <p:nvSpPr>
          <p:cNvPr id="35" name="TextBox 34"/>
          <p:cNvSpPr txBox="1"/>
          <p:nvPr/>
        </p:nvSpPr>
        <p:spPr>
          <a:xfrm>
            <a:off x="6812280" y="4846320"/>
            <a:ext cx="1828800" cy="457200"/>
          </a:xfrm>
          <a:prstGeom prst="rect">
            <a:avLst/>
          </a:prstGeom>
          <a:noFill/>
        </p:spPr>
        <p:txBody>
          <a:bodyPr wrap="square" lIns="0" rIns="0" tIns="0" bIns="0" anchor="ctr">
            <a:spAutoFit/>
          </a:bodyPr>
          <a:lstStyle/>
          <a:p>
            <a:pPr algn="l">
              <a:spcAft>
                <a:spcPts val="300"/>
              </a:spcAft>
            </a:pPr>
            <a:r>
              <a:rPr sz="1300" b="0">
                <a:solidFill>
                  <a:srgbClr val="622B14"/>
                </a:solidFill>
                <a:latin typeface="Calibri"/>
              </a:rPr>
              <a:t>Validation</a:t>
            </a:r>
          </a:p>
        </p:txBody>
      </p:sp>
      <p:sp>
        <p:nvSpPr>
          <p:cNvPr id="36" name="Rounded Rectangle 35"/>
          <p:cNvSpPr/>
          <p:nvPr/>
        </p:nvSpPr>
        <p:spPr>
          <a:xfrm>
            <a:off x="8778240" y="4919472"/>
            <a:ext cx="1828800" cy="310896"/>
          </a:xfrm>
          <a:prstGeom prst="roundRect">
            <a:avLst>
              <a:gd name="adj" fmla="val 50000"/>
            </a:avLst>
          </a:prstGeom>
          <a:solidFill>
            <a:srgbClr val="FCE8E8"/>
          </a:solidFill>
          <a:ln w="9525">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778240" y="4919472"/>
            <a:ext cx="1828800" cy="310896"/>
          </a:xfrm>
          <a:prstGeom prst="rect">
            <a:avLst/>
          </a:prstGeom>
          <a:noFill/>
        </p:spPr>
        <p:txBody>
          <a:bodyPr wrap="square" lIns="0" rIns="0" tIns="0" bIns="0" anchor="ctr">
            <a:spAutoFit/>
          </a:bodyPr>
          <a:lstStyle/>
          <a:p>
            <a:pPr algn="ctr">
              <a:spcAft>
                <a:spcPts val="300"/>
              </a:spcAft>
            </a:pPr>
            <a:r>
              <a:rPr sz="1100" b="1">
                <a:solidFill>
                  <a:srgbClr val="B91C1C"/>
                </a:solidFill>
                <a:latin typeface="Calibri"/>
              </a:rPr>
              <a:t>Chưa test người</a:t>
            </a:r>
          </a:p>
        </p:txBody>
      </p:sp>
      <p:sp>
        <p:nvSpPr>
          <p:cNvPr id="38" name="TextBox 37"/>
          <p:cNvSpPr txBox="1"/>
          <p:nvPr/>
        </p:nvSpPr>
        <p:spPr>
          <a:xfrm>
            <a:off x="6217920" y="5486400"/>
            <a:ext cx="5212080" cy="640080"/>
          </a:xfrm>
          <a:prstGeom prst="rect">
            <a:avLst/>
          </a:prstGeom>
          <a:noFill/>
        </p:spPr>
        <p:txBody>
          <a:bodyPr wrap="square" lIns="0" rIns="0" tIns="0" bIns="0" anchor="t">
            <a:spAutoFit/>
          </a:bodyPr>
          <a:lstStyle/>
          <a:p>
            <a:pPr algn="l">
              <a:spcAft>
                <a:spcPts val="300"/>
              </a:spcAft>
            </a:pPr>
            <a:r>
              <a:rPr sz="1100" b="0">
                <a:solidFill>
                  <a:srgbClr val="6B5F55"/>
                </a:solidFill>
                <a:latin typeface="Calibri"/>
              </a:rPr>
              <a:t>Gate và ngưỡng 80% là rubric nội bộ của môn, không phải chuẩn quốc tế. Bộ 13 skill trong thư mục skills/ chấm từng gate.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8F5"/>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548640" y="384048"/>
            <a:ext cx="566928" cy="566928"/>
          </a:xfrm>
          <a:prstGeom prst="rect">
            <a:avLst/>
          </a:prstGeom>
        </p:spPr>
      </p:pic>
      <p:sp>
        <p:nvSpPr>
          <p:cNvPr id="3" name="TextBox 2"/>
          <p:cNvSpPr txBox="1"/>
          <p:nvPr/>
        </p:nvSpPr>
        <p:spPr>
          <a:xfrm>
            <a:off x="1280160" y="329184"/>
            <a:ext cx="10241280" cy="548640"/>
          </a:xfrm>
          <a:prstGeom prst="rect">
            <a:avLst/>
          </a:prstGeom>
          <a:noFill/>
        </p:spPr>
        <p:txBody>
          <a:bodyPr wrap="square" lIns="0" rIns="0" tIns="0" bIns="0" anchor="ctr">
            <a:spAutoFit/>
          </a:bodyPr>
          <a:lstStyle/>
          <a:p>
            <a:pPr algn="l">
              <a:spcAft>
                <a:spcPts val="300"/>
              </a:spcAft>
            </a:pPr>
            <a:r>
              <a:rPr sz="2800" b="1">
                <a:solidFill>
                  <a:srgbClr val="622B14"/>
                </a:solidFill>
                <a:latin typeface="Trebuchet MS"/>
              </a:rPr>
              <a:t>Tổng kết</a:t>
            </a:r>
          </a:p>
        </p:txBody>
      </p:sp>
      <p:sp>
        <p:nvSpPr>
          <p:cNvPr id="4" name="TextBox 3"/>
          <p:cNvSpPr txBox="1"/>
          <p:nvPr/>
        </p:nvSpPr>
        <p:spPr>
          <a:xfrm>
            <a:off x="1280160" y="868680"/>
            <a:ext cx="10241280" cy="320040"/>
          </a:xfrm>
          <a:prstGeom prst="rect">
            <a:avLst/>
          </a:prstGeom>
          <a:noFill/>
        </p:spPr>
        <p:txBody>
          <a:bodyPr wrap="square" lIns="0" rIns="0" tIns="0" bIns="0" anchor="t">
            <a:spAutoFit/>
          </a:bodyPr>
          <a:lstStyle/>
          <a:p>
            <a:pPr algn="l">
              <a:spcAft>
                <a:spcPts val="300"/>
              </a:spcAft>
            </a:pPr>
            <a:r>
              <a:rPr sz="1400" b="0">
                <a:solidFill>
                  <a:srgbClr val="6B5F55"/>
                </a:solidFill>
                <a:latin typeface="Calibri"/>
              </a:rPr>
              <a:t>Ăn kịp giờ nghỉ, không phải xếp hàng</a:t>
            </a:r>
          </a:p>
        </p:txBody>
      </p:sp>
      <p:sp>
        <p:nvSpPr>
          <p:cNvPr id="5" name="Rounded Rectangle 4"/>
          <p:cNvSpPr/>
          <p:nvPr/>
        </p:nvSpPr>
        <p:spPr>
          <a:xfrm>
            <a:off x="1280160" y="1207008"/>
            <a:ext cx="822960" cy="45720"/>
          </a:xfrm>
          <a:prstGeom prst="roundRect">
            <a:avLst>
              <a:gd name="adj" fmla="val 50000"/>
            </a:avLst>
          </a:prstGeom>
          <a:solidFill>
            <a:srgbClr val="F69D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28232"/>
            <a:ext cx="8686800" cy="228600"/>
          </a:xfrm>
          <a:prstGeom prst="rect">
            <a:avLst/>
          </a:prstGeom>
          <a:noFill/>
        </p:spPr>
        <p:txBody>
          <a:bodyPr wrap="square" lIns="0" rIns="0" tIns="0" bIns="0" anchor="t">
            <a:spAutoFit/>
          </a:bodyPr>
          <a:lstStyle/>
          <a:p>
            <a:pPr algn="l">
              <a:spcAft>
                <a:spcPts val="300"/>
              </a:spcAft>
            </a:pPr>
            <a:r>
              <a:rPr sz="1000" b="0">
                <a:solidFill>
                  <a:srgbClr val="6B5F55"/>
                </a:solidFill>
                <a:latin typeface="Calibri"/>
              </a:rPr>
              <a:t>Minh chứng: README.md · docs/tien-do/TIEN-DO.md</a:t>
            </a:r>
          </a:p>
        </p:txBody>
      </p:sp>
      <p:sp>
        <p:nvSpPr>
          <p:cNvPr id="7" name="TextBox 6"/>
          <p:cNvSpPr txBox="1"/>
          <p:nvPr/>
        </p:nvSpPr>
        <p:spPr>
          <a:xfrm>
            <a:off x="9692640" y="6428232"/>
            <a:ext cx="1920240" cy="228600"/>
          </a:xfrm>
          <a:prstGeom prst="rect">
            <a:avLst/>
          </a:prstGeom>
          <a:noFill/>
        </p:spPr>
        <p:txBody>
          <a:bodyPr wrap="square" lIns="0" rIns="0" tIns="0" bIns="0" anchor="t">
            <a:spAutoFit/>
          </a:bodyPr>
          <a:lstStyle/>
          <a:p>
            <a:pPr algn="r">
              <a:spcAft>
                <a:spcPts val="300"/>
              </a:spcAft>
            </a:pPr>
            <a:r>
              <a:rPr sz="1000" b="0">
                <a:solidFill>
                  <a:srgbClr val="6B5F55"/>
                </a:solidFill>
                <a:latin typeface="Calibri"/>
              </a:rPr>
              <a:t>BreakBite · 16 / 16</a:t>
            </a:r>
          </a:p>
        </p:txBody>
      </p:sp>
      <p:sp>
        <p:nvSpPr>
          <p:cNvPr id="8" name="Rounded Rectangle 7"/>
          <p:cNvSpPr/>
          <p:nvPr/>
        </p:nvSpPr>
        <p:spPr>
          <a:xfrm>
            <a:off x="548640" y="1463040"/>
            <a:ext cx="3611880" cy="3383280"/>
          </a:xfrm>
          <a:prstGeom prst="roundRect">
            <a:avLst>
              <a:gd name="adj" fmla="val 4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600200"/>
            <a:ext cx="3200400" cy="365760"/>
          </a:xfrm>
          <a:prstGeom prst="rect">
            <a:avLst/>
          </a:prstGeom>
          <a:noFill/>
        </p:spPr>
        <p:txBody>
          <a:bodyPr wrap="square" lIns="0" rIns="0" tIns="0" bIns="0" anchor="t">
            <a:spAutoFit/>
          </a:bodyPr>
          <a:lstStyle/>
          <a:p>
            <a:pPr algn="l">
              <a:spcAft>
                <a:spcPts val="300"/>
              </a:spcAft>
            </a:pPr>
            <a:r>
              <a:rPr sz="1600" b="1">
                <a:solidFill>
                  <a:srgbClr val="622B14"/>
                </a:solidFill>
                <a:latin typeface="Trebuchet MS"/>
              </a:rPr>
              <a:t>AI giúp</a:t>
            </a:r>
          </a:p>
        </p:txBody>
      </p:sp>
      <p:sp>
        <p:nvSpPr>
          <p:cNvPr id="10" name="TextBox 9"/>
          <p:cNvSpPr txBox="1"/>
          <p:nvPr/>
        </p:nvSpPr>
        <p:spPr>
          <a:xfrm>
            <a:off x="777240" y="2103120"/>
            <a:ext cx="3200400" cy="2651760"/>
          </a:xfrm>
          <a:prstGeom prst="rect">
            <a:avLst/>
          </a:prstGeom>
          <a:noFill/>
        </p:spPr>
        <p:txBody>
          <a:bodyPr wrap="square" lIns="0" rIns="0" tIns="0" bIns="0" anchor="t">
            <a:spAutoFit/>
          </a:bodyPr>
          <a:lstStyle/>
          <a:p>
            <a:pPr algn="l">
              <a:spcAft>
                <a:spcPts val="1000"/>
              </a:spcAft>
            </a:pPr>
            <a:r>
              <a:rPr sz="1300" b="0">
                <a:solidFill>
                  <a:srgbClr val="622B14"/>
                </a:solidFill>
                <a:latin typeface="Calibri"/>
              </a:rPr>
              <a:t>Sinh UI ban đầu nhanh (Stitch)</a:t>
            </a:r>
          </a:p>
          <a:p>
            <a:pPr algn="l">
              <a:spcAft>
                <a:spcPts val="1000"/>
              </a:spcAft>
            </a:pPr>
            <a:r>
              <a:rPr sz="1300" b="0">
                <a:solidFill>
                  <a:srgbClr val="622B14"/>
                </a:solidFill>
                <a:latin typeface="Calibri"/>
              </a:rPr>
              <a:t>Mô phỏng phỏng vấn để tạo giả thuyết</a:t>
            </a:r>
          </a:p>
          <a:p>
            <a:pPr algn="l">
              <a:spcAft>
                <a:spcPts val="1000"/>
              </a:spcAft>
            </a:pPr>
            <a:r>
              <a:rPr sz="1300" b="0">
                <a:solidFill>
                  <a:srgbClr val="622B14"/>
                </a:solidFill>
                <a:latin typeface="Calibri"/>
              </a:rPr>
              <a:t>Phản biện theo Nielsen và WCAG</a:t>
            </a:r>
          </a:p>
          <a:p>
            <a:pPr algn="l">
              <a:spcAft>
                <a:spcPts val="1000"/>
              </a:spcAft>
            </a:pPr>
            <a:r>
              <a:rPr sz="1300" b="0">
                <a:solidFill>
                  <a:srgbClr val="622B14"/>
                </a:solidFill>
                <a:latin typeface="Calibri"/>
              </a:rPr>
              <a:t>Ghi log, tổng hợp, soạn tài liệu</a:t>
            </a:r>
          </a:p>
        </p:txBody>
      </p:sp>
      <p:sp>
        <p:nvSpPr>
          <p:cNvPr id="11" name="Rounded Rectangle 10"/>
          <p:cNvSpPr/>
          <p:nvPr/>
        </p:nvSpPr>
        <p:spPr>
          <a:xfrm>
            <a:off x="4297679" y="1463040"/>
            <a:ext cx="3611880" cy="3383280"/>
          </a:xfrm>
          <a:prstGeom prst="roundRect">
            <a:avLst>
              <a:gd name="adj" fmla="val 4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79" y="1600200"/>
            <a:ext cx="3200400" cy="365760"/>
          </a:xfrm>
          <a:prstGeom prst="rect">
            <a:avLst/>
          </a:prstGeom>
          <a:noFill/>
        </p:spPr>
        <p:txBody>
          <a:bodyPr wrap="square" lIns="0" rIns="0" tIns="0" bIns="0" anchor="t">
            <a:spAutoFit/>
          </a:bodyPr>
          <a:lstStyle/>
          <a:p>
            <a:pPr algn="l">
              <a:spcAft>
                <a:spcPts val="300"/>
              </a:spcAft>
            </a:pPr>
            <a:r>
              <a:rPr sz="1600" b="1">
                <a:solidFill>
                  <a:srgbClr val="622B14"/>
                </a:solidFill>
                <a:latin typeface="Trebuchet MS"/>
              </a:rPr>
              <a:t>Nhóm vẫn phải</a:t>
            </a:r>
          </a:p>
        </p:txBody>
      </p:sp>
      <p:sp>
        <p:nvSpPr>
          <p:cNvPr id="13" name="TextBox 12"/>
          <p:cNvSpPr txBox="1"/>
          <p:nvPr/>
        </p:nvSpPr>
        <p:spPr>
          <a:xfrm>
            <a:off x="4526279" y="2103120"/>
            <a:ext cx="3200400" cy="2651760"/>
          </a:xfrm>
          <a:prstGeom prst="rect">
            <a:avLst/>
          </a:prstGeom>
          <a:noFill/>
        </p:spPr>
        <p:txBody>
          <a:bodyPr wrap="square" lIns="0" rIns="0" tIns="0" bIns="0" anchor="t">
            <a:spAutoFit/>
          </a:bodyPr>
          <a:lstStyle/>
          <a:p>
            <a:pPr algn="l">
              <a:spcAft>
                <a:spcPts val="1000"/>
              </a:spcAft>
            </a:pPr>
            <a:r>
              <a:rPr sz="1300" b="0">
                <a:solidFill>
                  <a:srgbClr val="622B14"/>
                </a:solidFill>
                <a:latin typeface="Calibri"/>
              </a:rPr>
              <a:t>Xác định vấn đề, chọn persona có lý do</a:t>
            </a:r>
          </a:p>
          <a:p>
            <a:pPr algn="l">
              <a:spcAft>
                <a:spcPts val="1000"/>
              </a:spcAft>
            </a:pPr>
            <a:r>
              <a:rPr sz="1300" b="0">
                <a:solidFill>
                  <a:srgbClr val="622B14"/>
                </a:solidFill>
                <a:latin typeface="Calibri"/>
              </a:rPr>
              <a:t>Tự đo lại số liệu AI nêu</a:t>
            </a:r>
          </a:p>
          <a:p>
            <a:pPr algn="l">
              <a:spcAft>
                <a:spcPts val="1000"/>
              </a:spcAft>
            </a:pPr>
            <a:r>
              <a:rPr sz="1300" b="0">
                <a:solidFill>
                  <a:srgbClr val="622B14"/>
                </a:solidFill>
                <a:latin typeface="Calibri"/>
              </a:rPr>
              <a:t>Quyết định Accept, Modify, Reject</a:t>
            </a:r>
          </a:p>
          <a:p>
            <a:pPr algn="l">
              <a:spcAft>
                <a:spcPts val="1000"/>
              </a:spcAft>
            </a:pPr>
            <a:r>
              <a:rPr sz="1300" b="0">
                <a:solidFill>
                  <a:srgbClr val="622B14"/>
                </a:solidFill>
                <a:latin typeface="Calibri"/>
              </a:rPr>
              <a:t>Nói rõ phần nào là dữ liệu mô phỏng</a:t>
            </a:r>
          </a:p>
        </p:txBody>
      </p:sp>
      <p:sp>
        <p:nvSpPr>
          <p:cNvPr id="14" name="Rounded Rectangle 13"/>
          <p:cNvSpPr/>
          <p:nvPr/>
        </p:nvSpPr>
        <p:spPr>
          <a:xfrm>
            <a:off x="8046719" y="1463040"/>
            <a:ext cx="3611880" cy="3383280"/>
          </a:xfrm>
          <a:prstGeom prst="roundRect">
            <a:avLst>
              <a:gd name="adj" fmla="val 4000"/>
            </a:avLst>
          </a:prstGeom>
          <a:solidFill>
            <a:srgbClr val="FFFFFF"/>
          </a:solidFill>
          <a:ln w="9525">
            <a:solidFill>
              <a:srgbClr val="E4D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75319" y="1600200"/>
            <a:ext cx="3200400" cy="365760"/>
          </a:xfrm>
          <a:prstGeom prst="rect">
            <a:avLst/>
          </a:prstGeom>
          <a:noFill/>
        </p:spPr>
        <p:txBody>
          <a:bodyPr wrap="square" lIns="0" rIns="0" tIns="0" bIns="0" anchor="t">
            <a:spAutoFit/>
          </a:bodyPr>
          <a:lstStyle/>
          <a:p>
            <a:pPr algn="l">
              <a:spcAft>
                <a:spcPts val="300"/>
              </a:spcAft>
            </a:pPr>
            <a:r>
              <a:rPr sz="1600" b="1">
                <a:solidFill>
                  <a:srgbClr val="B45309"/>
                </a:solidFill>
                <a:latin typeface="Trebuchet MS"/>
              </a:rPr>
              <a:t>Còn lại</a:t>
            </a:r>
          </a:p>
        </p:txBody>
      </p:sp>
      <p:sp>
        <p:nvSpPr>
          <p:cNvPr id="16" name="TextBox 15"/>
          <p:cNvSpPr txBox="1"/>
          <p:nvPr/>
        </p:nvSpPr>
        <p:spPr>
          <a:xfrm>
            <a:off x="8275319" y="2103120"/>
            <a:ext cx="3200400" cy="2651760"/>
          </a:xfrm>
          <a:prstGeom prst="rect">
            <a:avLst/>
          </a:prstGeom>
          <a:noFill/>
        </p:spPr>
        <p:txBody>
          <a:bodyPr wrap="square" lIns="0" rIns="0" tIns="0" bIns="0" anchor="t">
            <a:spAutoFit/>
          </a:bodyPr>
          <a:lstStyle/>
          <a:p>
            <a:pPr algn="l">
              <a:spcAft>
                <a:spcPts val="1000"/>
              </a:spcAft>
            </a:pPr>
            <a:r>
              <a:rPr sz="1300" b="0">
                <a:solidFill>
                  <a:srgbClr val="622B14"/>
                </a:solidFill>
                <a:latin typeface="Calibri"/>
              </a:rPr>
              <a:t>Phản biện độc lập bằng AI khác</a:t>
            </a:r>
          </a:p>
          <a:p>
            <a:pPr algn="l">
              <a:spcAft>
                <a:spcPts val="1000"/>
              </a:spcAft>
            </a:pPr>
            <a:r>
              <a:rPr sz="1300" b="0">
                <a:solidFill>
                  <a:srgbClr val="622B14"/>
                </a:solidFill>
                <a:latin typeface="Calibri"/>
              </a:rPr>
              <a:t>Khảo sát thật từ 30 sinh viên</a:t>
            </a:r>
          </a:p>
          <a:p>
            <a:pPr algn="l">
              <a:spcAft>
                <a:spcPts val="1000"/>
              </a:spcAft>
            </a:pPr>
            <a:r>
              <a:rPr sz="1300" b="0">
                <a:solidFill>
                  <a:srgbClr val="622B14"/>
                </a:solidFill>
                <a:latin typeface="Calibri"/>
              </a:rPr>
              <a:t>Usability test 3–5 người</a:t>
            </a:r>
          </a:p>
          <a:p>
            <a:pPr algn="l">
              <a:spcAft>
                <a:spcPts val="1000"/>
              </a:spcAft>
            </a:pPr>
            <a:r>
              <a:rPr sz="1300" b="0">
                <a:solidFill>
                  <a:srgbClr val="622B14"/>
                </a:solidFill>
                <a:latin typeface="Calibri"/>
              </a:rPr>
              <a:t>Chạy Present trên prototype v2</a:t>
            </a:r>
          </a:p>
        </p:txBody>
      </p:sp>
      <p:sp>
        <p:nvSpPr>
          <p:cNvPr id="17" name="Rounded Rectangle 16"/>
          <p:cNvSpPr/>
          <p:nvPr/>
        </p:nvSpPr>
        <p:spPr>
          <a:xfrm>
            <a:off x="548640" y="5029200"/>
            <a:ext cx="11109960" cy="1188720"/>
          </a:xfrm>
          <a:prstGeom prst="roundRect">
            <a:avLst>
              <a:gd name="adj" fmla="val 10000"/>
            </a:avLst>
          </a:prstGeom>
          <a:solidFill>
            <a:srgbClr val="F69D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029200"/>
            <a:ext cx="11109960" cy="1188720"/>
          </a:xfrm>
          <a:prstGeom prst="rect">
            <a:avLst/>
          </a:prstGeom>
          <a:noFill/>
        </p:spPr>
        <p:txBody>
          <a:bodyPr wrap="square" lIns="0" rIns="0" tIns="0" bIns="0" anchor="ctr">
            <a:spAutoFit/>
          </a:bodyPr>
          <a:lstStyle/>
          <a:p>
            <a:pPr algn="ctr">
              <a:spcAft>
                <a:spcPts val="200"/>
              </a:spcAft>
            </a:pPr>
            <a:r>
              <a:rPr sz="2600" b="1">
                <a:solidFill>
                  <a:srgbClr val="622B14"/>
                </a:solidFill>
                <a:latin typeface="Trebuchet MS"/>
              </a:rPr>
              <a:t>Cảm ơn thầy và các bạn</a:t>
            </a:r>
          </a:p>
          <a:p>
            <a:pPr algn="ctr">
              <a:spcAft>
                <a:spcPts val="200"/>
              </a:spcAft>
            </a:pPr>
            <a:r>
              <a:rPr sz="1500" b="0">
                <a:solidFill>
                  <a:srgbClr val="622B14"/>
                </a:solidFill>
                <a:latin typeface="Calibri"/>
              </a:rPr>
              <a:t>Hỏi đáp · Demo Figma Present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