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94" r:id="rId45"/>
    <p:sldId id="281" r:id="rId27"/>
    <p:sldId id="282" r:id="rId28"/>
    <p:sldId id="295" r:id="rId46"/>
    <p:sldId id="296" r:id="rId47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7" r:id="rId48"/>
    <p:sldId id="292" r:id="rId38"/>
    <p:sldId id="293" r:id="rId39"/>
  </p:sldIdLst>
  <p:notesMasterIdLst>
    <p:notesMasterId r:id="rId4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notesMaster" Target="notesMasters/notesMaster1.xml"/><Relationship Id="rId41" Type="http://schemas.openxmlformats.org/officeDocument/2006/relationships/presProps" Target="presProps.xml"/><Relationship Id="rId42" Type="http://schemas.openxmlformats.org/officeDocument/2006/relationships/viewProps" Target="viewProps.xml"/><Relationship Id="rId43" Type="http://schemas.openxmlformats.org/officeDocument/2006/relationships/theme" Target="theme/theme1.xml"/><Relationship Id="rId44" Type="http://schemas.openxmlformats.org/officeDocument/2006/relationships/tableStyles" Target="tableStyles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6B5B52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6B5B52"/>
                </a:solidFill>
                <a:latin typeface="Calibri"/>
              </a:rPr>
              <a:t>Impact × Feasibility (tối đa 25)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Điểm I × F</c:v>
                </c:pt>
              </c:strCache>
            </c:strRef>
          </c:tx>
          <c:spPr>
            <a:solidFill>
              <a:srgbClr val="F69D39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2E1B12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A · App đặt trước</c:v>
                  </c:pt>
                  <c:pt idx="1">
                    <c:v>B · Web QR</c:v>
                  </c:pt>
                  <c:pt idx="2">
                    <c:v>C · Hàng chờ ảo</c:v>
                  </c:pt>
                  <c:pt idx="3">
                    <c:v>D · Chatbot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20</c:v>
                </c:pt>
                <c:pt idx="1">
                  <c:v>12</c:v>
                </c:pt>
                <c:pt idx="2">
                  <c:v>9</c:v>
                </c:pt>
                <c:pt idx="3">
                  <c:v>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2E1B12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2E1B12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Số nhân vật nhắc (/5)</c:v>
                </c:pt>
              </c:strCache>
            </c:strRef>
          </c:tx>
          <c:spPr>
            <a:solidFill>
              <a:srgbClr val="B45309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2E1B12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Muốn biết trước thời gian, trạng thái quán</c:v>
                  </c:pt>
                  <c:pt idx="1">
                    <c:v>Hàng chờ giờ nghỉ → bỏ bữa, trễ lớp</c:v>
                  </c:pt>
                  <c:pt idx="2">
                    <c:v>Cầm máy một tay, ghét nút trên cao</c:v>
                  </c:pt>
                  <c:pt idx="3">
                    <c:v>App giao không vào được tòa nhà/lab</c:v>
                  </c:pt>
                  <c:pt idx="4">
                    <c:v>Ngại phí ẩn, muốn thấy tổng sớm</c:v>
                  </c:pt>
                  <c:pt idx="5">
                    <c:v>Không muốn đăng ký trước</c:v>
                  </c:pt>
                  <c:pt idx="6">
                    <c:v>Muốn trả tiền mặt khi lấy</c:v>
                  </c:pt>
                  <c:pt idx="7">
                    <c:v>Lỗi thanh toán mất giỏ hàng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4</c:v>
                </c:pt>
                <c:pt idx="1">
                  <c:v>3</c:v>
                </c:pt>
                <c:pt idx="2">
                  <c:v>2</c:v>
                </c:pt>
                <c:pt idx="3">
                  <c:v>2</c:v>
                </c:pt>
                <c:pt idx="4">
                  <c:v>2</c:v>
                </c:pt>
                <c:pt idx="5">
                  <c:v>2</c:v>
                </c:pt>
                <c:pt idx="6">
                  <c:v>2</c:v>
                </c:pt>
                <c:pt idx="7">
                  <c:v>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2E1B12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2E1B12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Kết quả thử (%)</c:v>
                </c:pt>
              </c:strCache>
            </c:strRef>
          </c:tx>
          <c:spPr>
            <a:solidFill>
              <a:srgbClr val="B45309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2E1B12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H1 · Nghỉ ≤ 15 phút (Q5)</c:v>
                  </c:pt>
                  <c:pt idx="1">
                    <c:v>H2 · Bỏ mua ≥ 1 lần/tuần (Q10)</c:v>
                  </c:pt>
                  <c:pt idx="2">
                    <c:v>H2 · Chờ ≥ 6 phút (Q9)</c:v>
                  </c:pt>
                  <c:pt idx="3">
                    <c:v>H4 · Sẵn sàng cài app 4–5 (Q16)</c:v>
                  </c:pt>
                  <c:pt idx="4">
                    <c:v>H5 · Lỗi → tiền mặt / đổi cách trả (Q20)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65</c:v>
                </c:pt>
                <c:pt idx="1">
                  <c:v>61</c:v>
                </c:pt>
                <c:pt idx="2">
                  <c:v>61</c:v>
                </c:pt>
                <c:pt idx="3">
                  <c:v>55</c:v>
                </c:pt>
                <c:pt idx="4">
                  <c:v>67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Ngưỡng (%)</c:v>
                </c:pt>
              </c:strCache>
            </c:strRef>
          </c:tx>
          <c:spPr>
            <a:solidFill>
              <a:srgbClr val="D6CFC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2E1B12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H1 · Nghỉ ≤ 15 phút (Q5)</c:v>
                  </c:pt>
                  <c:pt idx="1">
                    <c:v>H2 · Bỏ mua ≥ 1 lần/tuần (Q10)</c:v>
                  </c:pt>
                  <c:pt idx="2">
                    <c:v>H2 · Chờ ≥ 6 phút (Q9)</c:v>
                  </c:pt>
                  <c:pt idx="3">
                    <c:v>H4 · Sẵn sàng cài app 4–5 (Q16)</c:v>
                  </c:pt>
                  <c:pt idx="4">
                    <c:v>H5 · Lỗi → tiền mặt / đổi cách trả (Q20)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50</c:v>
                </c:pt>
                <c:pt idx="1">
                  <c:v>40</c:v>
                </c:pt>
                <c:pt idx="2">
                  <c:v>50</c:v>
                </c:pt>
                <c:pt idx="3">
                  <c:v>50</c:v>
                </c:pt>
                <c:pt idx="4">
                  <c:v>50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2E1B12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2E1B12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6B5B52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6B5B52"/>
                </a:solidFill>
                <a:latin typeface="Calibri"/>
              </a:rPr>
              <a:t>Số phát hiện theo vòng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Phát hiện</c:v>
                </c:pt>
              </c:strCache>
            </c:strRef>
          </c:tx>
          <c:spPr>
            <a:solidFill>
              <a:srgbClr val="B45309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2E1B12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R0 · Phản biện P0</c:v>
                  </c:pt>
                  <c:pt idx="1">
                    <c:v>R5 · Phản biện P1</c:v>
                  </c:pt>
                  <c:pt idx="2">
                    <c:v>R1 · Critique đầu (Gemini)</c:v>
                  </c:pt>
                  <c:pt idx="3">
                    <c:v>R2 · Đo lại WCAG</c:v>
                  </c:pt>
                  <c:pt idx="4">
                    <c:v>R3 · Phản biện persona</c:v>
                  </c:pt>
                  <c:pt idx="5">
                    <c:v>R4 · Critique bổ sung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5</c:v>
                </c:pt>
                <c:pt idx="1">
                  <c:v>5</c:v>
                </c:pt>
                <c:pt idx="2">
                  <c:v>5</c:v>
                </c:pt>
                <c:pt idx="3">
                  <c:v>1</c:v>
                </c:pt>
                <c:pt idx="4">
                  <c:v>3</c:v>
                </c:pt>
                <c:pt idx="5">
                  <c:v>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2E1B12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2E1B12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Giới thiệu: tên, MSSV, đề tài. Một câu về vấn đề: sinh viên ở KTX có giờ nghỉ ngắn, hàng chờ căn tin làm bỏ bữa hoặc trễ lớp.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Đi nhanh qua 12 phần.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Nêu ý tưởng, ai dùng, và khác gì so với cách mua hiện tại ở căn tin.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Đọc problem statement. Nhấn mạnh đã bỏ phần giải pháp ra khỏi câu vấn đề (quyết định D18).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 4 hướng. Chọn app (20 điểm). Từ chối chuyển sang web QR vì đề bắt buộc app mobile — giữ web làm dự phòng.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Phương pháp chính: khảo sát Google Form 22 câu cho RQ1–RQ5, mỗi câu hỏi về lần gần nhất. Form và sheet phân tích đã chạy thử bằng 20 phản hồi mô phỏng; đang thu phản hồi thật. Giả thuyết ban đầu lấy từ phỏng vấn mô phỏng AI, nhãn Assumed. RQ6 hỏi trực tiếp nhân viên quầy.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Mỗi thanh là số nhân vật nhắc tới ý đó. Nhấn mạnh: đây là giả thuyết; theo NN/g người dùng giả lập dễ đồng thuận hơn người thật.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Đây là chạy thử form và sheet phân tích bằng 20 phản hồi mô phỏng, không phải kết quả thật. Mỗi giả định có ngưỡng đặt trước; khi có phản hồi thật chỉ cần đổi nguồn ở sheet PhanTich là ra kết quả.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Mỗi insight đi kèm nguồn và mức tin cậy, rồi ra một quy tắc thiết kế cụ thể.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Nguyễn Minh Quân: đọc mục tiêu và khó khăn chính. Câu trích là từ phỏng vấn mô phỏng AI, nói rõ điều đó.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Trần Mỹ Linh: đọc mục tiêu và khó khăn chính. Câu trích là từ phỏng vấn mô phỏng AI, nói rõ điều đó.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Cô Hạnh: đọc mục tiêu và khó khăn chính. Câu trích là từ phỏng vấn mô phỏng AI, nói rõ điều đó.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Giải thích vì sao Quân là Primary: nhóm đau nhất và mua ở trường thường xuyên nhất. Anti-persona giúp giới hạn phạm vi.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Entry: Onboarding chỉ hiện lần đầu. Primary: 4 tab dưới đáy. Secondary: Chi tiết, Giỏ, Checkout. Biến thể không tính là màn riêng.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Đây là luồng chính và cũng là luồng dùng để đo chỉ số &lt; 35 giây, ≤ 8 chạm.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Luồng của persona P02 nhạy cảm về giá.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Luồng lỗi bắt buộc. Nói thật: insight của luồng này chỉ có 1 nguồn mô phỏng.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Prompt có đủ 5 phần. Ảnh bên phải là bản Stitch đầu tiên.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Vòng 1. Kể thêm việc tự đo lại và phát hiện AI nói sai.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Vòng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Vòng 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Đọc 6 phát hiện tiêu biểu. Có cả phát hiện mức Cao về tương phản và ảnh giữ chỗ.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Số liệu đếm từ file Excel. Nhấn mạnh có 2 lần từ chối thật.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 ví dụ. Phần Reject: đăng nhập tích điểm bị từ chối vì persona không muốn đăng ký và mục tiêu &lt; 35 giây.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 màn đã áp quyết định trong Figma.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 sánh bố cục khung xám và bản cuối; mỗi màn một hành động chính. Page 02 mới có wireframe cho S01, S02, S04, S06-ERR.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 sánh bố cục khung xám và bản cuối; mỗi màn một hành động chính. Page 02 mới có wireframe cho S01, S02, S04, S06-ERR.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Bốn trạng thái đều lấy từ Figma. Loading tự chuyển sang S07 sau 1,2 giây trong prototype.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Bảng màu đã sửa sau khi đo tương phản. Nói rõ token nào đổi và vì sao.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Mở Figma Page 05 để cho thấy Component Set, thuộc tính State và biến màu gắn sẵn. Nói rõ: màn hình chưa thay bằng instance.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Lần đo đầu bị sai (ghi 3,08:1). Đã đo lại bằng công thức WCAG và đổi token. Chữ 14sp đậm không phải chữ lớn.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Nói thật: màn 412 dp chưa dựng vì màn import là vector phẳng, cần dựng lại bằng Auto Layout. Quy tắc: lề giữ 16 dp, nội dung Fill container, không cuộn ngang. ≥ 600 dp chỉ mô tả trong handoff.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Chuyển sang Figma Present và chạy lần lượt F1, F2, F3.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 từng nhánh lỗi.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Hai bảng ánh xạ toàn cục.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Một lập trình viên chưa biết dự án có thể dựng màn hình chỉ từ handoff.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Kết: một câu giá trị, AI giúp gì, mình làm gì. Mời hỏi đáp.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hyperlink" Target="https://github.com/baonv0817/PRM323-Lab2-Group2" TargetMode="External"/><Relationship Id="rId3" Type="http://schemas.openxmlformats.org/officeDocument/2006/relationships/hyperlink" Target="https://www.figma.com/design/5vloc9G7UcEI9NYJGpTqN0/PRM323--Copy-?node-id=1-260" TargetMode="External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chart" Target="..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chart" Target="..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chart" Target="../charts/chart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image" Target="../media/image-2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image" Target="../media/image-26-3.png"/><Relationship Id="rId4" Type="http://schemas.openxmlformats.org/officeDocument/2006/relationships/image" Target="../media/image-26-4.png"/><Relationship Id="rId5" Type="http://schemas.openxmlformats.org/officeDocument/2006/relationships/image" Target="../media/image-26-5.png"/><Relationship Id="rId6" Type="http://schemas.openxmlformats.org/officeDocument/2006/relationships/image" Target="../media/image-26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image" Target="../media/image-27-3.png"/><Relationship Id="rId4" Type="http://schemas.openxmlformats.org/officeDocument/2006/relationships/image" Target="../media/image-27-4.png"/><Relationship Id="rId5" Type="http://schemas.openxmlformats.org/officeDocument/2006/relationships/image" Target="../media/image-27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image" Target="../media/image-28-3.png"/><Relationship Id="rId4" Type="http://schemas.openxmlformats.org/officeDocument/2006/relationships/image" Target="../media/image-2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image" Target="../media/image-32-2.png"/><Relationship Id="rId3" Type="http://schemas.openxmlformats.org/officeDocument/2006/relationships/image" Target="../media/image-3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2.xml"/><Relationship Id="rId6" Type="http://schemas.openxmlformats.org/officeDocument/2006/relationships/image" Target="../media/image1.png"/><Relationship Id="rId7" Type="http://schemas.openxmlformats.org/officeDocument/2006/relationships/image" Target="../media/image2.png"/><Relationship Id="rId8" Type="http://schemas.openxmlformats.org/officeDocument/2006/relationships/image" Target="../media/image3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image" Target="../media/image-34-2.png"/><Relationship Id="rId3" Type="http://schemas.openxmlformats.org/officeDocument/2006/relationships/image" Target="../media/image-3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7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622B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914400"/>
            <a:ext cx="4754880" cy="4754880"/>
          </a:xfrm>
          <a:prstGeom prst="ellipse">
            <a:avLst/>
          </a:prstGeom>
          <a:solidFill>
            <a:srgbClr val="7A3A20"/>
          </a:solidFill>
          <a:ln w="12700">
            <a:solidFill>
              <a:srgbClr val="7A3A20"/>
            </a:solidFill>
            <a:prstDash val="solid"/>
          </a:ln>
        </p:spPr>
      </p:sp>
      <p:pic>
        <p:nvPicPr>
          <p:cNvPr id="3" name="Image 0" descr="D:\Study\FPTU\Sem8\PRM323\prm393-lab2\assets\stitch\01_initial_stitch_hom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58200" y="1874520"/>
            <a:ext cx="3539843" cy="283464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731520" y="914400"/>
            <a:ext cx="1828800" cy="384048"/>
          </a:xfrm>
          <a:prstGeom prst="roundRect">
            <a:avLst>
              <a:gd name="adj" fmla="val 50000"/>
            </a:avLst>
          </a:prstGeom>
          <a:solidFill>
            <a:srgbClr val="F69D39"/>
          </a:solidFill>
          <a:ln w="12700">
            <a:solidFill>
              <a:srgbClr val="F69D39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31520" y="914400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22B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PRM323 · Lab 2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1554480"/>
            <a:ext cx="6858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BreakBite</a:t>
            </a:r>
            <a:endParaRPr lang="en-US" sz="54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2606040"/>
            <a:ext cx="6766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F3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Đặt món trước, nhận tại quầy — cho sinh viên chỉ có 15 phút giữa hai slot</a:t>
            </a:r>
            <a:endParaRPr lang="en-US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3566160"/>
            <a:ext cx="6766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E0C3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Thiết kế UI/UX có hỗ trợ AI · Google Stitch → Figma → Flutter handoff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731520" y="4480560"/>
            <a:ext cx="65836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E0C3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Nhóm 2 · SE1919 — Nguyễn Viết Bảo (SE183398) · Đỗ Hoàng Gia Bảo (SE193119) · Nguyễn Quốc Hoàng Pháp (SE190175) · Nguyễn Hoàng An (SE193905) · Nguyễn Thành Danh (SE193274)</a:t>
            </a:r>
            <a:pPr algn="l" indent="0" marL="0">
              <a:spcAft>
                <a:spcPts val="600"/>
              </a:spcAft>
              <a:buNone/>
            </a:pPr>
            <a:endParaRPr lang="en-US" sz="15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500" b="1" dirty="0">
                <a:solidFill>
                  <a:srgbClr val="E0C3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GitHub: </a:t>
            </a:r>
            <a:pPr algn="l" indent="0" marL="0">
              <a:spcAft>
                <a:spcPts val="600"/>
              </a:spcAft>
              <a:buNone/>
            </a:pPr>
            <a:r>
              <a:rPr lang="en-US" sz="1500" u="sng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/>
              </a:rPr>
              <a:t>github.com/baonv0817/PRM323-Lab2-Group2</a:t>
            </a:r>
            <a:endParaRPr lang="en-US" sz="15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500" b="1" dirty="0">
                <a:solidFill>
                  <a:srgbClr val="E0C3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Figma: </a:t>
            </a:r>
            <a:pPr algn="l" indent="0" marL="0">
              <a:spcAft>
                <a:spcPts val="600"/>
              </a:spcAft>
              <a:buNone/>
            </a:pPr>
            <a:r>
              <a:rPr lang="en-US" sz="1500" u="sng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/>
              </a:rPr>
              <a:t>Mở file thiết kế (quyền xem)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BF4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840480" cy="6858000"/>
          </a:xfrm>
          <a:prstGeom prst="rect">
            <a:avLst/>
          </a:prstGeom>
          <a:solidFill>
            <a:srgbClr val="622B14"/>
          </a:solidFill>
          <a:ln w="12700">
            <a:solidFill>
              <a:srgbClr val="622B1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2651760"/>
            <a:ext cx="2926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Nội dung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657600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E0C3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phần theo hướng dẫn trình bày Lab 2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4389120" y="86868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69D3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5166360" y="86868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622B1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Project Overview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4389120" y="178308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69D3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2600" dirty="0"/>
          </a:p>
        </p:txBody>
      </p:sp>
      <p:sp>
        <p:nvSpPr>
          <p:cNvPr id="8" name="Text 6"/>
          <p:cNvSpPr txBox="1"/>
          <p:nvPr/>
        </p:nvSpPr>
        <p:spPr>
          <a:xfrm>
            <a:off x="5166360" y="178308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622B1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Problem &amp; Persona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4389120" y="269748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69D3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2600" dirty="0"/>
          </a:p>
        </p:txBody>
      </p:sp>
      <p:sp>
        <p:nvSpPr>
          <p:cNvPr id="10" name="Text 8"/>
          <p:cNvSpPr txBox="1"/>
          <p:nvPr/>
        </p:nvSpPr>
        <p:spPr>
          <a:xfrm>
            <a:off x="5166360" y="269748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622B1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Information Architecture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4389120" y="361188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69D3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2600" dirty="0"/>
          </a:p>
        </p:txBody>
      </p:sp>
      <p:sp>
        <p:nvSpPr>
          <p:cNvPr id="12" name="Text 10"/>
          <p:cNvSpPr txBox="1"/>
          <p:nvPr/>
        </p:nvSpPr>
        <p:spPr>
          <a:xfrm>
            <a:off x="5166360" y="361188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622B1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Main User Flows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4389120" y="452628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69D3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2600" dirty="0"/>
          </a:p>
        </p:txBody>
      </p:sp>
      <p:sp>
        <p:nvSpPr>
          <p:cNvPr id="14" name="Text 12"/>
          <p:cNvSpPr txBox="1"/>
          <p:nvPr/>
        </p:nvSpPr>
        <p:spPr>
          <a:xfrm>
            <a:off x="5166360" y="452628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622B1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 UI Generation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4389120" y="544068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69D3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</a:t>
            </a:r>
            <a:endParaRPr lang="en-US" sz="2600" dirty="0"/>
          </a:p>
        </p:txBody>
      </p:sp>
      <p:sp>
        <p:nvSpPr>
          <p:cNvPr id="16" name="Text 14"/>
          <p:cNvSpPr txBox="1"/>
          <p:nvPr/>
        </p:nvSpPr>
        <p:spPr>
          <a:xfrm>
            <a:off x="5166360" y="544068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622B1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 Iterations &amp; Critique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8275320" y="86868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69D3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07</a:t>
            </a:r>
            <a:endParaRPr lang="en-US" sz="2600" dirty="0"/>
          </a:p>
        </p:txBody>
      </p:sp>
      <p:sp>
        <p:nvSpPr>
          <p:cNvPr id="18" name="Text 16"/>
          <p:cNvSpPr txBox="1"/>
          <p:nvPr/>
        </p:nvSpPr>
        <p:spPr>
          <a:xfrm>
            <a:off x="9052560" y="86868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622B1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Design Decisions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8275320" y="178308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69D3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08</a:t>
            </a:r>
            <a:endParaRPr lang="en-US" sz="2600" dirty="0"/>
          </a:p>
        </p:txBody>
      </p:sp>
      <p:sp>
        <p:nvSpPr>
          <p:cNvPr id="20" name="Text 18"/>
          <p:cNvSpPr txBox="1"/>
          <p:nvPr/>
        </p:nvSpPr>
        <p:spPr>
          <a:xfrm>
            <a:off x="9052560" y="178308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622B1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Wireframe → Final UI</a:t>
            </a:r>
            <a:endParaRPr lang="en-US" sz="1800" dirty="0"/>
          </a:p>
        </p:txBody>
      </p:sp>
      <p:sp>
        <p:nvSpPr>
          <p:cNvPr id="21" name="Text 19"/>
          <p:cNvSpPr txBox="1"/>
          <p:nvPr/>
        </p:nvSpPr>
        <p:spPr>
          <a:xfrm>
            <a:off x="8275320" y="269748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69D3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09</a:t>
            </a:r>
            <a:endParaRPr lang="en-US" sz="2600" dirty="0"/>
          </a:p>
        </p:txBody>
      </p:sp>
      <p:sp>
        <p:nvSpPr>
          <p:cNvPr id="22" name="Text 20"/>
          <p:cNvSpPr txBox="1"/>
          <p:nvPr/>
        </p:nvSpPr>
        <p:spPr>
          <a:xfrm>
            <a:off x="9052560" y="269748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622B1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Design System</a:t>
            </a:r>
            <a:endParaRPr lang="en-US" sz="1800" dirty="0"/>
          </a:p>
        </p:txBody>
      </p:sp>
      <p:sp>
        <p:nvSpPr>
          <p:cNvPr id="23" name="Text 21"/>
          <p:cNvSpPr txBox="1"/>
          <p:nvPr/>
        </p:nvSpPr>
        <p:spPr>
          <a:xfrm>
            <a:off x="8275320" y="361188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69D3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2600" dirty="0"/>
          </a:p>
        </p:txBody>
      </p:sp>
      <p:sp>
        <p:nvSpPr>
          <p:cNvPr id="24" name="Text 22"/>
          <p:cNvSpPr txBox="1"/>
          <p:nvPr/>
        </p:nvSpPr>
        <p:spPr>
          <a:xfrm>
            <a:off x="9052560" y="361188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622B1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Accessibility / Responsive</a:t>
            </a:r>
            <a:endParaRPr lang="en-US" sz="1800" dirty="0"/>
          </a:p>
        </p:txBody>
      </p:sp>
      <p:sp>
        <p:nvSpPr>
          <p:cNvPr id="25" name="Text 23"/>
          <p:cNvSpPr txBox="1"/>
          <p:nvPr/>
        </p:nvSpPr>
        <p:spPr>
          <a:xfrm>
            <a:off x="8275320" y="452628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69D3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</a:t>
            </a:r>
            <a:endParaRPr lang="en-US" sz="2600" dirty="0"/>
          </a:p>
        </p:txBody>
      </p:sp>
      <p:sp>
        <p:nvSpPr>
          <p:cNvPr id="26" name="Text 24"/>
          <p:cNvSpPr txBox="1"/>
          <p:nvPr/>
        </p:nvSpPr>
        <p:spPr>
          <a:xfrm>
            <a:off x="9052560" y="452628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622B1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Live Prototype</a:t>
            </a:r>
            <a:endParaRPr lang="en-US" sz="1800" dirty="0"/>
          </a:p>
        </p:txBody>
      </p:sp>
      <p:sp>
        <p:nvSpPr>
          <p:cNvPr id="27" name="Text 25"/>
          <p:cNvSpPr txBox="1"/>
          <p:nvPr/>
        </p:nvSpPr>
        <p:spPr>
          <a:xfrm>
            <a:off x="8275320" y="544068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69D3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</a:t>
            </a:r>
            <a:endParaRPr lang="en-US" sz="2600" dirty="0"/>
          </a:p>
        </p:txBody>
      </p:sp>
      <p:sp>
        <p:nvSpPr>
          <p:cNvPr id="28" name="Text 26"/>
          <p:cNvSpPr txBox="1"/>
          <p:nvPr/>
        </p:nvSpPr>
        <p:spPr>
          <a:xfrm>
            <a:off x="9052560" y="544068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622B1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Flutter Handoff &amp; Summary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BF4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640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69D3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1143000" y="347472"/>
            <a:ext cx="9875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622B1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Project Overview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BREAKBITE — APP ĐẶT TRƯỚC, NHẬN TẠI QUẦY TRONG TRƯỜNG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1908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Minh chứng: README.md · ux/p0-problem-framing.md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11247120" y="64190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548640" y="1463040"/>
            <a:ext cx="5486400" cy="132588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9525">
            <a:solidFill>
              <a:srgbClr val="E8D9C6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31520" y="1627632"/>
            <a:ext cx="5120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622B1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Ý tưởng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731520" y="2084832"/>
            <a:ext cx="512064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đặt món cho quán BreakBite (mì trộn, tacos, nước). Sinh viên đặt và trả tiền trước, hẹn giờ, tới quầy lấy theo mã — không xếp hàng.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548640" y="2926080"/>
            <a:ext cx="5486400" cy="132588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9525">
            <a:solidFill>
              <a:srgbClr val="E8D9C6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31520" y="3090672"/>
            <a:ext cx="5120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622B1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Người dùng chính</a:t>
            </a:r>
            <a:endParaRPr lang="en-US" sz="1600" dirty="0"/>
          </a:p>
        </p:txBody>
      </p:sp>
      <p:sp>
        <p:nvSpPr>
          <p:cNvPr id="13" name="Text 10"/>
          <p:cNvSpPr txBox="1"/>
          <p:nvPr/>
        </p:nvSpPr>
        <p:spPr>
          <a:xfrm>
            <a:off x="731520" y="3547872"/>
            <a:ext cx="512064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Sinh viên ở ký túc xá, lịch học dày, chỉ có khoảng 15 phút giữa hai slot (persona P01).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548640" y="4389120"/>
            <a:ext cx="548640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9525">
            <a:solidFill>
              <a:srgbClr val="E8D9C6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31520" y="4553712"/>
            <a:ext cx="5120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622B1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Phạm vi</a:t>
            </a:r>
            <a:endParaRPr lang="en-US" sz="1600" dirty="0"/>
          </a:p>
        </p:txBody>
      </p:sp>
      <p:sp>
        <p:nvSpPr>
          <p:cNvPr id="16" name="Text 13"/>
          <p:cNvSpPr txBox="1"/>
          <p:nvPr/>
        </p:nvSpPr>
        <p:spPr>
          <a:xfrm>
            <a:off x="731520" y="5010912"/>
            <a:ext cx="5120640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2E1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màn app khách + 15 màn app người bán · 360 × 800 dp, có bản 412 dp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2E1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system: Variables + component set có variant · prototype Figma nối cả hai app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2E1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Handoff Flutter (không viết code)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6309360" y="1463040"/>
            <a:ext cx="5349240" cy="4709160"/>
          </a:xfrm>
          <a:prstGeom prst="roundRect">
            <a:avLst>
              <a:gd name="adj" fmla="val 1942"/>
            </a:avLst>
          </a:prstGeom>
          <a:solidFill>
            <a:srgbClr val="FFF5E5"/>
          </a:solidFill>
          <a:ln w="9525">
            <a:solidFill>
              <a:srgbClr val="E8D9C6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537960" y="1627632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622B1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Khác gì cách mua hiện tại?</a:t>
            </a:r>
            <a:endParaRPr lang="en-US" sz="18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37960" y="2148840"/>
          <a:ext cx="489204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1828800"/>
                <a:gridCol w="196596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22B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Căn tin hôm nay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22B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BreakBite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22B14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E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Gọi món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E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Xếp hàng đúng giờ nghỉ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580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Đặt trước từ lớp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E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Biết trước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E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Đi tới nơi mới biết đông / hết món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580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Trạng thái quán, còn món, thời gian chờ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E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Trả tiền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E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Chờ quầy kiểm chuyển khoản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580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Trả trong app, lỗi vẫn giữ giỏ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E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Nhận món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E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Nghe gọi số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580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Lấy theo mã, giờ hẹn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0" name="Text 16"/>
          <p:cNvSpPr txBox="1"/>
          <p:nvPr/>
        </p:nvSpPr>
        <p:spPr>
          <a:xfrm>
            <a:off x="6537960" y="5440680"/>
            <a:ext cx="4892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Nguồn: ux/p1-research.md mục 4 · hành trình hiện tại (Assumed)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BF4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640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69D3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1143000" y="347472"/>
            <a:ext cx="9875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622B1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Problem &amp; Persona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VẤN ĐỀ CỐT LÕI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1908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Minh chứng: ux/p0-problem-framing.md mục 1 · ux/p1-research.md mục 3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11247120" y="64190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548640" y="1463040"/>
            <a:ext cx="11109960" cy="1234440"/>
          </a:xfrm>
          <a:prstGeom prst="roundRect">
            <a:avLst>
              <a:gd name="adj" fmla="val 7407"/>
            </a:avLst>
          </a:prstGeom>
          <a:solidFill>
            <a:srgbClr val="622B14"/>
          </a:solidFill>
          <a:ln w="9525">
            <a:solidFill>
              <a:srgbClr val="622B14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22960" y="1554480"/>
            <a:ext cx="10607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0C3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statement  </a:t>
            </a:r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Sinh viên ở ký túc xá có lịch học dày thường không mua kịp đồ ăn trong giờ nghỉ ngắn giữa hai slot, khi hàng chờ ở căn tin dồn đúng giờ nghỉ chung, nên họ bỏ bữa hoặc vào lớp trễ.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28803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ĐIỂM ĐAU CỐT LÕI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548640" y="3246120"/>
            <a:ext cx="2651760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8D9C6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731520" y="3429000"/>
            <a:ext cx="548640" cy="548640"/>
          </a:xfrm>
          <a:prstGeom prst="ellipse">
            <a:avLst/>
          </a:prstGeom>
          <a:solidFill>
            <a:srgbClr val="F69D39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731520" y="34290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1417320" y="3429000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622B1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Hàng chờ đúng giờ nghỉ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731520" y="411480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Bỏ bữa hoặc vào lớp trễ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731520" y="468172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INS-01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3383280" y="3246120"/>
            <a:ext cx="2651760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8D9C6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3566160" y="3429000"/>
            <a:ext cx="548640" cy="548640"/>
          </a:xfrm>
          <a:prstGeom prst="ellipse">
            <a:avLst/>
          </a:prstGeom>
          <a:solidFill>
            <a:srgbClr val="F69D39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3566160" y="34290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4251960" y="3429000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622B1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Không biết trước</a:t>
            </a:r>
            <a:endParaRPr lang="en-US" sz="1500" dirty="0"/>
          </a:p>
        </p:txBody>
      </p:sp>
      <p:sp>
        <p:nvSpPr>
          <p:cNvPr id="21" name="Text 18"/>
          <p:cNvSpPr txBox="1"/>
          <p:nvPr/>
        </p:nvSpPr>
        <p:spPr>
          <a:xfrm>
            <a:off x="3566160" y="411480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Quán mở/đóng, còn món, bao lâu xong</a:t>
            </a:r>
            <a:endParaRPr lang="en-US" sz="1300" dirty="0"/>
          </a:p>
        </p:txBody>
      </p:sp>
      <p:sp>
        <p:nvSpPr>
          <p:cNvPr id="22" name="Text 19"/>
          <p:cNvSpPr txBox="1"/>
          <p:nvPr/>
        </p:nvSpPr>
        <p:spPr>
          <a:xfrm>
            <a:off x="3566160" y="468172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INS-02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6217920" y="3246120"/>
            <a:ext cx="2651760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8D9C6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6400800" y="3429000"/>
            <a:ext cx="548640" cy="548640"/>
          </a:xfrm>
          <a:prstGeom prst="ellipse">
            <a:avLst/>
          </a:prstGeom>
          <a:solidFill>
            <a:srgbClr val="F69D39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400800" y="34290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7086600" y="3429000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622B1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Phí phát sinh</a:t>
            </a:r>
            <a:endParaRPr lang="en-US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6400800" y="411480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Tổng tiền chỉ hiện ở bước cuối</a:t>
            </a:r>
            <a:endParaRPr lang="en-US" sz="1300" dirty="0"/>
          </a:p>
        </p:txBody>
      </p:sp>
      <p:sp>
        <p:nvSpPr>
          <p:cNvPr id="28" name="Text 25"/>
          <p:cNvSpPr txBox="1"/>
          <p:nvPr/>
        </p:nvSpPr>
        <p:spPr>
          <a:xfrm>
            <a:off x="6400800" y="468172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INS-04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9052560" y="3246120"/>
            <a:ext cx="2651760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8D9C6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9235440" y="3429000"/>
            <a:ext cx="548640" cy="548640"/>
          </a:xfrm>
          <a:prstGeom prst="ellipse">
            <a:avLst/>
          </a:prstGeom>
          <a:solidFill>
            <a:srgbClr val="B91C1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9235440" y="34290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400" dirty="0"/>
          </a:p>
        </p:txBody>
      </p:sp>
      <p:sp>
        <p:nvSpPr>
          <p:cNvPr id="32" name="Text 29"/>
          <p:cNvSpPr txBox="1"/>
          <p:nvPr/>
        </p:nvSpPr>
        <p:spPr>
          <a:xfrm>
            <a:off x="9921240" y="3429000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622B1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Lỗi thanh toán</a:t>
            </a:r>
            <a:endParaRPr lang="en-US" sz="1500" dirty="0"/>
          </a:p>
        </p:txBody>
      </p:sp>
      <p:sp>
        <p:nvSpPr>
          <p:cNvPr id="33" name="Text 30"/>
          <p:cNvSpPr txBox="1"/>
          <p:nvPr/>
        </p:nvSpPr>
        <p:spPr>
          <a:xfrm>
            <a:off x="9235440" y="411480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Mất giỏ hàng khi mạng yếu</a:t>
            </a:r>
            <a:endParaRPr lang="en-US" sz="1300" dirty="0"/>
          </a:p>
        </p:txBody>
      </p:sp>
      <p:sp>
        <p:nvSpPr>
          <p:cNvPr id="34" name="Text 31"/>
          <p:cNvSpPr txBox="1"/>
          <p:nvPr/>
        </p:nvSpPr>
        <p:spPr>
          <a:xfrm>
            <a:off x="9235440" y="468172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INS-06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548640" y="5257800"/>
            <a:ext cx="11109960" cy="960120"/>
          </a:xfrm>
          <a:prstGeom prst="roundRect">
            <a:avLst>
              <a:gd name="adj" fmla="val 9524"/>
            </a:avLst>
          </a:prstGeom>
          <a:solidFill>
            <a:srgbClr val="FFF5E5"/>
          </a:solidFill>
          <a:ln w="9525">
            <a:solidFill>
              <a:srgbClr val="E8D9C6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22960" y="5303520"/>
            <a:ext cx="10607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B4530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might we… </a:t>
            </a:r>
            <a:pPr algn="l" indent="0" marL="0">
              <a:buNone/>
            </a:pPr>
            <a:r>
              <a:rPr lang="en-US" sz="1700" dirty="0">
                <a:solidFill>
                  <a:srgbClr val="2E1B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Làm sao để sinh viên có đồ ăn trong giờ nghỉ ngắn mà không phải xếp hàng?</a:t>
            </a:r>
            <a:endParaRPr lang="en-US" sz="1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BF4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640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69D3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1143000" y="347472"/>
            <a:ext cx="9875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622B1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Problem &amp; Persona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P0 · CÁC HƯỚNG ĐÃ CÂN NHẮC — IMPACT × FEASIBILITY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1908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Minh chứng: ux/p0-problem-framing.md mục 2 · quyết định D20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11247120" y="64190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5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548640" y="1463040"/>
          <a:ext cx="585216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5"/>
          <p:cNvSpPr/>
          <p:nvPr/>
        </p:nvSpPr>
        <p:spPr>
          <a:xfrm>
            <a:off x="6675120" y="1463040"/>
            <a:ext cx="4983480" cy="160020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E8D9C6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6858000" y="1627632"/>
            <a:ext cx="1005840" cy="292608"/>
          </a:xfrm>
          <a:prstGeom prst="roundRect">
            <a:avLst>
              <a:gd name="adj" fmla="val 50000"/>
            </a:avLst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6858000" y="1627632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CHỌN</a:t>
            </a:r>
            <a:endParaRPr lang="en-US" sz="1100" dirty="0"/>
          </a:p>
        </p:txBody>
      </p:sp>
      <p:sp>
        <p:nvSpPr>
          <p:cNvPr id="12" name="Text 8"/>
          <p:cNvSpPr txBox="1"/>
          <p:nvPr/>
        </p:nvSpPr>
        <p:spPr>
          <a:xfrm>
            <a:off x="6858000" y="201168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622B1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Chọn A · App đặt trước</a:t>
            </a:r>
            <a:endParaRPr lang="en-US" sz="1600" dirty="0"/>
          </a:p>
        </p:txBody>
      </p:sp>
      <p:sp>
        <p:nvSpPr>
          <p:cNvPr id="13" name="Text 9"/>
          <p:cNvSpPr txBox="1"/>
          <p:nvPr/>
        </p:nvSpPr>
        <p:spPr>
          <a:xfrm>
            <a:off x="6858000" y="2468880"/>
            <a:ext cx="4617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Gỡ được cả hai pain point chính (thời gian + thông tin) và khớp phạm vi Lab 2 (app mobile, handoff Flutter).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675120" y="3200400"/>
            <a:ext cx="4983480" cy="160020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E8D9C6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6858000" y="3364992"/>
            <a:ext cx="1234440" cy="292608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6858000" y="3364992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DỰ PHÒNG</a:t>
            </a:r>
            <a:endParaRPr lang="en-US" sz="1100" dirty="0"/>
          </a:p>
        </p:txBody>
      </p:sp>
      <p:sp>
        <p:nvSpPr>
          <p:cNvPr id="17" name="Text 13"/>
          <p:cNvSpPr txBox="1"/>
          <p:nvPr/>
        </p:nvSpPr>
        <p:spPr>
          <a:xfrm>
            <a:off x="6858000" y="374904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622B1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Giữ B · Web QR làm dự phòng</a:t>
            </a:r>
            <a:endParaRPr lang="en-US" sz="1600" dirty="0"/>
          </a:p>
        </p:txBody>
      </p:sp>
      <p:sp>
        <p:nvSpPr>
          <p:cNvPr id="18" name="Text 14"/>
          <p:cNvSpPr txBox="1"/>
          <p:nvPr/>
        </p:nvSpPr>
        <p:spPr>
          <a:xfrm>
            <a:off x="6858000" y="4206240"/>
            <a:ext cx="4617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Phỏng vấn mô phỏng A3 ngại cài thêm app → rủi ro R2.</a:t>
            </a:r>
            <a:endParaRPr lang="en-US" sz="1300" dirty="0"/>
          </a:p>
        </p:txBody>
      </p:sp>
      <p:sp>
        <p:nvSpPr>
          <p:cNvPr id="19" name="Shape 15"/>
          <p:cNvSpPr/>
          <p:nvPr/>
        </p:nvSpPr>
        <p:spPr>
          <a:xfrm>
            <a:off x="6675120" y="4937760"/>
            <a:ext cx="4983480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9525">
            <a:solidFill>
              <a:srgbClr val="E8D9C6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6858000" y="5102352"/>
            <a:ext cx="1005840" cy="292608"/>
          </a:xfrm>
          <a:prstGeom prst="roundRect">
            <a:avLst>
              <a:gd name="adj" fmla="val 50000"/>
            </a:avLst>
          </a:prstGeom>
          <a:solidFill>
            <a:srgbClr val="B91C1C"/>
          </a:solidFill>
          <a:ln w="12700">
            <a:solidFill>
              <a:srgbClr val="B91C1C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6858000" y="5102352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REJECT</a:t>
            </a:r>
            <a:endParaRPr lang="en-US" sz="1100" dirty="0"/>
          </a:p>
        </p:txBody>
      </p:sp>
      <p:sp>
        <p:nvSpPr>
          <p:cNvPr id="22" name="Text 18"/>
          <p:cNvSpPr txBox="1"/>
          <p:nvPr/>
        </p:nvSpPr>
        <p:spPr>
          <a:xfrm>
            <a:off x="6858000" y="548640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622B1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D20 · Từ chối chuyển sang B</a:t>
            </a:r>
            <a:endParaRPr lang="en-US" sz="1600" dirty="0"/>
          </a:p>
        </p:txBody>
      </p:sp>
      <p:sp>
        <p:nvSpPr>
          <p:cNvPr id="23" name="Text 19"/>
          <p:cNvSpPr txBox="1"/>
          <p:nvPr/>
        </p:nvSpPr>
        <p:spPr>
          <a:xfrm>
            <a:off x="6858000" y="5943600"/>
            <a:ext cx="4617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Ràng buộc thật: đề yêu cầu app mobile 360 × 800 dp.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BF4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640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69D3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1143000" y="347472"/>
            <a:ext cx="9875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622B1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Problem &amp; Persona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 · RESEARCH — PHƯƠNG PHÁP &amp; CÂU HỎI NGHIÊN CỨU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1908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Minh chứng: ux/p1-research.md mục 1–2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11247120" y="64190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548640" y="1463040"/>
            <a:ext cx="5669280" cy="4754880"/>
          </a:xfrm>
          <a:prstGeom prst="roundRect">
            <a:avLst>
              <a:gd name="adj" fmla="val 1923"/>
            </a:avLst>
          </a:prstGeom>
          <a:solidFill>
            <a:srgbClr val="FFFFFF"/>
          </a:solidFill>
          <a:ln w="9525">
            <a:solidFill>
              <a:srgbClr val="E8D9C6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77240" y="1600200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CÂU HỎI NGHIÊN CỨU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777240" y="2011680"/>
            <a:ext cx="5212080" cy="548640"/>
          </a:xfrm>
          <a:prstGeom prst="roundRect">
            <a:avLst>
              <a:gd name="adj" fmla="val 16667"/>
            </a:avLst>
          </a:prstGeom>
          <a:solidFill>
            <a:srgbClr val="FFF5E5"/>
          </a:solidFill>
          <a:ln w="9525">
            <a:solidFill>
              <a:srgbClr val="FFF5E5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914400" y="2011680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RQ1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1600200" y="2011680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2E1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Giữa hai slot thật sự có bao nhiêu phút?</a:t>
            </a:r>
            <a:endParaRPr lang="en-US" sz="1350" dirty="0"/>
          </a:p>
        </p:txBody>
      </p:sp>
      <p:sp>
        <p:nvSpPr>
          <p:cNvPr id="13" name="Shape 10"/>
          <p:cNvSpPr/>
          <p:nvPr/>
        </p:nvSpPr>
        <p:spPr>
          <a:xfrm>
            <a:off x="777240" y="2670048"/>
            <a:ext cx="5212080" cy="548640"/>
          </a:xfrm>
          <a:prstGeom prst="roundRect">
            <a:avLst>
              <a:gd name="adj" fmla="val 16667"/>
            </a:avLst>
          </a:prstGeom>
          <a:solidFill>
            <a:srgbClr val="FFF5E5"/>
          </a:solidFill>
          <a:ln w="9525">
            <a:solidFill>
              <a:srgbClr val="FFF5E5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914400" y="2670048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RQ2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1600200" y="2670048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2E1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Hàng chờ dài bao lâu, có làm bỏ mua không?</a:t>
            </a:r>
            <a:endParaRPr lang="en-US" sz="1350" dirty="0"/>
          </a:p>
        </p:txBody>
      </p:sp>
      <p:sp>
        <p:nvSpPr>
          <p:cNvPr id="16" name="Shape 13"/>
          <p:cNvSpPr/>
          <p:nvPr/>
        </p:nvSpPr>
        <p:spPr>
          <a:xfrm>
            <a:off x="777240" y="3328416"/>
            <a:ext cx="5212080" cy="548640"/>
          </a:xfrm>
          <a:prstGeom prst="roundRect">
            <a:avLst>
              <a:gd name="adj" fmla="val 16667"/>
            </a:avLst>
          </a:prstGeom>
          <a:solidFill>
            <a:srgbClr val="FFF5E5"/>
          </a:solidFill>
          <a:ln w="9525">
            <a:solidFill>
              <a:srgbClr val="FFF5E5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914400" y="332841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RQ3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1600200" y="3328416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2E1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Cần biết gì trước khi quyết định mua?</a:t>
            </a:r>
            <a:endParaRPr lang="en-US" sz="1350" dirty="0"/>
          </a:p>
        </p:txBody>
      </p:sp>
      <p:sp>
        <p:nvSpPr>
          <p:cNvPr id="19" name="Shape 16"/>
          <p:cNvSpPr/>
          <p:nvPr/>
        </p:nvSpPr>
        <p:spPr>
          <a:xfrm>
            <a:off x="777240" y="3986784"/>
            <a:ext cx="5212080" cy="548640"/>
          </a:xfrm>
          <a:prstGeom prst="roundRect">
            <a:avLst>
              <a:gd name="adj" fmla="val 16667"/>
            </a:avLst>
          </a:prstGeom>
          <a:solidFill>
            <a:srgbClr val="FFF5E5"/>
          </a:solidFill>
          <a:ln w="9525">
            <a:solidFill>
              <a:srgbClr val="FFF5E5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914400" y="3986784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RQ4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1600200" y="3986784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2E1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 chịu cài app riêng của quán không?</a:t>
            </a:r>
            <a:endParaRPr lang="en-US" sz="1350" dirty="0"/>
          </a:p>
        </p:txBody>
      </p:sp>
      <p:sp>
        <p:nvSpPr>
          <p:cNvPr id="22" name="Shape 19"/>
          <p:cNvSpPr/>
          <p:nvPr/>
        </p:nvSpPr>
        <p:spPr>
          <a:xfrm>
            <a:off x="777240" y="4645152"/>
            <a:ext cx="5212080" cy="548640"/>
          </a:xfrm>
          <a:prstGeom prst="roundRect">
            <a:avLst>
              <a:gd name="adj" fmla="val 16667"/>
            </a:avLst>
          </a:prstGeom>
          <a:solidFill>
            <a:srgbClr val="FFF5E5"/>
          </a:solidFill>
          <a:ln w="9525">
            <a:solidFill>
              <a:srgbClr val="FFF5E5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914400" y="4645152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RQ5</a:t>
            </a:r>
            <a:endParaRPr lang="en-US" sz="1200" dirty="0"/>
          </a:p>
        </p:txBody>
      </p:sp>
      <p:sp>
        <p:nvSpPr>
          <p:cNvPr id="24" name="Text 21"/>
          <p:cNvSpPr txBox="1"/>
          <p:nvPr/>
        </p:nvSpPr>
        <p:spPr>
          <a:xfrm>
            <a:off x="1600200" y="4645152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2E1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Khi thanh toán lỗi, đã làm gì?</a:t>
            </a:r>
            <a:endParaRPr lang="en-US" sz="1350" dirty="0"/>
          </a:p>
        </p:txBody>
      </p:sp>
      <p:sp>
        <p:nvSpPr>
          <p:cNvPr id="25" name="Shape 22"/>
          <p:cNvSpPr/>
          <p:nvPr/>
        </p:nvSpPr>
        <p:spPr>
          <a:xfrm>
            <a:off x="777240" y="5303520"/>
            <a:ext cx="5212080" cy="548640"/>
          </a:xfrm>
          <a:prstGeom prst="roundRect">
            <a:avLst>
              <a:gd name="adj" fmla="val 16667"/>
            </a:avLst>
          </a:prstGeom>
          <a:solidFill>
            <a:srgbClr val="FFF5E5"/>
          </a:solidFill>
          <a:ln w="9525">
            <a:solidFill>
              <a:srgbClr val="FFF5E5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914400" y="5303520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RQ6</a:t>
            </a:r>
            <a:endParaRPr lang="en-US" sz="1200" dirty="0"/>
          </a:p>
        </p:txBody>
      </p:sp>
      <p:sp>
        <p:nvSpPr>
          <p:cNvPr id="27" name="Text 24"/>
          <p:cNvSpPr txBox="1"/>
          <p:nvPr/>
        </p:nvSpPr>
        <p:spPr>
          <a:xfrm>
            <a:off x="1600200" y="5303520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2E1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Quầy có làm kịp đơn dồn giờ nghỉ không?</a:t>
            </a:r>
            <a:endParaRPr lang="en-US" sz="1350" dirty="0"/>
          </a:p>
        </p:txBody>
      </p:sp>
      <p:sp>
        <p:nvSpPr>
          <p:cNvPr id="28" name="Shape 25"/>
          <p:cNvSpPr/>
          <p:nvPr/>
        </p:nvSpPr>
        <p:spPr>
          <a:xfrm>
            <a:off x="6492240" y="1463040"/>
            <a:ext cx="5166360" cy="1078992"/>
          </a:xfrm>
          <a:prstGeom prst="roundRect">
            <a:avLst>
              <a:gd name="adj" fmla="val 8475"/>
            </a:avLst>
          </a:prstGeom>
          <a:solidFill>
            <a:srgbClr val="FFFFFF"/>
          </a:solidFill>
          <a:ln w="9525">
            <a:solidFill>
              <a:srgbClr val="E8D9C6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6675120" y="1572768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622B1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Khảo sát Google Form</a:t>
            </a:r>
            <a:endParaRPr lang="en-US" sz="1500" dirty="0"/>
          </a:p>
        </p:txBody>
      </p:sp>
      <p:sp>
        <p:nvSpPr>
          <p:cNvPr id="30" name="Text 27"/>
          <p:cNvSpPr txBox="1"/>
          <p:nvPr/>
        </p:nvSpPr>
        <p:spPr>
          <a:xfrm>
            <a:off x="6675120" y="1965960"/>
            <a:ext cx="2880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 câu · RQ1–RQ5 · mục tiêu ≥ 30 SV</a:t>
            </a:r>
            <a:endParaRPr lang="en-US" sz="1250" dirty="0"/>
          </a:p>
        </p:txBody>
      </p:sp>
      <p:sp>
        <p:nvSpPr>
          <p:cNvPr id="31" name="Shape 28"/>
          <p:cNvSpPr/>
          <p:nvPr/>
        </p:nvSpPr>
        <p:spPr>
          <a:xfrm>
            <a:off x="9646920" y="1810512"/>
            <a:ext cx="1874520" cy="384048"/>
          </a:xfrm>
          <a:prstGeom prst="roundRect">
            <a:avLst>
              <a:gd name="adj" fmla="val 50000"/>
            </a:avLst>
          </a:prstGeom>
          <a:solidFill>
            <a:srgbClr val="B91C1C"/>
          </a:solidFill>
          <a:ln w="12700">
            <a:solidFill>
              <a:srgbClr val="B91C1C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9646920" y="1810512"/>
            <a:ext cx="1874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Đang thu phản hồi</a:t>
            </a:r>
            <a:endParaRPr lang="en-US" sz="1300" dirty="0"/>
          </a:p>
        </p:txBody>
      </p:sp>
      <p:sp>
        <p:nvSpPr>
          <p:cNvPr id="33" name="Shape 30"/>
          <p:cNvSpPr/>
          <p:nvPr/>
        </p:nvSpPr>
        <p:spPr>
          <a:xfrm>
            <a:off x="6492240" y="2670048"/>
            <a:ext cx="5166360" cy="1078992"/>
          </a:xfrm>
          <a:prstGeom prst="roundRect">
            <a:avLst>
              <a:gd name="adj" fmla="val 8475"/>
            </a:avLst>
          </a:prstGeom>
          <a:solidFill>
            <a:srgbClr val="FFFFFF"/>
          </a:solidFill>
          <a:ln w="9525">
            <a:solidFill>
              <a:srgbClr val="E8D9C6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6675120" y="2779776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622B1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Chạy thử form + sheet</a:t>
            </a:r>
            <a:endParaRPr lang="en-US" sz="1500" dirty="0"/>
          </a:p>
        </p:txBody>
      </p:sp>
      <p:sp>
        <p:nvSpPr>
          <p:cNvPr id="35" name="Text 32"/>
          <p:cNvSpPr txBox="1"/>
          <p:nvPr/>
        </p:nvSpPr>
        <p:spPr>
          <a:xfrm>
            <a:off x="6675120" y="3172968"/>
            <a:ext cx="2880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phản hồi mô phỏng, kiểm ngưỡng H1–H5</a:t>
            </a:r>
            <a:endParaRPr lang="en-US" sz="1250" dirty="0"/>
          </a:p>
        </p:txBody>
      </p:sp>
      <p:sp>
        <p:nvSpPr>
          <p:cNvPr id="36" name="Shape 33"/>
          <p:cNvSpPr/>
          <p:nvPr/>
        </p:nvSpPr>
        <p:spPr>
          <a:xfrm>
            <a:off x="9646920" y="3017520"/>
            <a:ext cx="1874520" cy="384048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9646920" y="3017520"/>
            <a:ext cx="1874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Đã làm · SIM-S</a:t>
            </a:r>
            <a:endParaRPr lang="en-US" sz="1300" dirty="0"/>
          </a:p>
        </p:txBody>
      </p:sp>
      <p:sp>
        <p:nvSpPr>
          <p:cNvPr id="38" name="Shape 35"/>
          <p:cNvSpPr/>
          <p:nvPr/>
        </p:nvSpPr>
        <p:spPr>
          <a:xfrm>
            <a:off x="6492240" y="3877056"/>
            <a:ext cx="5166360" cy="1078992"/>
          </a:xfrm>
          <a:prstGeom prst="roundRect">
            <a:avLst>
              <a:gd name="adj" fmla="val 8475"/>
            </a:avLst>
          </a:prstGeom>
          <a:solidFill>
            <a:srgbClr val="FFFFFF"/>
          </a:solidFill>
          <a:ln w="9525">
            <a:solidFill>
              <a:srgbClr val="E8D9C6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6675120" y="3986784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622B1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Phỏng vấn mô phỏng AI</a:t>
            </a:r>
            <a:endParaRPr lang="en-US" sz="1500" dirty="0"/>
          </a:p>
        </p:txBody>
      </p:sp>
      <p:sp>
        <p:nvSpPr>
          <p:cNvPr id="40" name="Text 37"/>
          <p:cNvSpPr txBox="1"/>
          <p:nvPr/>
        </p:nvSpPr>
        <p:spPr>
          <a:xfrm>
            <a:off x="6675120" y="4379976"/>
            <a:ext cx="2880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hồ sơ SV — tạo giả thuyết</a:t>
            </a:r>
            <a:endParaRPr lang="en-US" sz="1250" dirty="0"/>
          </a:p>
        </p:txBody>
      </p:sp>
      <p:sp>
        <p:nvSpPr>
          <p:cNvPr id="41" name="Shape 38"/>
          <p:cNvSpPr/>
          <p:nvPr/>
        </p:nvSpPr>
        <p:spPr>
          <a:xfrm>
            <a:off x="9646920" y="4224528"/>
            <a:ext cx="1874520" cy="384048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9646920" y="4224528"/>
            <a:ext cx="1874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Đã làm · SIM-A1…A5</a:t>
            </a:r>
            <a:endParaRPr lang="en-US" sz="1300" dirty="0"/>
          </a:p>
        </p:txBody>
      </p:sp>
      <p:sp>
        <p:nvSpPr>
          <p:cNvPr id="43" name="Shape 40"/>
          <p:cNvSpPr/>
          <p:nvPr/>
        </p:nvSpPr>
        <p:spPr>
          <a:xfrm>
            <a:off x="6492240" y="5084064"/>
            <a:ext cx="5166360" cy="1078992"/>
          </a:xfrm>
          <a:prstGeom prst="roundRect">
            <a:avLst>
              <a:gd name="adj" fmla="val 8475"/>
            </a:avLst>
          </a:prstGeom>
          <a:solidFill>
            <a:srgbClr val="FFFFFF"/>
          </a:solidFill>
          <a:ln w="9525">
            <a:solidFill>
              <a:srgbClr val="E8D9C6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6675120" y="519379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622B1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Hỏi nhân viên quầy</a:t>
            </a:r>
            <a:endParaRPr lang="en-US" sz="1500" dirty="0"/>
          </a:p>
        </p:txBody>
      </p:sp>
      <p:sp>
        <p:nvSpPr>
          <p:cNvPr id="45" name="Text 42"/>
          <p:cNvSpPr txBox="1"/>
          <p:nvPr/>
        </p:nvSpPr>
        <p:spPr>
          <a:xfrm>
            <a:off x="6675120" y="5586984"/>
            <a:ext cx="2880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RQ6 — quầy, bếp, đơn dồn giờ nghỉ</a:t>
            </a:r>
            <a:endParaRPr lang="en-US" sz="1250" dirty="0"/>
          </a:p>
        </p:txBody>
      </p:sp>
      <p:sp>
        <p:nvSpPr>
          <p:cNvPr id="46" name="Shape 43"/>
          <p:cNvSpPr/>
          <p:nvPr/>
        </p:nvSpPr>
        <p:spPr>
          <a:xfrm>
            <a:off x="9646920" y="5431536"/>
            <a:ext cx="1874520" cy="384048"/>
          </a:xfrm>
          <a:prstGeom prst="roundRect">
            <a:avLst>
              <a:gd name="adj" fmla="val 50000"/>
            </a:avLst>
          </a:prstGeom>
          <a:solidFill>
            <a:srgbClr val="B91C1C"/>
          </a:solidFill>
          <a:ln w="12700">
            <a:solidFill>
              <a:srgbClr val="B91C1C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9646920" y="5431536"/>
            <a:ext cx="1874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Kế hoạch · chưa làm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BF4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640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69D3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1143000" y="347472"/>
            <a:ext cx="9875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622B1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Problem &amp; Persona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KẾT QUẢ PHỎNG VẤN MÔ PHỎNG AI · N = 5 NHÂN VẬT (CHƯA PHẢI DỮ LIỆU THẬT)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1908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Minh chứng: ux/research.md mục 3 · ai/ai-persona-interviews.md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11247120" y="64190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5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548640" y="1417320"/>
          <a:ext cx="7498080" cy="4846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5"/>
          <p:cNvSpPr/>
          <p:nvPr/>
        </p:nvSpPr>
        <p:spPr>
          <a:xfrm>
            <a:off x="8321040" y="1463040"/>
            <a:ext cx="3337560" cy="1261872"/>
          </a:xfrm>
          <a:prstGeom prst="roundRect">
            <a:avLst>
              <a:gd name="adj" fmla="val 7246"/>
            </a:avLst>
          </a:prstGeom>
          <a:solidFill>
            <a:srgbClr val="FFFFFF"/>
          </a:solidFill>
          <a:ln w="9525">
            <a:solidFill>
              <a:srgbClr val="E8D9C6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8503920" y="1554480"/>
            <a:ext cx="1371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622B1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4/5</a:t>
            </a:r>
            <a:endParaRPr lang="en-US" sz="3400" dirty="0"/>
          </a:p>
        </p:txBody>
      </p:sp>
      <p:sp>
        <p:nvSpPr>
          <p:cNvPr id="11" name="Text 7"/>
          <p:cNvSpPr txBox="1"/>
          <p:nvPr/>
        </p:nvSpPr>
        <p:spPr>
          <a:xfrm>
            <a:off x="9829800" y="1554480"/>
            <a:ext cx="17373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muốn biết trước trạng thái quán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8321040" y="2880360"/>
            <a:ext cx="3337560" cy="1261872"/>
          </a:xfrm>
          <a:prstGeom prst="roundRect">
            <a:avLst>
              <a:gd name="adj" fmla="val 7246"/>
            </a:avLst>
          </a:prstGeom>
          <a:solidFill>
            <a:srgbClr val="FFFFFF"/>
          </a:solidFill>
          <a:ln w="9525">
            <a:solidFill>
              <a:srgbClr val="E8D9C6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8503920" y="2971800"/>
            <a:ext cx="1371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622B1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3/5</a:t>
            </a:r>
            <a:endParaRPr lang="en-US" sz="3400" dirty="0"/>
          </a:p>
        </p:txBody>
      </p:sp>
      <p:sp>
        <p:nvSpPr>
          <p:cNvPr id="14" name="Text 10"/>
          <p:cNvSpPr txBox="1"/>
          <p:nvPr/>
        </p:nvSpPr>
        <p:spPr>
          <a:xfrm>
            <a:off x="9829800" y="2971800"/>
            <a:ext cx="17373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từng bỏ mua vì hàng chờ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21040" y="4297680"/>
            <a:ext cx="3337560" cy="1261872"/>
          </a:xfrm>
          <a:prstGeom prst="roundRect">
            <a:avLst>
              <a:gd name="adj" fmla="val 7246"/>
            </a:avLst>
          </a:prstGeom>
          <a:solidFill>
            <a:srgbClr val="FFFFFF"/>
          </a:solidFill>
          <a:ln w="9525">
            <a:solidFill>
              <a:srgbClr val="E8D9C6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8503920" y="4389120"/>
            <a:ext cx="1371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B91C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1/5</a:t>
            </a:r>
            <a:endParaRPr lang="en-US" sz="3400" dirty="0"/>
          </a:p>
        </p:txBody>
      </p:sp>
      <p:sp>
        <p:nvSpPr>
          <p:cNvPr id="17" name="Text 13"/>
          <p:cNvSpPr txBox="1"/>
          <p:nvPr/>
        </p:nvSpPr>
        <p:spPr>
          <a:xfrm>
            <a:off x="9829800" y="4389120"/>
            <a:ext cx="17373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nguồn duy nhất của insight lỗi thanh toán</a:t>
            </a:r>
            <a:endParaRPr lang="en-US" sz="1300" dirty="0"/>
          </a:p>
        </p:txBody>
      </p:sp>
      <p:sp>
        <p:nvSpPr>
          <p:cNvPr id="18" name="Text 14"/>
          <p:cNvSpPr txBox="1"/>
          <p:nvPr/>
        </p:nvSpPr>
        <p:spPr>
          <a:xfrm>
            <a:off x="8321040" y="5760720"/>
            <a:ext cx="3337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Dữ liệu mô phỏng, nhãn Assumed — không dùng để khẳng định tỉ lệ.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BF4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640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69D3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1143000" y="347472"/>
            <a:ext cx="9875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622B1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Problem &amp; Persona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KHẢO SÁT GOOGLE FORM · CHẠY THỬ N = 20 (DỮ LIỆU MÔ PHỎNG)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1908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Minh chứng: ux/survey/khao-sat-cau-hoi.md · ux/survey/ket-qua-khao-sat.xlsx · ux/p1-research.md mục 2.1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11247120" y="64190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5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548640" y="1417320"/>
          <a:ext cx="7498080" cy="4343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5"/>
          <p:cNvSpPr/>
          <p:nvPr/>
        </p:nvSpPr>
        <p:spPr>
          <a:xfrm>
            <a:off x="8321040" y="1463040"/>
            <a:ext cx="3337560" cy="123444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9525">
            <a:solidFill>
              <a:srgbClr val="E8D9C6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8503920" y="1554480"/>
            <a:ext cx="1463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622B1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4,5/5</a:t>
            </a:r>
            <a:endParaRPr lang="en-US" sz="3000" dirty="0"/>
          </a:p>
        </p:txBody>
      </p:sp>
      <p:sp>
        <p:nvSpPr>
          <p:cNvPr id="11" name="Text 7"/>
          <p:cNvSpPr txBox="1"/>
          <p:nvPr/>
        </p:nvSpPr>
        <p:spPr>
          <a:xfrm>
            <a:off x="9966960" y="1554480"/>
            <a:ext cx="1645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mức quan trọng của thời gian chờ (H3)</a:t>
            </a:r>
            <a:endParaRPr lang="en-US" sz="1250" dirty="0"/>
          </a:p>
        </p:txBody>
      </p:sp>
      <p:sp>
        <p:nvSpPr>
          <p:cNvPr id="12" name="Shape 8"/>
          <p:cNvSpPr/>
          <p:nvPr/>
        </p:nvSpPr>
        <p:spPr>
          <a:xfrm>
            <a:off x="8321040" y="2834640"/>
            <a:ext cx="3337560" cy="123444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9525">
            <a:solidFill>
              <a:srgbClr val="E8D9C6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8503920" y="2926080"/>
            <a:ext cx="1463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622B1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0/20</a:t>
            </a:r>
            <a:endParaRPr lang="en-US" sz="3000" dirty="0"/>
          </a:p>
        </p:txBody>
      </p:sp>
      <p:sp>
        <p:nvSpPr>
          <p:cNvPr id="14" name="Text 10"/>
          <p:cNvSpPr txBox="1"/>
          <p:nvPr/>
        </p:nvSpPr>
        <p:spPr>
          <a:xfrm>
            <a:off x="9966960" y="2926080"/>
            <a:ext cx="1645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biết trước phải chờ bao lâu</a:t>
            </a:r>
            <a:endParaRPr lang="en-US" sz="1250" dirty="0"/>
          </a:p>
        </p:txBody>
      </p:sp>
      <p:sp>
        <p:nvSpPr>
          <p:cNvPr id="15" name="Shape 11"/>
          <p:cNvSpPr/>
          <p:nvPr/>
        </p:nvSpPr>
        <p:spPr>
          <a:xfrm>
            <a:off x="8321040" y="4206240"/>
            <a:ext cx="3337560" cy="123444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9525">
            <a:solidFill>
              <a:srgbClr val="E8D9C6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8503920" y="4297680"/>
            <a:ext cx="1463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622B1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9/20</a:t>
            </a:r>
            <a:endParaRPr lang="en-US" sz="3000" dirty="0"/>
          </a:p>
        </p:txBody>
      </p:sp>
      <p:sp>
        <p:nvSpPr>
          <p:cNvPr id="17" name="Text 13"/>
          <p:cNvSpPr txBox="1"/>
          <p:nvPr/>
        </p:nvSpPr>
        <p:spPr>
          <a:xfrm>
            <a:off x="9966960" y="4297680"/>
            <a:ext cx="1645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ngại cài vì phải đăng ký tài khoản</a:t>
            </a:r>
            <a:endParaRPr lang="en-US" sz="1250" dirty="0"/>
          </a:p>
        </p:txBody>
      </p:sp>
      <p:sp>
        <p:nvSpPr>
          <p:cNvPr id="18" name="Shape 14"/>
          <p:cNvSpPr/>
          <p:nvPr/>
        </p:nvSpPr>
        <p:spPr>
          <a:xfrm>
            <a:off x="548640" y="5806440"/>
            <a:ext cx="11109960" cy="457200"/>
          </a:xfrm>
          <a:prstGeom prst="roundRect">
            <a:avLst>
              <a:gd name="adj" fmla="val 20000"/>
            </a:avLst>
          </a:prstGeom>
          <a:solidFill>
            <a:srgbClr val="FDECEC"/>
          </a:solidFill>
          <a:ln w="9525">
            <a:solidFill>
              <a:srgbClr val="FDECEC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731520" y="580644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Dữ liệu mô phỏng (SIM-S01…S20) để kiểm form và sheet — nhãn Assumed, không dùng làm bằng chứng. Đang thu phản hồi thật.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BF4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640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69D3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1143000" y="347472"/>
            <a:ext cx="9875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622B1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Problem &amp; Persona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INSIGHT → QUYẾT ĐỊNH THIẾT KẾ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1908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Minh chứng: ux/p1-research.md mục 3 · ux/persona-mapping.xlsx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11247120" y="64190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548640" y="1463040"/>
            <a:ext cx="5486400" cy="146304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E8D9C6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77240" y="1572768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622B1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INS-01 · Hàng chờ giờ nghỉ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777240" y="196596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BẰNG CHỨNG  SIM-A1, A2, A5 · tin cậy thấp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777240" y="2304288"/>
            <a:ext cx="5029200" cy="502920"/>
          </a:xfrm>
          <a:prstGeom prst="roundRect">
            <a:avLst>
              <a:gd name="adj" fmla="val 18182"/>
            </a:avLst>
          </a:prstGeom>
          <a:solidFill>
            <a:srgbClr val="F6E7D3"/>
          </a:solidFill>
          <a:ln w="9525">
            <a:solidFill>
              <a:srgbClr val="F6E7D3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914400" y="2304288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THIẾT KẾ  </a:t>
            </a:r>
            <a:pPr algn="l" indent="0" marL="0">
              <a:buNone/>
            </a:pPr>
            <a:r>
              <a:rPr lang="en-US" sz="1250" dirty="0">
                <a:solidFill>
                  <a:srgbClr val="2E1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Đặt trước + hẹn giờ nhận (S05)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6172200" y="1463040"/>
            <a:ext cx="5486400" cy="146304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E8D9C6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400800" y="1572768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622B1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INS-02 · Cần biết trước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6400800" y="196596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BẰNG CHỨNG  SIM-A1, A3, A4, A5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6400800" y="2304288"/>
            <a:ext cx="5029200" cy="502920"/>
          </a:xfrm>
          <a:prstGeom prst="roundRect">
            <a:avLst>
              <a:gd name="adj" fmla="val 18182"/>
            </a:avLst>
          </a:prstGeom>
          <a:solidFill>
            <a:srgbClr val="F6E7D3"/>
          </a:solidFill>
          <a:ln w="9525">
            <a:solidFill>
              <a:srgbClr val="F6E7D3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537960" y="2304288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THIẾT KẾ  </a:t>
            </a:r>
            <a:pPr algn="l" indent="0" marL="0">
              <a:buNone/>
            </a:pPr>
            <a:r>
              <a:rPr lang="en-US" sz="1250" dirty="0">
                <a:solidFill>
                  <a:srgbClr val="2E1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Badge trạng thái Kiosk + thời gian ước tính (S02)</a:t>
            </a:r>
            <a:endParaRPr lang="en-US" sz="1250" dirty="0"/>
          </a:p>
        </p:txBody>
      </p:sp>
      <p:sp>
        <p:nvSpPr>
          <p:cNvPr id="18" name="Shape 15"/>
          <p:cNvSpPr/>
          <p:nvPr/>
        </p:nvSpPr>
        <p:spPr>
          <a:xfrm>
            <a:off x="548640" y="3063240"/>
            <a:ext cx="5486400" cy="146304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E8D9C6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777240" y="3172968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622B1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INS-04 · Ngại phí ẩn</a:t>
            </a:r>
            <a:endParaRPr lang="en-US" sz="1500" dirty="0"/>
          </a:p>
        </p:txBody>
      </p:sp>
      <p:sp>
        <p:nvSpPr>
          <p:cNvPr id="20" name="Text 17"/>
          <p:cNvSpPr txBox="1"/>
          <p:nvPr/>
        </p:nvSpPr>
        <p:spPr>
          <a:xfrm>
            <a:off x="777240" y="356616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BẰNG CHỨNG  SIM-A1, A2</a:t>
            </a:r>
            <a:endParaRPr lang="en-US" sz="1150" dirty="0"/>
          </a:p>
        </p:txBody>
      </p:sp>
      <p:sp>
        <p:nvSpPr>
          <p:cNvPr id="21" name="Shape 18"/>
          <p:cNvSpPr/>
          <p:nvPr/>
        </p:nvSpPr>
        <p:spPr>
          <a:xfrm>
            <a:off x="777240" y="3904488"/>
            <a:ext cx="5029200" cy="502920"/>
          </a:xfrm>
          <a:prstGeom prst="roundRect">
            <a:avLst>
              <a:gd name="adj" fmla="val 18182"/>
            </a:avLst>
          </a:prstGeom>
          <a:solidFill>
            <a:srgbClr val="F6E7D3"/>
          </a:solidFill>
          <a:ln w="9525">
            <a:solidFill>
              <a:srgbClr val="F6E7D3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914400" y="3904488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THIẾT KẾ  </a:t>
            </a:r>
            <a:pPr algn="l" indent="0" marL="0">
              <a:buNone/>
            </a:pPr>
            <a:r>
              <a:rPr lang="en-US" sz="1250" dirty="0">
                <a:solidFill>
                  <a:srgbClr val="2E1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Giá cộng dồn trên nút CTA, tổng ở giỏ (S04, S05)</a:t>
            </a:r>
            <a:endParaRPr lang="en-US" sz="1250" dirty="0"/>
          </a:p>
        </p:txBody>
      </p:sp>
      <p:sp>
        <p:nvSpPr>
          <p:cNvPr id="23" name="Shape 20"/>
          <p:cNvSpPr/>
          <p:nvPr/>
        </p:nvSpPr>
        <p:spPr>
          <a:xfrm>
            <a:off x="6172200" y="3063240"/>
            <a:ext cx="5486400" cy="146304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E8D9C6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400800" y="3172968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622B1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INS-05 · Không muốn đăng ký</a:t>
            </a:r>
            <a:endParaRPr lang="en-US" sz="1500" dirty="0"/>
          </a:p>
        </p:txBody>
      </p:sp>
      <p:sp>
        <p:nvSpPr>
          <p:cNvPr id="25" name="Text 22"/>
          <p:cNvSpPr txBox="1"/>
          <p:nvPr/>
        </p:nvSpPr>
        <p:spPr>
          <a:xfrm>
            <a:off x="6400800" y="356616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BẰNG CHỨNG  SIM-A1, A3</a:t>
            </a:r>
            <a:endParaRPr lang="en-US" sz="1150" dirty="0"/>
          </a:p>
        </p:txBody>
      </p:sp>
      <p:sp>
        <p:nvSpPr>
          <p:cNvPr id="26" name="Shape 23"/>
          <p:cNvSpPr/>
          <p:nvPr/>
        </p:nvSpPr>
        <p:spPr>
          <a:xfrm>
            <a:off x="6400800" y="3904488"/>
            <a:ext cx="5029200" cy="502920"/>
          </a:xfrm>
          <a:prstGeom prst="roundRect">
            <a:avLst>
              <a:gd name="adj" fmla="val 18182"/>
            </a:avLst>
          </a:prstGeom>
          <a:solidFill>
            <a:srgbClr val="F6E7D3"/>
          </a:solidFill>
          <a:ln w="9525">
            <a:solidFill>
              <a:srgbClr val="F6E7D3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6537960" y="3904488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THIẾT KẾ  </a:t>
            </a:r>
            <a:pPr algn="l" indent="0" marL="0">
              <a:buNone/>
            </a:pPr>
            <a:r>
              <a:rPr lang="en-US" sz="1250" dirty="0">
                <a:solidFill>
                  <a:srgbClr val="2E1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Xem menu không cần tài khoản; từ chối đăng nhập tích điểm (D12)</a:t>
            </a:r>
            <a:endParaRPr lang="en-US" sz="1250" dirty="0"/>
          </a:p>
        </p:txBody>
      </p:sp>
      <p:sp>
        <p:nvSpPr>
          <p:cNvPr id="28" name="Shape 25"/>
          <p:cNvSpPr/>
          <p:nvPr/>
        </p:nvSpPr>
        <p:spPr>
          <a:xfrm>
            <a:off x="548640" y="4663440"/>
            <a:ext cx="5486400" cy="146304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E8D9C6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777240" y="4773168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622B1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INS-06 · Lỗi thanh toán</a:t>
            </a:r>
            <a:endParaRPr lang="en-US" sz="1500" dirty="0"/>
          </a:p>
        </p:txBody>
      </p:sp>
      <p:sp>
        <p:nvSpPr>
          <p:cNvPr id="30" name="Text 27"/>
          <p:cNvSpPr txBox="1"/>
          <p:nvPr/>
        </p:nvSpPr>
        <p:spPr>
          <a:xfrm>
            <a:off x="777240" y="516636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BẰNG CHỨNG  SIM-A5 (1 nguồn)</a:t>
            </a:r>
            <a:endParaRPr lang="en-US" sz="1150" dirty="0"/>
          </a:p>
        </p:txBody>
      </p:sp>
      <p:sp>
        <p:nvSpPr>
          <p:cNvPr id="31" name="Shape 28"/>
          <p:cNvSpPr/>
          <p:nvPr/>
        </p:nvSpPr>
        <p:spPr>
          <a:xfrm>
            <a:off x="777240" y="5504688"/>
            <a:ext cx="5029200" cy="502920"/>
          </a:xfrm>
          <a:prstGeom prst="roundRect">
            <a:avLst>
              <a:gd name="adj" fmla="val 18182"/>
            </a:avLst>
          </a:prstGeom>
          <a:solidFill>
            <a:srgbClr val="F6E7D3"/>
          </a:solidFill>
          <a:ln w="9525">
            <a:solidFill>
              <a:srgbClr val="F6E7D3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914400" y="5504688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THIẾT KẾ  </a:t>
            </a:r>
            <a:pPr algn="l" indent="0" marL="0">
              <a:buNone/>
            </a:pPr>
            <a:r>
              <a:rPr lang="en-US" sz="1250" dirty="0">
                <a:solidFill>
                  <a:srgbClr val="2E1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Màn phục hồi giữ giỏ, Thử lại / Tiền mặt (S06-ERR)</a:t>
            </a:r>
            <a:endParaRPr lang="en-US" sz="1250" dirty="0"/>
          </a:p>
        </p:txBody>
      </p:sp>
      <p:sp>
        <p:nvSpPr>
          <p:cNvPr id="33" name="Shape 30"/>
          <p:cNvSpPr/>
          <p:nvPr/>
        </p:nvSpPr>
        <p:spPr>
          <a:xfrm>
            <a:off x="6172200" y="4663440"/>
            <a:ext cx="5486400" cy="146304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E8D9C6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6400800" y="4773168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622B1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Thao tác một tay</a:t>
            </a:r>
            <a:endParaRPr lang="en-US" sz="1500" dirty="0"/>
          </a:p>
        </p:txBody>
      </p:sp>
      <p:sp>
        <p:nvSpPr>
          <p:cNvPr id="35" name="Text 32"/>
          <p:cNvSpPr txBox="1"/>
          <p:nvPr/>
        </p:nvSpPr>
        <p:spPr>
          <a:xfrm>
            <a:off x="6400800" y="516636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BẰNG CHỨNG  SIM-A1, A5</a:t>
            </a:r>
            <a:endParaRPr lang="en-US" sz="1150" dirty="0"/>
          </a:p>
        </p:txBody>
      </p:sp>
      <p:sp>
        <p:nvSpPr>
          <p:cNvPr id="36" name="Shape 33"/>
          <p:cNvSpPr/>
          <p:nvPr/>
        </p:nvSpPr>
        <p:spPr>
          <a:xfrm>
            <a:off x="6400800" y="5504688"/>
            <a:ext cx="5029200" cy="502920"/>
          </a:xfrm>
          <a:prstGeom prst="roundRect">
            <a:avLst>
              <a:gd name="adj" fmla="val 18182"/>
            </a:avLst>
          </a:prstGeom>
          <a:solidFill>
            <a:srgbClr val="F6E7D3"/>
          </a:solidFill>
          <a:ln w="9525">
            <a:solidFill>
              <a:srgbClr val="F6E7D3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6537960" y="5504688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THIẾT KẾ  </a:t>
            </a:r>
            <a:pPr algn="l" indent="0" marL="0">
              <a:buNone/>
            </a:pPr>
            <a:r>
              <a:rPr lang="en-US" sz="1250" dirty="0">
                <a:solidFill>
                  <a:srgbClr val="2E1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CTA ở đáy, vùng chạm ≥ 48 dp (DESIGN.md)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BF4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640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69D3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1143000" y="347472"/>
            <a:ext cx="9875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622B1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Problem &amp; Persona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 · PERSONA CHÍNH (PRIMARY)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1908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Minh chứng: ux/persona.md (12 trường lõi)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11247120" y="64190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548640" y="1463040"/>
            <a:ext cx="6035040" cy="4754880"/>
          </a:xfrm>
          <a:prstGeom prst="roundRect">
            <a:avLst>
              <a:gd name="adj" fmla="val 1923"/>
            </a:avLst>
          </a:prstGeom>
          <a:solidFill>
            <a:srgbClr val="FFF5E5"/>
          </a:solidFill>
          <a:ln w="9525">
            <a:solidFill>
              <a:srgbClr val="E8D9C6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822960" y="1737360"/>
            <a:ext cx="868680" cy="868680"/>
          </a:xfrm>
          <a:prstGeom prst="ellipse">
            <a:avLst/>
          </a:prstGeom>
          <a:solidFill>
            <a:srgbClr val="622B14"/>
          </a:solidFill>
          <a:ln w="12700">
            <a:solidFill>
              <a:srgbClr val="622B14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822960" y="173736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</a:t>
            </a:r>
            <a:endParaRPr lang="en-US" sz="2200" dirty="0"/>
          </a:p>
        </p:txBody>
      </p:sp>
      <p:sp>
        <p:nvSpPr>
          <p:cNvPr id="11" name="Text 8"/>
          <p:cNvSpPr txBox="1"/>
          <p:nvPr/>
        </p:nvSpPr>
        <p:spPr>
          <a:xfrm>
            <a:off x="1874520" y="1719072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622B1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Nguyễn Minh Quân</a:t>
            </a:r>
            <a:endParaRPr lang="en-US" sz="2600" dirty="0"/>
          </a:p>
        </p:txBody>
      </p:sp>
      <p:sp>
        <p:nvSpPr>
          <p:cNvPr id="12" name="Text 9"/>
          <p:cNvSpPr txBox="1"/>
          <p:nvPr/>
        </p:nvSpPr>
        <p:spPr>
          <a:xfrm>
            <a:off x="1874520" y="22402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tuổi · SV năm 2 KTPM · ở ký túc xá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822960" y="2788920"/>
            <a:ext cx="1463040" cy="384048"/>
          </a:xfrm>
          <a:prstGeom prst="roundRect">
            <a:avLst>
              <a:gd name="adj" fmla="val 50000"/>
            </a:avLst>
          </a:prstGeom>
          <a:solidFill>
            <a:srgbClr val="622B14"/>
          </a:solidFill>
          <a:ln w="12700">
            <a:solidFill>
              <a:srgbClr val="622B14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822960" y="2788920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822960" y="3337560"/>
            <a:ext cx="55778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2E1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Học 3 slot/ngày, nghỉ ~15 phút, ~5 phút đi bộ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2E1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Android tầm trung, 360–412 dp, cầm máy một tay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2E1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Trả bằng QR ngân hàng; mạng trong tòa nhà chập chờn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2E1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Mục tiêu: đặt xong &lt; 35 giây, ≤ 8 chạm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6812280" y="1463040"/>
            <a:ext cx="4846320" cy="4754880"/>
          </a:xfrm>
          <a:prstGeom prst="roundRect">
            <a:avLst>
              <a:gd name="adj" fmla="val 1923"/>
            </a:avLst>
          </a:prstGeom>
          <a:solidFill>
            <a:srgbClr val="FFFFFF"/>
          </a:solidFill>
          <a:ln w="9525">
            <a:solidFill>
              <a:srgbClr val="E8D9C6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040880" y="1645920"/>
            <a:ext cx="438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622B1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Khó khăn chính</a:t>
            </a:r>
            <a:endParaRPr lang="en-US" sz="1700" dirty="0"/>
          </a:p>
        </p:txBody>
      </p:sp>
      <p:sp>
        <p:nvSpPr>
          <p:cNvPr id="18" name="Text 15"/>
          <p:cNvSpPr txBox="1"/>
          <p:nvPr/>
        </p:nvSpPr>
        <p:spPr>
          <a:xfrm>
            <a:off x="7040880" y="2148840"/>
            <a:ext cx="43891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2E1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Hàng chờ đúng giờ nghỉ → bỏ bữa, trễ lớp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2E1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Không biết quán mở, còn món, bao lâu xong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2E1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Nút nhỏ hoặc ở trên cao, khó bấm khi đi bộ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2E1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Không muốn đăng ký chỉ để xem menu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7040880" y="4343400"/>
            <a:ext cx="4389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i="1" dirty="0">
                <a:solidFill>
                  <a:srgbClr val="B4530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“Thấy hàng dài là bỏ luôn, nhịn tới trưa.”</a:t>
            </a:r>
            <a:endParaRPr lang="en-US" sz="1500" dirty="0"/>
          </a:p>
        </p:txBody>
      </p:sp>
      <p:sp>
        <p:nvSpPr>
          <p:cNvPr id="20" name="Text 17"/>
          <p:cNvSpPr txBox="1"/>
          <p:nvPr/>
        </p:nvSpPr>
        <p:spPr>
          <a:xfrm>
            <a:off x="7040880" y="562356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Câu nói đại diện — Phỏng vấn mô phỏng AI (SIM-A1)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BF4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640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69D3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1143000" y="347472"/>
            <a:ext cx="9875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622B1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Problem &amp; Persona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P2 · PERSONA PHỤ (SECONDARY)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1908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Minh chứng: ux/persona.md (12 trường lõi)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11247120" y="64190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548640" y="1463040"/>
            <a:ext cx="6035040" cy="4754880"/>
          </a:xfrm>
          <a:prstGeom prst="roundRect">
            <a:avLst>
              <a:gd name="adj" fmla="val 1923"/>
            </a:avLst>
          </a:prstGeom>
          <a:solidFill>
            <a:srgbClr val="FFF5E5"/>
          </a:solidFill>
          <a:ln w="9525">
            <a:solidFill>
              <a:srgbClr val="E8D9C6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822960" y="1737360"/>
            <a:ext cx="868680" cy="868680"/>
          </a:xfrm>
          <a:prstGeom prst="ellipse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822960" y="173736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</a:t>
            </a:r>
            <a:endParaRPr lang="en-US" sz="2200" dirty="0"/>
          </a:p>
        </p:txBody>
      </p:sp>
      <p:sp>
        <p:nvSpPr>
          <p:cNvPr id="11" name="Text 8"/>
          <p:cNvSpPr txBox="1"/>
          <p:nvPr/>
        </p:nvSpPr>
        <p:spPr>
          <a:xfrm>
            <a:off x="1874520" y="1719072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622B1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Trần Mỹ Linh</a:t>
            </a:r>
            <a:endParaRPr lang="en-US" sz="2600" dirty="0"/>
          </a:p>
        </p:txBody>
      </p:sp>
      <p:sp>
        <p:nvSpPr>
          <p:cNvPr id="12" name="Text 9"/>
          <p:cNvSpPr txBox="1"/>
          <p:nvPr/>
        </p:nvSpPr>
        <p:spPr>
          <a:xfrm>
            <a:off x="1874520" y="22402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 tuổi · SV năm 1 Thiết kế · ở trọ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822960" y="2788920"/>
            <a:ext cx="1463040" cy="384048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822960" y="2788920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SECONDARY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822960" y="3337560"/>
            <a:ext cx="55778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2E1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Ngân sách ~40.000đ/ngày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2E1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iPhone cũ, ví MoMo, dùng hai tay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2E1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Ít dùng app giao hàng vì phí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2E1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Mục tiêu: thấy tổng tiền thật trước khi trả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6812280" y="1463040"/>
            <a:ext cx="4846320" cy="4754880"/>
          </a:xfrm>
          <a:prstGeom prst="roundRect">
            <a:avLst>
              <a:gd name="adj" fmla="val 1923"/>
            </a:avLst>
          </a:prstGeom>
          <a:solidFill>
            <a:srgbClr val="FFFFFF"/>
          </a:solidFill>
          <a:ln w="9525">
            <a:solidFill>
              <a:srgbClr val="E8D9C6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040880" y="1645920"/>
            <a:ext cx="438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622B1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Khó khăn chính</a:t>
            </a:r>
            <a:endParaRPr lang="en-US" sz="1700" dirty="0"/>
          </a:p>
        </p:txBody>
      </p:sp>
      <p:sp>
        <p:nvSpPr>
          <p:cNvPr id="18" name="Text 15"/>
          <p:cNvSpPr txBox="1"/>
          <p:nvPr/>
        </p:nvSpPr>
        <p:spPr>
          <a:xfrm>
            <a:off x="7040880" y="2148840"/>
            <a:ext cx="43891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2E1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Phí ship + phí dịch vụ cao hơn cả món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2E1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Tổng tiền chỉ hiện ở bước cuối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2E1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Chữ nhỏ phải phóng to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7040880" y="4343400"/>
            <a:ext cx="4389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i="1" dirty="0">
                <a:solidFill>
                  <a:srgbClr val="B4530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“Mình thích thấy trước tổng tiền, đừng tới bước cuối mới hiện thêm phí.”</a:t>
            </a:r>
            <a:endParaRPr lang="en-US" sz="1500" dirty="0"/>
          </a:p>
        </p:txBody>
      </p:sp>
      <p:sp>
        <p:nvSpPr>
          <p:cNvPr id="20" name="Text 17"/>
          <p:cNvSpPr txBox="1"/>
          <p:nvPr/>
        </p:nvSpPr>
        <p:spPr>
          <a:xfrm>
            <a:off x="7040880" y="562356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Câu nói đại diện — Phỏng vấn mô phỏng AI (SIM-A2)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BF4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640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69D3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1143000" y="347472"/>
            <a:ext cx="9875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622B1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Problem &amp; Persona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P3 · PERSONA HỖ TRỢ (SUPPORTING)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1908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Minh chứng: ux/persona.md (12 trường lõi)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11247120" y="64190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548640" y="1463040"/>
            <a:ext cx="6035040" cy="4754880"/>
          </a:xfrm>
          <a:prstGeom prst="roundRect">
            <a:avLst>
              <a:gd name="adj" fmla="val 1923"/>
            </a:avLst>
          </a:prstGeom>
          <a:solidFill>
            <a:srgbClr val="FFF5E5"/>
          </a:solidFill>
          <a:ln w="9525">
            <a:solidFill>
              <a:srgbClr val="E8D9C6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822960" y="1737360"/>
            <a:ext cx="868680" cy="868680"/>
          </a:xfrm>
          <a:prstGeom prst="ellipse">
            <a:avLst/>
          </a:prstGeom>
          <a:solidFill>
            <a:srgbClr val="7A3A20"/>
          </a:solidFill>
          <a:ln w="12700">
            <a:solidFill>
              <a:srgbClr val="7A3A20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822960" y="173736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</a:t>
            </a:r>
            <a:endParaRPr lang="en-US" sz="2200" dirty="0"/>
          </a:p>
        </p:txBody>
      </p:sp>
      <p:sp>
        <p:nvSpPr>
          <p:cNvPr id="11" name="Text 8"/>
          <p:cNvSpPr txBox="1"/>
          <p:nvPr/>
        </p:nvSpPr>
        <p:spPr>
          <a:xfrm>
            <a:off x="1874520" y="1719072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622B1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Cô Hạnh</a:t>
            </a:r>
            <a:endParaRPr lang="en-US" sz="2600" dirty="0"/>
          </a:p>
        </p:txBody>
      </p:sp>
      <p:sp>
        <p:nvSpPr>
          <p:cNvPr id="12" name="Text 9"/>
          <p:cNvSpPr txBox="1"/>
          <p:nvPr/>
        </p:nvSpPr>
        <p:spPr>
          <a:xfrm>
            <a:off x="1874520" y="22402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~40 tuổi · nhân viên quầy Kiosk BreakBite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822960" y="2788920"/>
            <a:ext cx="1463040" cy="384048"/>
          </a:xfrm>
          <a:prstGeom prst="roundRect">
            <a:avLst>
              <a:gd name="adj" fmla="val 50000"/>
            </a:avLst>
          </a:prstGeom>
          <a:solidFill>
            <a:srgbClr val="7A3A20"/>
          </a:solidFill>
          <a:ln w="12700">
            <a:solidFill>
              <a:srgbClr val="7A3A20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822960" y="2788920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SUPPORTING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822960" y="3337560"/>
            <a:ext cx="55778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2E1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Đứng quầy giờ nghỉ, vừa nấu vừa trả món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2E1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Không dùng app khách, nhưng quyết định món có xong đúng giờ không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2E1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Mục tiêu: trả một món đặt trước trong ~30 giây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6812280" y="1463040"/>
            <a:ext cx="4846320" cy="4754880"/>
          </a:xfrm>
          <a:prstGeom prst="roundRect">
            <a:avLst>
              <a:gd name="adj" fmla="val 1923"/>
            </a:avLst>
          </a:prstGeom>
          <a:solidFill>
            <a:srgbClr val="FFFFFF"/>
          </a:solidFill>
          <a:ln w="9525">
            <a:solidFill>
              <a:srgbClr val="E8D9C6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040880" y="1645920"/>
            <a:ext cx="438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622B1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Khó khăn chính</a:t>
            </a:r>
            <a:endParaRPr lang="en-US" sz="1700" dirty="0"/>
          </a:p>
        </p:txBody>
      </p:sp>
      <p:sp>
        <p:nvSpPr>
          <p:cNvPr id="18" name="Text 15"/>
          <p:cNvSpPr txBox="1"/>
          <p:nvPr/>
        </p:nvSpPr>
        <p:spPr>
          <a:xfrm>
            <a:off x="7040880" y="2148840"/>
            <a:ext cx="43891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2E1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Khách đứng chờ kiểm tra chuyển khoản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2E1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Khách huỷ khi món đã nấu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2E1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Tay bận, ít thời gian nhìn điện thoại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BF4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640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69D3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1143000" y="347472"/>
            <a:ext cx="9875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622B1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Problem &amp; Persona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P4 · ANTI-PERSONA (NHÓM KHÔNG NHẮM TỚI) &amp; CƠ SỞ CHỌN PERSONA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1908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Minh chứng: ux/persona.md mục 0 · ux/research.md mục 5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11247120" y="64190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548640" y="1463040"/>
            <a:ext cx="5394960" cy="4754880"/>
          </a:xfrm>
          <a:prstGeom prst="roundRect">
            <a:avLst>
              <a:gd name="adj" fmla="val 1923"/>
            </a:avLst>
          </a:prstGeom>
          <a:solidFill>
            <a:srgbClr val="FFF5E5"/>
          </a:solidFill>
          <a:ln w="9525">
            <a:solidFill>
              <a:srgbClr val="E8D9C6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822960" y="1737360"/>
            <a:ext cx="868680" cy="868680"/>
          </a:xfrm>
          <a:prstGeom prst="ellipse">
            <a:avLst/>
          </a:prstGeom>
          <a:solidFill>
            <a:srgbClr val="8A7A70"/>
          </a:solidFill>
          <a:ln w="12700">
            <a:solidFill>
              <a:srgbClr val="8A7A70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822960" y="173736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</a:t>
            </a:r>
            <a:endParaRPr lang="en-US" sz="2200" dirty="0"/>
          </a:p>
        </p:txBody>
      </p:sp>
      <p:sp>
        <p:nvSpPr>
          <p:cNvPr id="11" name="Text 8"/>
          <p:cNvSpPr txBox="1"/>
          <p:nvPr/>
        </p:nvSpPr>
        <p:spPr>
          <a:xfrm>
            <a:off x="1874520" y="1737360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622B1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Tuấn &amp; Hà</a:t>
            </a:r>
            <a:endParaRPr lang="en-US" sz="2400" dirty="0"/>
          </a:p>
        </p:txBody>
      </p:sp>
      <p:sp>
        <p:nvSpPr>
          <p:cNvPr id="12" name="Text 9"/>
          <p:cNvSpPr txBox="1"/>
          <p:nvPr/>
        </p:nvSpPr>
        <p:spPr>
          <a:xfrm>
            <a:off x="1874520" y="224028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SV năm 3–4 · ít lên trường hoặc mang cơm từ nhà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822960" y="2880360"/>
            <a:ext cx="49377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2E1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Mua ở trường rất ít, không bị áp lực giờ nghỉ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2E1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Không muốn tải thêm app (Tuấn)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2E1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Thích trả tiền mặt (Hà)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822960" y="4434840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i="1" dirty="0">
                <a:solidFill>
                  <a:srgbClr val="B4530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“Phải tải thêm một app nữa chỉ để mua đồ ở trường thì mình không tải.”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822960" y="544068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Phỏng vấn mô phỏng AI (SIM-A3) · ghi thành rủi ro R2</a:t>
            </a:r>
            <a:endParaRPr lang="en-US" sz="1050" dirty="0"/>
          </a:p>
        </p:txBody>
      </p:sp>
      <p:sp>
        <p:nvSpPr>
          <p:cNvPr id="16" name="Text 13"/>
          <p:cNvSpPr txBox="1"/>
          <p:nvPr/>
        </p:nvSpPr>
        <p:spPr>
          <a:xfrm>
            <a:off x="6217920" y="146304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622B1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Vì sao Quân là persona chính?</a:t>
            </a:r>
            <a:endParaRPr lang="en-US" sz="18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17920" y="1965960"/>
          <a:ext cx="5440680" cy="914400"/>
        </p:xfrm>
        <a:graphic>
          <a:graphicData uri="http://schemas.openxmlformats.org/drawingml/2006/table">
            <a:tbl>
              <a:tblPr/>
              <a:tblGrid>
                <a:gridCol w="3063240"/>
                <a:gridCol w="777240"/>
                <a:gridCol w="777240"/>
                <a:gridCol w="82296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Nhu cầu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22B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P01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22B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P02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22B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P03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22B1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E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Đặt nhanh trong giờ nghỉ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E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●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E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○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E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Biết trạng thái quán, thời gian chờ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E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●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E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○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E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●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E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Thấy tổng tiền sớm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E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○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E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●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E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Phục hồi khi thanh toán lỗi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E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●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E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○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E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○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E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Mã nhận đồ dễ đối chiếu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E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●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E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●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8" name="Text 14"/>
          <p:cNvSpPr txBox="1"/>
          <p:nvPr/>
        </p:nvSpPr>
        <p:spPr>
          <a:xfrm>
            <a:off x="6217920" y="4800600"/>
            <a:ext cx="5440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 nhu cầu chính · ○ nhu cầu phụ — Coverage Matrix</a:t>
            </a:r>
            <a:endParaRPr lang="en-US" sz="1100" dirty="0"/>
          </a:p>
        </p:txBody>
      </p:sp>
      <p:sp>
        <p:nvSpPr>
          <p:cNvPr id="19" name="Shape 15"/>
          <p:cNvSpPr/>
          <p:nvPr/>
        </p:nvSpPr>
        <p:spPr>
          <a:xfrm>
            <a:off x="6217920" y="5212080"/>
            <a:ext cx="5440680" cy="1005840"/>
          </a:xfrm>
          <a:prstGeom prst="roundRect">
            <a:avLst>
              <a:gd name="adj" fmla="val 9091"/>
            </a:avLst>
          </a:prstGeom>
          <a:solidFill>
            <a:srgbClr val="F6E7D3"/>
          </a:solidFill>
          <a:ln w="9525">
            <a:solidFill>
              <a:srgbClr val="F6E7D3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6400800" y="5212080"/>
            <a:ext cx="5120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2E1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Nhóm đau nhất (bỏ bữa, trễ lớp) và mua ở trường thường xuyên nhất → quyết định layout và luồng chính.</a:t>
            </a:r>
            <a:endParaRPr lang="en-US" sz="13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BF4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640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69D3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1143000" y="347472"/>
            <a:ext cx="9875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622B1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Information Architecture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CẤU TRÚC ĐIỀU HƯỚNG — 30 MÀN KHÁCH + 15 MÀN NGƯỜI BÁN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1908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Minh chứng: ux/user-flow.md mục 1 · Figma Page 01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11247120" y="64190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5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146304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622B1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· Entry</a:t>
            </a:r>
            <a:endParaRPr lang="en-US" sz="1700" dirty="0"/>
          </a:p>
        </p:txBody>
      </p:sp>
      <p:sp>
        <p:nvSpPr>
          <p:cNvPr id="9" name="Shape 6"/>
          <p:cNvSpPr/>
          <p:nvPr/>
        </p:nvSpPr>
        <p:spPr>
          <a:xfrm>
            <a:off x="548640" y="1920240"/>
            <a:ext cx="2377440" cy="384048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48640" y="192024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S01 Onboarding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3063240" y="192024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Chỉ hiện lần mở đầu, có nút Bỏ qua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548640" y="2606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622B1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 · Primary — Bottom navigation (4 tab)</a:t>
            </a:r>
            <a:endParaRPr lang="en-US" sz="1700" dirty="0"/>
          </a:p>
        </p:txBody>
      </p:sp>
      <p:sp>
        <p:nvSpPr>
          <p:cNvPr id="13" name="Shape 10"/>
          <p:cNvSpPr/>
          <p:nvPr/>
        </p:nvSpPr>
        <p:spPr>
          <a:xfrm>
            <a:off x="548640" y="3063240"/>
            <a:ext cx="2377440" cy="384048"/>
          </a:xfrm>
          <a:prstGeom prst="roundRect">
            <a:avLst>
              <a:gd name="adj" fmla="val 50000"/>
            </a:avLst>
          </a:prstGeom>
          <a:solidFill>
            <a:srgbClr val="622B14"/>
          </a:solidFill>
          <a:ln w="12700">
            <a:solidFill>
              <a:srgbClr val="622B14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48640" y="306324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S02 Trang chủ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3063240" y="306324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Trạng thái quán, gợi ý nhanh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548640" y="3593592"/>
            <a:ext cx="2377440" cy="384048"/>
          </a:xfrm>
          <a:prstGeom prst="roundRect">
            <a:avLst>
              <a:gd name="adj" fmla="val 50000"/>
            </a:avLst>
          </a:prstGeom>
          <a:solidFill>
            <a:srgbClr val="622B14"/>
          </a:solidFill>
          <a:ln w="12700">
            <a:solidFill>
              <a:srgbClr val="622B14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548640" y="3593592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S03 Thực đơn</a:t>
            </a:r>
            <a:endParaRPr lang="en-US" sz="1300" dirty="0"/>
          </a:p>
        </p:txBody>
      </p:sp>
      <p:sp>
        <p:nvSpPr>
          <p:cNvPr id="18" name="Text 15"/>
          <p:cNvSpPr txBox="1"/>
          <p:nvPr/>
        </p:nvSpPr>
        <p:spPr>
          <a:xfrm>
            <a:off x="3063240" y="359359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Danh mục, tìm kiếm</a:t>
            </a:r>
            <a:endParaRPr lang="en-US" sz="1300" dirty="0"/>
          </a:p>
        </p:txBody>
      </p:sp>
      <p:sp>
        <p:nvSpPr>
          <p:cNvPr id="19" name="Shape 16"/>
          <p:cNvSpPr/>
          <p:nvPr/>
        </p:nvSpPr>
        <p:spPr>
          <a:xfrm>
            <a:off x="548640" y="4123944"/>
            <a:ext cx="2377440" cy="384048"/>
          </a:xfrm>
          <a:prstGeom prst="roundRect">
            <a:avLst>
              <a:gd name="adj" fmla="val 50000"/>
            </a:avLst>
          </a:prstGeom>
          <a:solidFill>
            <a:srgbClr val="622B14"/>
          </a:solidFill>
          <a:ln w="12700">
            <a:solidFill>
              <a:srgbClr val="622B14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548640" y="4123944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S07 Theo dõi đơn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3063240" y="4123944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Tiến trình 4 bước, mã nhận đồ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548640" y="4654296"/>
            <a:ext cx="2377440" cy="384048"/>
          </a:xfrm>
          <a:prstGeom prst="roundRect">
            <a:avLst>
              <a:gd name="adj" fmla="val 50000"/>
            </a:avLst>
          </a:prstGeom>
          <a:solidFill>
            <a:srgbClr val="622B14"/>
          </a:solidFill>
          <a:ln w="12700">
            <a:solidFill>
              <a:srgbClr val="622B14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548640" y="4654296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S08 Lịch sử</a:t>
            </a:r>
            <a:endParaRPr lang="en-US" sz="1300" dirty="0"/>
          </a:p>
        </p:txBody>
      </p:sp>
      <p:sp>
        <p:nvSpPr>
          <p:cNvPr id="24" name="Text 21"/>
          <p:cNvSpPr txBox="1"/>
          <p:nvPr/>
        </p:nvSpPr>
        <p:spPr>
          <a:xfrm>
            <a:off x="3063240" y="4654296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Đặt lại đơn cũ 1 chạm</a:t>
            </a:r>
            <a:endParaRPr lang="en-US" sz="1300" dirty="0"/>
          </a:p>
        </p:txBody>
      </p:sp>
      <p:sp>
        <p:nvSpPr>
          <p:cNvPr id="25" name="Text 22"/>
          <p:cNvSpPr txBox="1"/>
          <p:nvPr/>
        </p:nvSpPr>
        <p:spPr>
          <a:xfrm>
            <a:off x="6309360" y="1463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622B1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 · Secondary — màn con</a:t>
            </a:r>
            <a:endParaRPr lang="en-US" sz="1700" dirty="0"/>
          </a:p>
        </p:txBody>
      </p:sp>
      <p:sp>
        <p:nvSpPr>
          <p:cNvPr id="26" name="Shape 23"/>
          <p:cNvSpPr/>
          <p:nvPr/>
        </p:nvSpPr>
        <p:spPr>
          <a:xfrm>
            <a:off x="6309360" y="1920240"/>
            <a:ext cx="2377440" cy="384048"/>
          </a:xfrm>
          <a:prstGeom prst="roundRect">
            <a:avLst>
              <a:gd name="adj" fmla="val 50000"/>
            </a:avLst>
          </a:prstGeom>
          <a:solidFill>
            <a:srgbClr val="F69D39"/>
          </a:solidFill>
          <a:ln w="12700">
            <a:solidFill>
              <a:srgbClr val="F69D39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6309360" y="192024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22B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S04 Chi tiết món</a:t>
            </a:r>
            <a:endParaRPr lang="en-US" sz="1300" dirty="0"/>
          </a:p>
        </p:txBody>
      </p:sp>
      <p:sp>
        <p:nvSpPr>
          <p:cNvPr id="28" name="Text 25"/>
          <p:cNvSpPr txBox="1"/>
          <p:nvPr/>
        </p:nvSpPr>
        <p:spPr>
          <a:xfrm>
            <a:off x="8823960" y="1920240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Topping, số lượng, giá cộng dồn</a:t>
            </a:r>
            <a:endParaRPr lang="en-US" sz="1300" dirty="0"/>
          </a:p>
        </p:txBody>
      </p:sp>
      <p:sp>
        <p:nvSpPr>
          <p:cNvPr id="29" name="Shape 26"/>
          <p:cNvSpPr/>
          <p:nvPr/>
        </p:nvSpPr>
        <p:spPr>
          <a:xfrm>
            <a:off x="6309360" y="2450592"/>
            <a:ext cx="2377440" cy="384048"/>
          </a:xfrm>
          <a:prstGeom prst="roundRect">
            <a:avLst>
              <a:gd name="adj" fmla="val 50000"/>
            </a:avLst>
          </a:prstGeom>
          <a:solidFill>
            <a:srgbClr val="F69D39"/>
          </a:solidFill>
          <a:ln w="12700">
            <a:solidFill>
              <a:srgbClr val="F69D39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6309360" y="2450592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22B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S05 Giỏ hàng</a:t>
            </a:r>
            <a:endParaRPr lang="en-US" sz="1300" dirty="0"/>
          </a:p>
        </p:txBody>
      </p:sp>
      <p:sp>
        <p:nvSpPr>
          <p:cNvPr id="31" name="Text 28"/>
          <p:cNvSpPr txBox="1"/>
          <p:nvPr/>
        </p:nvSpPr>
        <p:spPr>
          <a:xfrm>
            <a:off x="8823960" y="2450592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Mã giảm giá, hẹn giờ nhận</a:t>
            </a:r>
            <a:endParaRPr lang="en-US" sz="1300" dirty="0"/>
          </a:p>
        </p:txBody>
      </p:sp>
      <p:sp>
        <p:nvSpPr>
          <p:cNvPr id="32" name="Shape 29"/>
          <p:cNvSpPr/>
          <p:nvPr/>
        </p:nvSpPr>
        <p:spPr>
          <a:xfrm>
            <a:off x="6309360" y="2980944"/>
            <a:ext cx="2377440" cy="384048"/>
          </a:xfrm>
          <a:prstGeom prst="roundRect">
            <a:avLst>
              <a:gd name="adj" fmla="val 50000"/>
            </a:avLst>
          </a:prstGeom>
          <a:solidFill>
            <a:srgbClr val="F69D39"/>
          </a:solidFill>
          <a:ln w="12700">
            <a:solidFill>
              <a:srgbClr val="F69D39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6309360" y="2980944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22B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S06 Thanh toán</a:t>
            </a:r>
            <a:endParaRPr lang="en-US" sz="1300" dirty="0"/>
          </a:p>
        </p:txBody>
      </p:sp>
      <p:sp>
        <p:nvSpPr>
          <p:cNvPr id="34" name="Text 31"/>
          <p:cNvSpPr txBox="1"/>
          <p:nvPr/>
        </p:nvSpPr>
        <p:spPr>
          <a:xfrm>
            <a:off x="8823960" y="2980944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QR / ví / tiền mặt, dialog xác nhận</a:t>
            </a:r>
            <a:endParaRPr lang="en-US" sz="1300" dirty="0"/>
          </a:p>
        </p:txBody>
      </p:sp>
      <p:sp>
        <p:nvSpPr>
          <p:cNvPr id="35" name="Text 32"/>
          <p:cNvSpPr txBox="1"/>
          <p:nvPr/>
        </p:nvSpPr>
        <p:spPr>
          <a:xfrm>
            <a:off x="6309360" y="36576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622B1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Các màn còn lại (S09–S30) và app người bán</a:t>
            </a:r>
            <a:endParaRPr lang="en-US" sz="1700" dirty="0"/>
          </a:p>
        </p:txBody>
      </p:sp>
      <p:sp>
        <p:nvSpPr>
          <p:cNvPr id="36" name="Text 33"/>
          <p:cNvSpPr txBox="1"/>
          <p:nvPr/>
        </p:nvSpPr>
        <p:spPr>
          <a:xfrm>
            <a:off x="6309360" y="4114800"/>
            <a:ext cx="53035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50" dirty="0">
                <a:solidFill>
                  <a:srgbClr val="2E1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S09–S14 · sửa/huỷ đơn, lịch sử, yêu thích, đặt lại</a:t>
            </a:r>
            <a:endParaRPr lang="en-US" sz="13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50" dirty="0">
                <a:solidFill>
                  <a:srgbClr val="2E1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S15–S20 · tài khoản, thông báo, nhận món (QR)</a:t>
            </a:r>
            <a:endParaRPr lang="en-US" sz="13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50" dirty="0">
                <a:solidFill>
                  <a:srgbClr val="2E1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S21–S25 · quán đóng, món hết, đánh giá, sự cố, hẹn giờ</a:t>
            </a:r>
            <a:endParaRPr lang="en-US" sz="13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50" dirty="0">
                <a:solidFill>
                  <a:srgbClr val="2E1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S26–S30 · đăng nhập, chọn kiosk, tìm kiếm, mã giảm giá, mất mạng</a:t>
            </a:r>
            <a:endParaRPr lang="en-US" sz="13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50" dirty="0">
                <a:solidFill>
                  <a:srgbClr val="2E1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K01–K15 · app người bán (quầy)</a:t>
            </a:r>
            <a:endParaRPr lang="en-US" sz="1350" dirty="0"/>
          </a:p>
        </p:txBody>
      </p:sp>
      <p:sp>
        <p:nvSpPr>
          <p:cNvPr id="37" name="Shape 34"/>
          <p:cNvSpPr/>
          <p:nvPr/>
        </p:nvSpPr>
        <p:spPr>
          <a:xfrm>
            <a:off x="548640" y="5394960"/>
            <a:ext cx="5577840" cy="822960"/>
          </a:xfrm>
          <a:prstGeom prst="roundRect">
            <a:avLst>
              <a:gd name="adj" fmla="val 11111"/>
            </a:avLst>
          </a:prstGeom>
          <a:solidFill>
            <a:srgbClr val="F6E7D3"/>
          </a:solidFill>
          <a:ln w="9525">
            <a:solidFill>
              <a:srgbClr val="F6E7D3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731520" y="5394960"/>
            <a:ext cx="5303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2E1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Vì sao bottom nav? Persona thao tác bằng ngón cái khi đi bộ (DP3).</a:t>
            </a:r>
            <a:endParaRPr lang="en-US" sz="13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BF4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640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69D3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1143000" y="347472"/>
            <a:ext cx="9875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622B1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Main User Flows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 1 — ĐẶT NHANH, NHẬN TẠI QUẦY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1908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Minh chứng: ux/user-flow.md mục 2.1 · Figma Page 01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11247120" y="64190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548640" y="1371600"/>
            <a:ext cx="5257800" cy="868680"/>
          </a:xfrm>
          <a:prstGeom prst="roundRect">
            <a:avLst>
              <a:gd name="adj" fmla="val 10526"/>
            </a:avLst>
          </a:prstGeom>
          <a:solidFill>
            <a:srgbClr val="F6E7D3"/>
          </a:solidFill>
          <a:ln w="9525">
            <a:solidFill>
              <a:srgbClr val="B45309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31520" y="141732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· NGƯỜI DÙNG CẦN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731520" y="1664208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2E1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Sinh viên có khoảng 15 phút giữa hai slot, cần có món ăn mà không phải xếp hàng.</a:t>
            </a:r>
            <a:endParaRPr lang="en-US" sz="1250" dirty="0"/>
          </a:p>
        </p:txBody>
      </p:sp>
      <p:sp>
        <p:nvSpPr>
          <p:cNvPr id="11" name="Text 8"/>
          <p:cNvSpPr txBox="1"/>
          <p:nvPr/>
        </p:nvSpPr>
        <p:spPr>
          <a:xfrm>
            <a:off x="5806440" y="1463040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600" dirty="0"/>
          </a:p>
        </p:txBody>
      </p:sp>
      <p:sp>
        <p:nvSpPr>
          <p:cNvPr id="12" name="Shape 9"/>
          <p:cNvSpPr/>
          <p:nvPr/>
        </p:nvSpPr>
        <p:spPr>
          <a:xfrm>
            <a:off x="6355080" y="1371600"/>
            <a:ext cx="5303520" cy="868680"/>
          </a:xfrm>
          <a:prstGeom prst="roundRect">
            <a:avLst>
              <a:gd name="adj" fmla="val 10526"/>
            </a:avLst>
          </a:prstGeom>
          <a:solidFill>
            <a:srgbClr val="E6F4EA"/>
          </a:solidFill>
          <a:ln w="9525">
            <a:solidFill>
              <a:srgbClr val="15803D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537960" y="141732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 · NGƯỜI DÙNG NHẬN ĐƯỢC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6537960" y="1664208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2E1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 mã nhận đồ #A-204 và giờ hẹn; ra quầy quét mã là nhận món. Đo: &lt; 35 giây, ≤ 8 chạm.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548640" y="2377440"/>
            <a:ext cx="1336330" cy="914400"/>
          </a:xfrm>
          <a:prstGeom prst="roundRect">
            <a:avLst>
              <a:gd name="adj" fmla="val 8000"/>
            </a:avLst>
          </a:prstGeom>
          <a:solidFill>
            <a:srgbClr val="F6E7D3"/>
          </a:solidFill>
          <a:ln w="12700">
            <a:solidFill>
              <a:srgbClr val="E8D9C6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21792" y="2432304"/>
            <a:ext cx="119002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E1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S02 Home</a:t>
            </a:r>
            <a:endParaRPr lang="en-US" sz="12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Bấm combo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1921546" y="2743200"/>
            <a:ext cx="219456" cy="182880"/>
          </a:xfrm>
          <a:prstGeom prst="rightArrow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2177578" y="2377440"/>
            <a:ext cx="133633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8D9C6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2250730" y="2432304"/>
            <a:ext cx="119002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E1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S04 Chi tiết</a:t>
            </a:r>
            <a:endParaRPr lang="en-US" sz="12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Topping, giá tự cộng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3550485" y="2743200"/>
            <a:ext cx="219456" cy="182880"/>
          </a:xfrm>
          <a:prstGeom prst="rightArrow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3806517" y="2377440"/>
            <a:ext cx="133633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8D9C6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3879669" y="2432304"/>
            <a:ext cx="119002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E1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S05 Giỏ hàng</a:t>
            </a:r>
            <a:endParaRPr lang="en-US" sz="12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Hẹn giờ nhận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179423" y="2743200"/>
            <a:ext cx="219456" cy="182880"/>
          </a:xfrm>
          <a:prstGeom prst="rightArrow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5435455" y="2377440"/>
            <a:ext cx="133633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8D9C6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5508607" y="2432304"/>
            <a:ext cx="119002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E1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S06 Thanh toán</a:t>
            </a:r>
            <a:endParaRPr lang="en-US" sz="12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Tiền mặt / QR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6808361" y="2743200"/>
            <a:ext cx="219456" cy="182880"/>
          </a:xfrm>
          <a:prstGeom prst="rightArrow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7064393" y="2377440"/>
            <a:ext cx="133633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8D9C6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7137545" y="2432304"/>
            <a:ext cx="119002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E1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Dialog</a:t>
            </a:r>
            <a:endParaRPr lang="en-US" sz="12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Xác nhận đặt</a:t>
            </a:r>
            <a:endParaRPr lang="en-US" sz="1200" dirty="0"/>
          </a:p>
        </p:txBody>
      </p:sp>
      <p:sp>
        <p:nvSpPr>
          <p:cNvPr id="29" name="Shape 26"/>
          <p:cNvSpPr/>
          <p:nvPr/>
        </p:nvSpPr>
        <p:spPr>
          <a:xfrm>
            <a:off x="8437299" y="2743200"/>
            <a:ext cx="219456" cy="182880"/>
          </a:xfrm>
          <a:prstGeom prst="rightArrow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8693331" y="2377440"/>
            <a:ext cx="133633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8D9C6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766483" y="2432304"/>
            <a:ext cx="119002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E1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Loading</a:t>
            </a:r>
            <a:endParaRPr lang="en-US" sz="12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Gửi đơn tới bếp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10066238" y="2743200"/>
            <a:ext cx="219456" cy="182880"/>
          </a:xfrm>
          <a:prstGeom prst="rightArrow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10322270" y="2377440"/>
            <a:ext cx="1336330" cy="914400"/>
          </a:xfrm>
          <a:prstGeom prst="roundRect">
            <a:avLst>
              <a:gd name="adj" fmla="val 8000"/>
            </a:avLst>
          </a:prstGeom>
          <a:solidFill>
            <a:srgbClr val="E3F1E4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10395422" y="2432304"/>
            <a:ext cx="119002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E1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S07 Theo dõi</a:t>
            </a:r>
            <a:endParaRPr lang="en-US" sz="12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Mã #A-204</a:t>
            </a:r>
            <a:endParaRPr lang="en-US" sz="1200" dirty="0"/>
          </a:p>
        </p:txBody>
      </p:sp>
      <p:sp>
        <p:nvSpPr>
          <p:cNvPr id="35" name="Shape 32"/>
          <p:cNvSpPr/>
          <p:nvPr/>
        </p:nvSpPr>
        <p:spPr>
          <a:xfrm>
            <a:off x="548640" y="3429000"/>
            <a:ext cx="1110996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9525">
            <a:solidFill>
              <a:srgbClr val="E8D9C6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731520" y="34747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SƠ ĐỒ TRONG FIGMA · PAGE 01</a:t>
            </a:r>
            <a:endParaRPr lang="en-US" sz="1100" dirty="0"/>
          </a:p>
        </p:txBody>
      </p:sp>
      <p:pic>
        <p:nvPicPr>
          <p:cNvPr id="37" name="Image 0" descr="D:\Study\FPTU\Sem8\PRM323\prm393-lab2\assets\figma\flow-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74150" y="3749040"/>
            <a:ext cx="8658939" cy="1417320"/>
          </a:xfrm>
          <a:prstGeom prst="rect">
            <a:avLst/>
          </a:prstGeom>
        </p:spPr>
      </p:pic>
      <p:sp>
        <p:nvSpPr>
          <p:cNvPr id="38" name="Shape 34"/>
          <p:cNvSpPr/>
          <p:nvPr/>
        </p:nvSpPr>
        <p:spPr>
          <a:xfrm>
            <a:off x="548640" y="5349240"/>
            <a:ext cx="11109960" cy="914400"/>
          </a:xfrm>
          <a:prstGeom prst="roundRect">
            <a:avLst>
              <a:gd name="adj" fmla="val 10000"/>
            </a:avLst>
          </a:prstGeom>
          <a:solidFill>
            <a:srgbClr val="FFF5E5"/>
          </a:solidFill>
          <a:ln w="9525">
            <a:solidFill>
              <a:srgbClr val="E8D9C6"/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777240" y="537667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622B1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Nhánh thay thế / lỗi</a:t>
            </a:r>
            <a:endParaRPr lang="en-US" sz="1300" dirty="0"/>
          </a:p>
        </p:txBody>
      </p:sp>
      <p:sp>
        <p:nvSpPr>
          <p:cNvPr id="40" name="Text 36"/>
          <p:cNvSpPr txBox="1"/>
          <p:nvPr/>
        </p:nvSpPr>
        <p:spPr>
          <a:xfrm>
            <a:off x="777240" y="5650992"/>
            <a:ext cx="10698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2E1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Quán đang đóng → badge + không cho đặt (S02)  ·  Back ở mọi bước quay về màn trước, giỏ hàng được giữ  ·  Đơn cũ: S08 Lịch sử → Đặt lại → S05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BF4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640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69D3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1143000" y="347472"/>
            <a:ext cx="9875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622B1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Main User Flows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 2 — TUỲ CHỈNH MÓN &amp; MÃ GIẢM GIÁ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1908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Minh chứng: ux/user-flow.md mục 2.2 · Figma Page 01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11247120" y="64190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548640" y="1371600"/>
            <a:ext cx="5257800" cy="868680"/>
          </a:xfrm>
          <a:prstGeom prst="roundRect">
            <a:avLst>
              <a:gd name="adj" fmla="val 10526"/>
            </a:avLst>
          </a:prstGeom>
          <a:solidFill>
            <a:srgbClr val="F6E7D3"/>
          </a:solidFill>
          <a:ln w="9525">
            <a:solidFill>
              <a:srgbClr val="B45309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31520" y="141732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· NGƯỜI DÙNG CẦN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731520" y="1664208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2E1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Muốn chọn mức cay, topping và dùng mã giảm giá sinh viên (BBSTUDENT).</a:t>
            </a:r>
            <a:endParaRPr lang="en-US" sz="1250" dirty="0"/>
          </a:p>
        </p:txBody>
      </p:sp>
      <p:sp>
        <p:nvSpPr>
          <p:cNvPr id="11" name="Text 8"/>
          <p:cNvSpPr txBox="1"/>
          <p:nvPr/>
        </p:nvSpPr>
        <p:spPr>
          <a:xfrm>
            <a:off x="5806440" y="1463040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600" dirty="0"/>
          </a:p>
        </p:txBody>
      </p:sp>
      <p:sp>
        <p:nvSpPr>
          <p:cNvPr id="12" name="Shape 9"/>
          <p:cNvSpPr/>
          <p:nvPr/>
        </p:nvSpPr>
        <p:spPr>
          <a:xfrm>
            <a:off x="6355080" y="1371600"/>
            <a:ext cx="5303520" cy="868680"/>
          </a:xfrm>
          <a:prstGeom prst="roundRect">
            <a:avLst>
              <a:gd name="adj" fmla="val 10526"/>
            </a:avLst>
          </a:prstGeom>
          <a:solidFill>
            <a:srgbClr val="E6F4EA"/>
          </a:solidFill>
          <a:ln w="9525">
            <a:solidFill>
              <a:srgbClr val="15803D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537960" y="141732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 · NGƯỜI DÙNG NHẬN ĐƯỢC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6537960" y="1664208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2E1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Giỏ hàng đúng tuỳ chọn, thấy giảm 10.000đ và tổng tiền trước khi trả. Mã sai: biết lý do, nhập lại.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548640" y="2377440"/>
            <a:ext cx="1336330" cy="914400"/>
          </a:xfrm>
          <a:prstGeom prst="roundRect">
            <a:avLst>
              <a:gd name="adj" fmla="val 8000"/>
            </a:avLst>
          </a:prstGeom>
          <a:solidFill>
            <a:srgbClr val="F6E7D3"/>
          </a:solidFill>
          <a:ln w="12700">
            <a:solidFill>
              <a:srgbClr val="E8D9C6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21792" y="2432304"/>
            <a:ext cx="119002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E1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S03 Thực đơn</a:t>
            </a:r>
            <a:endParaRPr lang="en-US" sz="12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Lọc Mì trộn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1921546" y="2743200"/>
            <a:ext cx="219456" cy="182880"/>
          </a:xfrm>
          <a:prstGeom prst="rightArrow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2177578" y="2377440"/>
            <a:ext cx="133633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8D9C6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2250730" y="2432304"/>
            <a:ext cx="119002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E1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S04 Chi tiết</a:t>
            </a:r>
            <a:endParaRPr lang="en-US" sz="12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Mức cay + 2 topping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3550485" y="2743200"/>
            <a:ext cx="219456" cy="182880"/>
          </a:xfrm>
          <a:prstGeom prst="rightArrow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3806517" y="2377440"/>
            <a:ext cx="133633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8D9C6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3879669" y="2432304"/>
            <a:ext cx="119002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E1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S05 Giỏ hàng</a:t>
            </a:r>
            <a:endParaRPr lang="en-US" sz="12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Nhập BB20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179423" y="2743200"/>
            <a:ext cx="219456" cy="182880"/>
          </a:xfrm>
          <a:prstGeom prst="rightArrow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5435455" y="2377440"/>
            <a:ext cx="1336330" cy="914400"/>
          </a:xfrm>
          <a:prstGeom prst="roundRect">
            <a:avLst>
              <a:gd name="adj" fmla="val 8000"/>
            </a:avLst>
          </a:prstGeom>
          <a:solidFill>
            <a:srgbClr val="FBE3E0"/>
          </a:solidFill>
          <a:ln w="12700">
            <a:solidFill>
              <a:srgbClr val="B91C1C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5508607" y="2432304"/>
            <a:ext cx="119002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E1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Mã sai?</a:t>
            </a:r>
            <a:endParaRPr lang="en-US" sz="12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Báo lỗi + lý do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6808361" y="2743200"/>
            <a:ext cx="219456" cy="182880"/>
          </a:xfrm>
          <a:prstGeom prst="rightArrow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7064393" y="2377440"/>
            <a:ext cx="133633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8D9C6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7137545" y="2432304"/>
            <a:ext cx="119002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E1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Mã đúng</a:t>
            </a:r>
            <a:endParaRPr lang="en-US" sz="12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Giảm giá hiển thị</a:t>
            </a:r>
            <a:endParaRPr lang="en-US" sz="1200" dirty="0"/>
          </a:p>
        </p:txBody>
      </p:sp>
      <p:sp>
        <p:nvSpPr>
          <p:cNvPr id="29" name="Shape 26"/>
          <p:cNvSpPr/>
          <p:nvPr/>
        </p:nvSpPr>
        <p:spPr>
          <a:xfrm>
            <a:off x="8437299" y="2743200"/>
            <a:ext cx="219456" cy="182880"/>
          </a:xfrm>
          <a:prstGeom prst="rightArrow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8693331" y="2377440"/>
            <a:ext cx="133633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8D9C6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766483" y="2432304"/>
            <a:ext cx="119002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E1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S06 Thanh toán</a:t>
            </a:r>
            <a:endParaRPr lang="en-US" sz="12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QR ngân hàng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10066238" y="2743200"/>
            <a:ext cx="219456" cy="182880"/>
          </a:xfrm>
          <a:prstGeom prst="rightArrow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10322270" y="2377440"/>
            <a:ext cx="1336330" cy="914400"/>
          </a:xfrm>
          <a:prstGeom prst="roundRect">
            <a:avLst>
              <a:gd name="adj" fmla="val 8000"/>
            </a:avLst>
          </a:prstGeom>
          <a:solidFill>
            <a:srgbClr val="E3F1E4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10395422" y="2432304"/>
            <a:ext cx="119002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E1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S07 Theo dõi</a:t>
            </a:r>
            <a:endParaRPr lang="en-US" sz="12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Đang làm</a:t>
            </a:r>
            <a:endParaRPr lang="en-US" sz="1200" dirty="0"/>
          </a:p>
        </p:txBody>
      </p:sp>
      <p:sp>
        <p:nvSpPr>
          <p:cNvPr id="35" name="Shape 32"/>
          <p:cNvSpPr/>
          <p:nvPr/>
        </p:nvSpPr>
        <p:spPr>
          <a:xfrm>
            <a:off x="548640" y="3429000"/>
            <a:ext cx="1110996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9525">
            <a:solidFill>
              <a:srgbClr val="E8D9C6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731520" y="34747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SƠ ĐỒ TRONG FIGMA · PAGE 01</a:t>
            </a:r>
            <a:endParaRPr lang="en-US" sz="1100" dirty="0"/>
          </a:p>
        </p:txBody>
      </p:sp>
      <p:pic>
        <p:nvPicPr>
          <p:cNvPr id="37" name="Image 0" descr="D:\Study\FPTU\Sem8\PRM323\prm393-lab2\assets\figma\flow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36912" y="3749040"/>
            <a:ext cx="8333415" cy="1417320"/>
          </a:xfrm>
          <a:prstGeom prst="rect">
            <a:avLst/>
          </a:prstGeom>
        </p:spPr>
      </p:pic>
      <p:sp>
        <p:nvSpPr>
          <p:cNvPr id="38" name="Shape 34"/>
          <p:cNvSpPr/>
          <p:nvPr/>
        </p:nvSpPr>
        <p:spPr>
          <a:xfrm>
            <a:off x="548640" y="5349240"/>
            <a:ext cx="11109960" cy="914400"/>
          </a:xfrm>
          <a:prstGeom prst="roundRect">
            <a:avLst>
              <a:gd name="adj" fmla="val 10000"/>
            </a:avLst>
          </a:prstGeom>
          <a:solidFill>
            <a:srgbClr val="FFF5E5"/>
          </a:solidFill>
          <a:ln w="9525">
            <a:solidFill>
              <a:srgbClr val="E8D9C6"/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777240" y="537667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622B1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Nhánh thay thế / lỗi</a:t>
            </a:r>
            <a:endParaRPr lang="en-US" sz="1300" dirty="0"/>
          </a:p>
        </p:txBody>
      </p:sp>
      <p:sp>
        <p:nvSpPr>
          <p:cNvPr id="40" name="Text 36"/>
          <p:cNvSpPr txBox="1"/>
          <p:nvPr/>
        </p:nvSpPr>
        <p:spPr>
          <a:xfrm>
            <a:off x="777240" y="5650992"/>
            <a:ext cx="10698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2E1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Mã sai/hết hạn: icon + câu lý do cụ thể, nhập lại (D03)  ·  Tổng tiền luôn hiện trước bước chọn phương thức (P02)  ·  Bỏ mã: tổng quay về giá gốc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BF4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640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69D3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1143000" y="347472"/>
            <a:ext cx="9875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622B1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Main User Flows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 3 — LỖI THANH TOÁN &amp; PHỤC HỒI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1908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Minh chứng: ux/user-flow.md mục 2.3 · quyết định D24 · Figma Page 01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11247120" y="64190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548640" y="1371600"/>
            <a:ext cx="5257800" cy="868680"/>
          </a:xfrm>
          <a:prstGeom prst="roundRect">
            <a:avLst>
              <a:gd name="adj" fmla="val 10526"/>
            </a:avLst>
          </a:prstGeom>
          <a:solidFill>
            <a:srgbClr val="F6E7D3"/>
          </a:solidFill>
          <a:ln w="9525">
            <a:solidFill>
              <a:srgbClr val="B45309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31520" y="141732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· NGƯỜI DÙNG CẦN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731520" y="1664208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2E1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Thanh toán MoMo bị từ chối (mạng yếu, ví hết tiền) nhưng không muốn mất giỏ hàng.</a:t>
            </a:r>
            <a:endParaRPr lang="en-US" sz="1250" dirty="0"/>
          </a:p>
        </p:txBody>
      </p:sp>
      <p:sp>
        <p:nvSpPr>
          <p:cNvPr id="11" name="Text 8"/>
          <p:cNvSpPr txBox="1"/>
          <p:nvPr/>
        </p:nvSpPr>
        <p:spPr>
          <a:xfrm>
            <a:off x="5806440" y="1463040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600" dirty="0"/>
          </a:p>
        </p:txBody>
      </p:sp>
      <p:sp>
        <p:nvSpPr>
          <p:cNvPr id="12" name="Shape 9"/>
          <p:cNvSpPr/>
          <p:nvPr/>
        </p:nvSpPr>
        <p:spPr>
          <a:xfrm>
            <a:off x="6355080" y="1371600"/>
            <a:ext cx="5303520" cy="868680"/>
          </a:xfrm>
          <a:prstGeom prst="roundRect">
            <a:avLst>
              <a:gd name="adj" fmla="val 10526"/>
            </a:avLst>
          </a:prstGeom>
          <a:solidFill>
            <a:srgbClr val="E6F4EA"/>
          </a:solidFill>
          <a:ln w="9525">
            <a:solidFill>
              <a:srgbClr val="15803D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537960" y="141732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 · NGƯỜI DÙNG NHẬN ĐƯỢC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6537960" y="1664208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2E1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Giỏ hàng vẫn được giữ; đổi sang VNPAY-QR hoặc trả tiền mặt tại quầy; đơn được tạo, không đặt lại.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548640" y="2377440"/>
            <a:ext cx="1607820" cy="914400"/>
          </a:xfrm>
          <a:prstGeom prst="roundRect">
            <a:avLst>
              <a:gd name="adj" fmla="val 8000"/>
            </a:avLst>
          </a:prstGeom>
          <a:solidFill>
            <a:srgbClr val="F6E7D3"/>
          </a:solidFill>
          <a:ln w="12700">
            <a:solidFill>
              <a:srgbClr val="E8D9C6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21792" y="2432304"/>
            <a:ext cx="146151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E1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S06 Thanh toán</a:t>
            </a:r>
            <a:endParaRPr lang="en-US" sz="12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Chọn MoMo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2193036" y="2743200"/>
            <a:ext cx="219456" cy="182880"/>
          </a:xfrm>
          <a:prstGeom prst="rightArrow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2449068" y="2377440"/>
            <a:ext cx="160782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8D9C6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2522220" y="2432304"/>
            <a:ext cx="146151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E1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Loading</a:t>
            </a:r>
            <a:endParaRPr lang="en-US" sz="12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Kết nối cổng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4093464" y="2743200"/>
            <a:ext cx="219456" cy="182880"/>
          </a:xfrm>
          <a:prstGeom prst="rightArrow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4349496" y="2377440"/>
            <a:ext cx="1607820" cy="914400"/>
          </a:xfrm>
          <a:prstGeom prst="roundRect">
            <a:avLst>
              <a:gd name="adj" fmla="val 8000"/>
            </a:avLst>
          </a:prstGeom>
          <a:solidFill>
            <a:srgbClr val="FBE3E0"/>
          </a:solidFill>
          <a:ln w="12700">
            <a:solidFill>
              <a:srgbClr val="B91C1C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4422648" y="2432304"/>
            <a:ext cx="146151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E1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Timeout</a:t>
            </a:r>
            <a:endParaRPr lang="en-US" sz="12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Mạng yếu / hết hạn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993892" y="2743200"/>
            <a:ext cx="219456" cy="182880"/>
          </a:xfrm>
          <a:prstGeom prst="rightArrow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6249924" y="2377440"/>
            <a:ext cx="160782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8D9C6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323076" y="2432304"/>
            <a:ext cx="146151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E1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S06-ERR</a:t>
            </a:r>
            <a:endParaRPr lang="en-US" sz="12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Giỏ hàng vẫn giữ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7894320" y="2743200"/>
            <a:ext cx="219456" cy="182880"/>
          </a:xfrm>
          <a:prstGeom prst="rightArrow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8150352" y="2377440"/>
            <a:ext cx="160782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8D9C6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223504" y="2432304"/>
            <a:ext cx="146151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E1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Lựa chọn</a:t>
            </a:r>
            <a:endParaRPr lang="en-US" sz="12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Thử lại / Tiền mặt</a:t>
            </a:r>
            <a:endParaRPr lang="en-US" sz="1200" dirty="0"/>
          </a:p>
        </p:txBody>
      </p:sp>
      <p:sp>
        <p:nvSpPr>
          <p:cNvPr id="29" name="Shape 26"/>
          <p:cNvSpPr/>
          <p:nvPr/>
        </p:nvSpPr>
        <p:spPr>
          <a:xfrm>
            <a:off x="9794748" y="2743200"/>
            <a:ext cx="219456" cy="182880"/>
          </a:xfrm>
          <a:prstGeom prst="rightArrow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10050780" y="2377440"/>
            <a:ext cx="1607820" cy="914400"/>
          </a:xfrm>
          <a:prstGeom prst="roundRect">
            <a:avLst>
              <a:gd name="adj" fmla="val 8000"/>
            </a:avLst>
          </a:prstGeom>
          <a:solidFill>
            <a:srgbClr val="E3F1E4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10123932" y="2432304"/>
            <a:ext cx="146151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E1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S07-CASH</a:t>
            </a:r>
            <a:endParaRPr lang="en-US" sz="12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Trả tại quầy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548640" y="3429000"/>
            <a:ext cx="1110996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9525">
            <a:solidFill>
              <a:srgbClr val="E8D9C6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731520" y="34747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SƠ ĐỒ TRONG FIGMA · PAGE 01</a:t>
            </a:r>
            <a:endParaRPr lang="en-US" sz="1100" dirty="0"/>
          </a:p>
        </p:txBody>
      </p:sp>
      <p:pic>
        <p:nvPicPr>
          <p:cNvPr id="34" name="Image 0" descr="D:\Study\FPTU\Sem8\PRM323\prm393-lab2\assets\figma\flow-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409139" y="3749040"/>
            <a:ext cx="7388962" cy="1417320"/>
          </a:xfrm>
          <a:prstGeom prst="rect">
            <a:avLst/>
          </a:prstGeom>
        </p:spPr>
      </p:pic>
      <p:sp>
        <p:nvSpPr>
          <p:cNvPr id="35" name="Shape 31"/>
          <p:cNvSpPr/>
          <p:nvPr/>
        </p:nvSpPr>
        <p:spPr>
          <a:xfrm>
            <a:off x="548640" y="5349240"/>
            <a:ext cx="11109960" cy="914400"/>
          </a:xfrm>
          <a:prstGeom prst="roundRect">
            <a:avLst>
              <a:gd name="adj" fmla="val 10000"/>
            </a:avLst>
          </a:prstGeom>
          <a:solidFill>
            <a:srgbClr val="FFF5E5"/>
          </a:solidFill>
          <a:ln w="9525">
            <a:solidFill>
              <a:srgbClr val="E8D9C6"/>
            </a:solidFill>
            <a:prstDash val="solid"/>
          </a:ln>
        </p:spPr>
      </p:sp>
      <p:sp>
        <p:nvSpPr>
          <p:cNvPr id="36" name="Text 32"/>
          <p:cNvSpPr txBox="1"/>
          <p:nvPr/>
        </p:nvSpPr>
        <p:spPr>
          <a:xfrm>
            <a:off x="777240" y="537667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622B1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Nhánh thay thế / lỗi</a:t>
            </a:r>
            <a:endParaRPr lang="en-US" sz="1300" dirty="0"/>
          </a:p>
        </p:txBody>
      </p:sp>
      <p:sp>
        <p:nvSpPr>
          <p:cNvPr id="37" name="Text 33"/>
          <p:cNvSpPr txBox="1"/>
          <p:nvPr/>
        </p:nvSpPr>
        <p:spPr>
          <a:xfrm>
            <a:off x="777240" y="5650992"/>
            <a:ext cx="10698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2E1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Thử lại thanh toán → quay về bước loading  ·  Trả tiền mặt tại quầy → tạo đơn ngay, badge "Trả tại quầy" (D31)  ·  Không bao giờ xoá giỏ hàng khi lỗi (DP5)  ·  Insight chỉ có 1 nguồn mô phỏng — giữ vì đề bắt buộc flow lỗi (D24)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BF4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640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69D3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5.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1143000" y="347472"/>
            <a:ext cx="9875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622B1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 UI Generation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STITCH — PROMPT DỰA TRÊN DESIGN.MD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1908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Minh chứng: design/DESIGN.md · ai/ai-design-log.md mục 2 · assets/stitch/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11247120" y="64190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548640" y="1463040"/>
            <a:ext cx="5852160" cy="4754880"/>
          </a:xfrm>
          <a:prstGeom prst="roundRect">
            <a:avLst>
              <a:gd name="adj" fmla="val 1923"/>
            </a:avLst>
          </a:prstGeom>
          <a:solidFill>
            <a:srgbClr val="FFFFFF"/>
          </a:solidFill>
          <a:ln w="9525">
            <a:solidFill>
              <a:srgbClr val="E8D9C6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77240" y="16002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— 5 YẾU TỐ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777240" y="201168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622B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2194560" y="2011680"/>
            <a:ext cx="4023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2E1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SV, giờ nghỉ 15 phút, thao tác một tay</a:t>
            </a:r>
            <a:endParaRPr lang="en-US" sz="1350" dirty="0"/>
          </a:p>
        </p:txBody>
      </p:sp>
      <p:sp>
        <p:nvSpPr>
          <p:cNvPr id="12" name="Text 9"/>
          <p:cNvSpPr txBox="1"/>
          <p:nvPr/>
        </p:nvSpPr>
        <p:spPr>
          <a:xfrm>
            <a:off x="777240" y="2633472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622B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2194560" y="2633472"/>
            <a:ext cx="4023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2E1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màn: Home, Chi tiết, Giỏ hàng, Theo dõi đơn</a:t>
            </a:r>
            <a:endParaRPr lang="en-US" sz="1350" dirty="0"/>
          </a:p>
        </p:txBody>
      </p:sp>
      <p:sp>
        <p:nvSpPr>
          <p:cNvPr id="14" name="Text 11"/>
          <p:cNvSpPr txBox="1"/>
          <p:nvPr/>
        </p:nvSpPr>
        <p:spPr>
          <a:xfrm>
            <a:off x="777240" y="3255264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622B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Nền tảng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2194560" y="3255264"/>
            <a:ext cx="4023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2E1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Mobile 360 × 800 dp, Material Design 3</a:t>
            </a:r>
            <a:endParaRPr lang="en-US" sz="1350" dirty="0"/>
          </a:p>
        </p:txBody>
      </p:sp>
      <p:sp>
        <p:nvSpPr>
          <p:cNvPr id="16" name="Text 13"/>
          <p:cNvSpPr txBox="1"/>
          <p:nvPr/>
        </p:nvSpPr>
        <p:spPr>
          <a:xfrm>
            <a:off x="777240" y="3877056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622B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Ràng buộc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2194560" y="3877056"/>
            <a:ext cx="4023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2E1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Vùng chạm ≥ 48 × 48 dp, CTA ở vùng ngón cái</a:t>
            </a:r>
            <a:endParaRPr lang="en-US" sz="1350" dirty="0"/>
          </a:p>
        </p:txBody>
      </p:sp>
      <p:sp>
        <p:nvSpPr>
          <p:cNvPr id="18" name="Text 15"/>
          <p:cNvSpPr txBox="1"/>
          <p:nvPr/>
        </p:nvSpPr>
        <p:spPr>
          <a:xfrm>
            <a:off x="777240" y="4498848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622B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Phong cách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2194560" y="4498848"/>
            <a:ext cx="4023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2E1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Kem #FFF5E5, cam #F69D39, nâu #622B14, Nunito</a:t>
            </a:r>
            <a:endParaRPr lang="en-US" sz="1350" dirty="0"/>
          </a:p>
        </p:txBody>
      </p:sp>
      <p:sp>
        <p:nvSpPr>
          <p:cNvPr id="20" name="Shape 17"/>
          <p:cNvSpPr/>
          <p:nvPr/>
        </p:nvSpPr>
        <p:spPr>
          <a:xfrm>
            <a:off x="777240" y="5212080"/>
            <a:ext cx="5394960" cy="868680"/>
          </a:xfrm>
          <a:prstGeom prst="roundRect">
            <a:avLst>
              <a:gd name="adj" fmla="val 10526"/>
            </a:avLst>
          </a:prstGeom>
          <a:solidFill>
            <a:srgbClr val="F6E7D3"/>
          </a:solidFill>
          <a:ln w="9525">
            <a:solidFill>
              <a:srgbClr val="F6E7D3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914400" y="5212080"/>
            <a:ext cx="5120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Bài học  </a:t>
            </a:r>
            <a:pPr algn="l" indent="0" marL="0">
              <a:buNone/>
            </a:pPr>
            <a:r>
              <a:rPr lang="en-US" sz="1250" dirty="0">
                <a:solidFill>
                  <a:srgbClr val="2E1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ghi "chữ trắng trên #F69D39 đạt WCAG" — đo lại chỉ 2,14:1. Phải tự kiểm số AI đưa ra.</a:t>
            </a:r>
            <a:endParaRPr lang="en-US" sz="1250" dirty="0"/>
          </a:p>
        </p:txBody>
      </p:sp>
      <p:pic>
        <p:nvPicPr>
          <p:cNvPr id="22" name="Image 0" descr="D:\Study\FPTU\Sem8\PRM323\prm393-lab2\assets\stitch\02_initial_stitch_detai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0" y="1463040"/>
            <a:ext cx="1112818" cy="4251960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6675120" y="5760720"/>
            <a:ext cx="11128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 tiết</a:t>
            </a:r>
            <a:endParaRPr lang="en-US" sz="1100" dirty="0"/>
          </a:p>
        </p:txBody>
      </p:sp>
      <p:pic>
        <p:nvPicPr>
          <p:cNvPr id="24" name="Image 1" descr="D:\Study\FPTU\Sem8\PRM323\prm393-lab2\assets\stitch\03_initial_stitch_car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16538" y="1463040"/>
            <a:ext cx="1287214" cy="4251960"/>
          </a:xfrm>
          <a:prstGeom prst="rect">
            <a:avLst/>
          </a:prstGeom>
        </p:spPr>
      </p:pic>
      <p:sp>
        <p:nvSpPr>
          <p:cNvPr id="25" name="Text 20"/>
          <p:cNvSpPr txBox="1"/>
          <p:nvPr/>
        </p:nvSpPr>
        <p:spPr>
          <a:xfrm>
            <a:off x="8016538" y="5760720"/>
            <a:ext cx="128721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Giỏ hàng</a:t>
            </a:r>
            <a:endParaRPr lang="en-US" sz="1100" dirty="0"/>
          </a:p>
        </p:txBody>
      </p:sp>
      <p:pic>
        <p:nvPicPr>
          <p:cNvPr id="26" name="Image 2" descr="D:\Study\FPTU\Sem8\PRM323\prm393-lab2\assets\stitch\04_initial_stitch_tracking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32352" y="1463040"/>
            <a:ext cx="1229082" cy="4251960"/>
          </a:xfrm>
          <a:prstGeom prst="rect">
            <a:avLst/>
          </a:prstGeom>
        </p:spPr>
      </p:pic>
      <p:sp>
        <p:nvSpPr>
          <p:cNvPr id="27" name="Text 21"/>
          <p:cNvSpPr txBox="1"/>
          <p:nvPr/>
        </p:nvSpPr>
        <p:spPr>
          <a:xfrm>
            <a:off x="9532352" y="5760720"/>
            <a:ext cx="122908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Theo dõi</a:t>
            </a:r>
            <a:endParaRPr lang="en-US" sz="1100" dirty="0"/>
          </a:p>
        </p:txBody>
      </p:sp>
      <p:sp>
        <p:nvSpPr>
          <p:cNvPr id="28" name="Text 22"/>
          <p:cNvSpPr txBox="1"/>
          <p:nvPr/>
        </p:nvSpPr>
        <p:spPr>
          <a:xfrm>
            <a:off x="6675120" y="603504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Ảnh gốc từ Google Stitch — assets/stitch/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BF4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640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69D3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6.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1143000" y="347472"/>
            <a:ext cx="9875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622B1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 Iterations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I01 · CTA KHÓ ĐỌC &amp; BỊ CHÌM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1908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Minh chứng: ai/ai-design-log.md mục 3 · ai/ai-evaluation-log.xlsx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11247120" y="64190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105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1554480"/>
            <a:ext cx="493776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500" dirty="0">
                <a:solidFill>
                  <a:srgbClr val="2E1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Problem: Nút "Thêm vào giỏ", "Thanh toán" chữ trắng trên cam nhạt; CTA trôi theo nội dung cuộn.</a:t>
            </a:r>
            <a:endParaRPr lang="en-US" sz="15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500" dirty="0">
                <a:solidFill>
                  <a:srgbClr val="2E1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refinement: Ghim CTA xuống đáy, hiện giá động trên nút.</a:t>
            </a:r>
            <a:endParaRPr lang="en-US" sz="15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500" dirty="0">
                <a:solidFill>
                  <a:srgbClr val="2E1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Outcome: CTA rõ hơn, nhưng đo lại chữ trắng/#F69D39 chỉ 2,14:1 → sửa tiếp ở D06 (chữ nâu, 5,23:1).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5760720" y="1463040"/>
            <a:ext cx="2834640" cy="4754880"/>
          </a:xfrm>
          <a:prstGeom prst="roundRect">
            <a:avLst>
              <a:gd name="adj" fmla="val 3226"/>
            </a:avLst>
          </a:prstGeom>
          <a:solidFill>
            <a:srgbClr val="FFFFFF"/>
          </a:solidFill>
          <a:ln w="15875">
            <a:solidFill>
              <a:srgbClr val="B45309"/>
            </a:solidFill>
            <a:prstDash val="dash"/>
          </a:ln>
        </p:spPr>
      </p:sp>
      <p:sp>
        <p:nvSpPr>
          <p:cNvPr id="10" name="Text 7"/>
          <p:cNvSpPr txBox="1"/>
          <p:nvPr/>
        </p:nvSpPr>
        <p:spPr>
          <a:xfrm>
            <a:off x="5852160" y="1463040"/>
            <a:ext cx="2651760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Stitch — TRƯỚC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(chụp lại từ lịch sử Stitch)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8823960" y="1463040"/>
            <a:ext cx="2834640" cy="4754880"/>
          </a:xfrm>
          <a:prstGeom prst="roundRect">
            <a:avLst>
              <a:gd name="adj" fmla="val 3226"/>
            </a:avLst>
          </a:prstGeom>
          <a:solidFill>
            <a:srgbClr val="FFFFFF"/>
          </a:solidFill>
          <a:ln w="15875">
            <a:solidFill>
              <a:srgbClr val="B45309"/>
            </a:solidFill>
            <a:prstDash val="dash"/>
          </a:ln>
        </p:spPr>
      </p:sp>
      <p:sp>
        <p:nvSpPr>
          <p:cNvPr id="12" name="Text 9"/>
          <p:cNvSpPr txBox="1"/>
          <p:nvPr/>
        </p:nvSpPr>
        <p:spPr>
          <a:xfrm>
            <a:off x="8915400" y="1463040"/>
            <a:ext cx="2651760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Stitch — SAU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(chụp lại từ lịch sử Stitch)</a:t>
            </a:r>
            <a:endParaRPr lang="en-US" sz="1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BF4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640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69D3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6.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1143000" y="347472"/>
            <a:ext cx="9875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622B1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 Iterations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I02 · THIẾU GIỎ TRỐNG &amp; DỄ XOÁ NHẦM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1908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Minh chứng: ai/ai-design-log.md mục 3 · ai/ai-evaluation-log.xlsx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11247120" y="64190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05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1554480"/>
            <a:ext cx="493776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500" dirty="0">
                <a:solidFill>
                  <a:srgbClr val="2E1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Problem: Xoá hết món thì màn trắng trơn; giảm số lượng về 0 là món biến mất ngay.</a:t>
            </a:r>
            <a:endParaRPr lang="en-US" sz="15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500" dirty="0">
                <a:solidFill>
                  <a:srgbClr val="2E1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refinement: Thêm empty state có thông điệp + 1 hành động; dialog xác nhận khi xoá.</a:t>
            </a:r>
            <a:endParaRPr lang="en-US" sz="15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500" dirty="0">
                <a:solidFill>
                  <a:srgbClr val="2E1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Outcome: Giỏ hàng không còn ngõ cụt; giảm xoá nhầm khi vừa đi vừa bấm.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5760720" y="1463040"/>
            <a:ext cx="2834640" cy="4754880"/>
          </a:xfrm>
          <a:prstGeom prst="roundRect">
            <a:avLst>
              <a:gd name="adj" fmla="val 3226"/>
            </a:avLst>
          </a:prstGeom>
          <a:solidFill>
            <a:srgbClr val="FFFFFF"/>
          </a:solidFill>
          <a:ln w="15875">
            <a:solidFill>
              <a:srgbClr val="B45309"/>
            </a:solidFill>
            <a:prstDash val="dash"/>
          </a:ln>
        </p:spPr>
      </p:sp>
      <p:sp>
        <p:nvSpPr>
          <p:cNvPr id="10" name="Text 7"/>
          <p:cNvSpPr txBox="1"/>
          <p:nvPr/>
        </p:nvSpPr>
        <p:spPr>
          <a:xfrm>
            <a:off x="5852160" y="1463040"/>
            <a:ext cx="2651760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Stitch — TRƯỚC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(chụp lại từ lịch sử Stitch)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8823960" y="1463040"/>
            <a:ext cx="2834640" cy="4754880"/>
          </a:xfrm>
          <a:prstGeom prst="roundRect">
            <a:avLst>
              <a:gd name="adj" fmla="val 3226"/>
            </a:avLst>
          </a:prstGeom>
          <a:solidFill>
            <a:srgbClr val="FFFFFF"/>
          </a:solidFill>
          <a:ln w="15875">
            <a:solidFill>
              <a:srgbClr val="B45309"/>
            </a:solidFill>
            <a:prstDash val="dash"/>
          </a:ln>
        </p:spPr>
      </p:sp>
      <p:sp>
        <p:nvSpPr>
          <p:cNvPr id="12" name="Text 9"/>
          <p:cNvSpPr txBox="1"/>
          <p:nvPr/>
        </p:nvSpPr>
        <p:spPr>
          <a:xfrm>
            <a:off x="8915400" y="1463040"/>
            <a:ext cx="2651760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Stitch — SAU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(chụp lại từ lịch sử Stitch)</a:t>
            </a:r>
            <a:endParaRPr lang="en-US" sz="1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BF4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640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69D3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6.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1143000" y="347472"/>
            <a:ext cx="9875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622B1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 Iterations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I03 · LỖI THANH TOÁN LÀ NGÕ CỤT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1908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Minh chứng: ai/ai-design-log.md mục 3 · ai/ai-evaluation-log.xlsx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11247120" y="64190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105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1554480"/>
            <a:ext cx="493776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500" dirty="0">
                <a:solidFill>
                  <a:srgbClr val="2E1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Problem: Timeout chỉ báo toast đỏ rồi về Home, xoá sạch giỏ hàng.</a:t>
            </a:r>
            <a:endParaRPr lang="en-US" sz="15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500" dirty="0">
                <a:solidFill>
                  <a:srgbClr val="2E1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refinement: Màn S06-ERR: giải thích bằng ngôn ngữ thường, giữ giỏ, 2 lối: Thử lại / Tiền mặt.</a:t>
            </a:r>
            <a:endParaRPr lang="en-US" sz="15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500" dirty="0">
                <a:solidFill>
                  <a:srgbClr val="2E1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Outcome: Flow 3 có phục hồi; nhãn nút được thống nhất ở D16.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5760720" y="1463040"/>
            <a:ext cx="2834640" cy="4754880"/>
          </a:xfrm>
          <a:prstGeom prst="roundRect">
            <a:avLst>
              <a:gd name="adj" fmla="val 3226"/>
            </a:avLst>
          </a:prstGeom>
          <a:solidFill>
            <a:srgbClr val="FFFFFF"/>
          </a:solidFill>
          <a:ln w="15875">
            <a:solidFill>
              <a:srgbClr val="B45309"/>
            </a:solidFill>
            <a:prstDash val="dash"/>
          </a:ln>
        </p:spPr>
      </p:sp>
      <p:sp>
        <p:nvSpPr>
          <p:cNvPr id="10" name="Text 7"/>
          <p:cNvSpPr txBox="1"/>
          <p:nvPr/>
        </p:nvSpPr>
        <p:spPr>
          <a:xfrm>
            <a:off x="5852160" y="1463040"/>
            <a:ext cx="2651760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Stitch — TRƯỚC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(chụp lại từ lịch sử Stitch)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8823960" y="1463040"/>
            <a:ext cx="2834640" cy="4754880"/>
          </a:xfrm>
          <a:prstGeom prst="roundRect">
            <a:avLst>
              <a:gd name="adj" fmla="val 3226"/>
            </a:avLst>
          </a:prstGeom>
          <a:solidFill>
            <a:srgbClr val="FFFFFF"/>
          </a:solidFill>
          <a:ln w="15875">
            <a:solidFill>
              <a:srgbClr val="B45309"/>
            </a:solidFill>
            <a:prstDash val="dash"/>
          </a:ln>
        </p:spPr>
      </p:sp>
      <p:sp>
        <p:nvSpPr>
          <p:cNvPr id="12" name="Text 9"/>
          <p:cNvSpPr txBox="1"/>
          <p:nvPr/>
        </p:nvSpPr>
        <p:spPr>
          <a:xfrm>
            <a:off x="8915400" y="1463040"/>
            <a:ext cx="2651760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Stitch — SAU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(chụp lại từ lịch sử Stitch)</a:t>
            </a:r>
            <a:endParaRPr lang="en-US" sz="12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BF4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640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69D3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6.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1143000" y="347472"/>
            <a:ext cx="9875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622B1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 UX Critique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PHÁT HIỆN UX GẮN MÀN HÌNH — NIELSEN · WCAG · PERSONA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1908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Minh chứng: ai/ai-design-log.md mục 4 + Phụ lục A · ai/ai-evaluation-log.xlsx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11247120" y="64190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105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1099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463040"/>
                <a:gridCol w="3383280"/>
                <a:gridCol w="3200400"/>
                <a:gridCol w="822960"/>
                <a:gridCol w="77724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Màn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22B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Tiêu chí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22B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Vấn đề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22B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Đề xuất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22B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Mức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22B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QĐ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22B14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E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S02 Home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E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Nielsen #1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E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Không thấy quầy mở / tạm dừng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E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Badge trạng thái Kiosk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E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E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D01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E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S04 Chi tiết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E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Nielsen #6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E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Giá topping không cộng dồn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E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Giá động trên CTA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E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E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D02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E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Toàn app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E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WCAG 1.4.3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E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Chữ trắng / cam = 2,14:1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E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Chữ nút nâu #622B14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E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E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D06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E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S02 Home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E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Nielsen #2, #6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E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Ảnh món là ô giữ chỗ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E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Dùng ảnh món thật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E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E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D14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E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S04 Chi tiết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E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WCAG 2.5.5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E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Nút +/- ~24–28 dp, sát CTA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E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Vùng chạm 48 dp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E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Vừa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E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D13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E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S06-ERR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E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Nielsen #9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E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Lộ mã lỗi #PAY_402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E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Đưa vào "Mã tham chiếu"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E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Thấp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E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D11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 5"/>
          <p:cNvSpPr txBox="1"/>
          <p:nvPr/>
        </p:nvSpPr>
        <p:spPr>
          <a:xfrm>
            <a:off x="548640" y="57150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Tổng: 28 phát hiện qua 6 vòng đánh giá (Gemini + Claude + đo WCAG), 0 phát hiện chưa có quyết định.</a:t>
            </a:r>
            <a:endParaRPr lang="en-US" sz="13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BF4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640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69D3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6.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1143000" y="347472"/>
            <a:ext cx="9875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622B1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 UX Critique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TỔNG HỢP CÁC VÒNG AI ĐÁNH GIÁ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1908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Minh chứng: ai/ai-evaluation-log.xlsx (sheet Summary)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11247120" y="64190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105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548640" y="1463040"/>
          <a:ext cx="658368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5"/>
          <p:cNvSpPr/>
          <p:nvPr/>
        </p:nvSpPr>
        <p:spPr>
          <a:xfrm>
            <a:off x="7406640" y="1463040"/>
            <a:ext cx="425196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E8D9C6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7635240" y="1554480"/>
            <a:ext cx="1371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1580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</a:t>
            </a:r>
            <a:endParaRPr lang="en-US" sz="4400" dirty="0"/>
          </a:p>
        </p:txBody>
      </p:sp>
      <p:sp>
        <p:nvSpPr>
          <p:cNvPr id="11" name="Text 7"/>
          <p:cNvSpPr txBox="1"/>
          <p:nvPr/>
        </p:nvSpPr>
        <p:spPr>
          <a:xfrm>
            <a:off x="9052560" y="1554480"/>
            <a:ext cx="2468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622B1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Accept</a:t>
            </a:r>
            <a:endParaRPr lang="en-US" sz="2200" dirty="0"/>
          </a:p>
        </p:txBody>
      </p:sp>
      <p:sp>
        <p:nvSpPr>
          <p:cNvPr id="12" name="Shape 8"/>
          <p:cNvSpPr/>
          <p:nvPr/>
        </p:nvSpPr>
        <p:spPr>
          <a:xfrm>
            <a:off x="7406640" y="3017520"/>
            <a:ext cx="425196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E8D9C6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7635240" y="3108960"/>
            <a:ext cx="1371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B4530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4400" dirty="0"/>
          </a:p>
        </p:txBody>
      </p:sp>
      <p:sp>
        <p:nvSpPr>
          <p:cNvPr id="14" name="Text 10"/>
          <p:cNvSpPr txBox="1"/>
          <p:nvPr/>
        </p:nvSpPr>
        <p:spPr>
          <a:xfrm>
            <a:off x="9052560" y="3108960"/>
            <a:ext cx="2468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622B1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Modify</a:t>
            </a:r>
            <a:endParaRPr lang="en-US" sz="2200" dirty="0"/>
          </a:p>
        </p:txBody>
      </p:sp>
      <p:sp>
        <p:nvSpPr>
          <p:cNvPr id="15" name="Shape 11"/>
          <p:cNvSpPr/>
          <p:nvPr/>
        </p:nvSpPr>
        <p:spPr>
          <a:xfrm>
            <a:off x="7406640" y="4572000"/>
            <a:ext cx="425196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E8D9C6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7635240" y="4663440"/>
            <a:ext cx="1371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B91C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4400" dirty="0"/>
          </a:p>
        </p:txBody>
      </p:sp>
      <p:sp>
        <p:nvSpPr>
          <p:cNvPr id="17" name="Text 13"/>
          <p:cNvSpPr txBox="1"/>
          <p:nvPr/>
        </p:nvSpPr>
        <p:spPr>
          <a:xfrm>
            <a:off x="9052560" y="4663440"/>
            <a:ext cx="2468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622B1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Reject</a:t>
            </a:r>
            <a:endParaRPr lang="en-US" sz="22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BF4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640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69D3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7.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1143000" y="347472"/>
            <a:ext cx="9875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622B1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Design Decisions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 · MODIFY · REJECT — LÝ DO GẮN PERSONA, HEURISTIC, RÀNG BUỘC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1908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Minh chứng: ai/ai-design-log.md mục 5 · design/design-decisions.md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11247120" y="64190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548640" y="1463040"/>
            <a:ext cx="3611880" cy="3931920"/>
          </a:xfrm>
          <a:prstGeom prst="roundRect">
            <a:avLst>
              <a:gd name="adj" fmla="val 2532"/>
            </a:avLst>
          </a:prstGeom>
          <a:solidFill>
            <a:srgbClr val="FFFFFF"/>
          </a:solidFill>
          <a:ln w="9525">
            <a:solidFill>
              <a:srgbClr val="E8D9C6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31520" y="1627632"/>
            <a:ext cx="1097280" cy="292608"/>
          </a:xfrm>
          <a:prstGeom prst="roundRect">
            <a:avLst>
              <a:gd name="adj" fmla="val 50000"/>
            </a:avLst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31520" y="1627632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731520" y="2011680"/>
            <a:ext cx="3246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622B1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Giá topping cộng dồn trên nút CTA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731520" y="2468880"/>
            <a:ext cx="324612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2E1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Đề xuất: Gemini (C02)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2E1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Lý do: Nielsen #6 — không bắt nhẩm; P02 có ngân sách giới hạn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2E1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Áp dụng: S04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4297680" y="1463040"/>
            <a:ext cx="3611880" cy="3931920"/>
          </a:xfrm>
          <a:prstGeom prst="roundRect">
            <a:avLst>
              <a:gd name="adj" fmla="val 2532"/>
            </a:avLst>
          </a:prstGeom>
          <a:solidFill>
            <a:srgbClr val="FFFFFF"/>
          </a:solidFill>
          <a:ln w="9525">
            <a:solidFill>
              <a:srgbClr val="E8D9C6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4480560" y="1627632"/>
            <a:ext cx="1097280" cy="292608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4480560" y="1627632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MODIFY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4480560" y="2011680"/>
            <a:ext cx="3246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622B1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Giữ nền cam, đổi chữ nút sang nâu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4480560" y="2468880"/>
            <a:ext cx="324612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2E1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Đề xuất: chữ trắng trên #F69D39 (I01)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2E1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Lý do: WCAG 1.4.3 — đo lại 2,14:1; dùng ngoài nắng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2E1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Kết quả: #622B14 trên #F69D39 = 5,23:1 (D06)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8046720" y="1463040"/>
            <a:ext cx="3611880" cy="3931920"/>
          </a:xfrm>
          <a:prstGeom prst="roundRect">
            <a:avLst>
              <a:gd name="adj" fmla="val 2532"/>
            </a:avLst>
          </a:prstGeom>
          <a:solidFill>
            <a:srgbClr val="FFFFFF"/>
          </a:solidFill>
          <a:ln w="9525">
            <a:solidFill>
              <a:srgbClr val="E8D9C6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8229600" y="1627632"/>
            <a:ext cx="1097280" cy="292608"/>
          </a:xfrm>
          <a:prstGeom prst="roundRect">
            <a:avLst>
              <a:gd name="adj" fmla="val 50000"/>
            </a:avLst>
          </a:prstGeom>
          <a:solidFill>
            <a:srgbClr val="B91C1C"/>
          </a:solidFill>
          <a:ln w="12700">
            <a:solidFill>
              <a:srgbClr val="B91C1C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8229600" y="1627632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REJECT</a:t>
            </a:r>
            <a:endParaRPr lang="en-US" sz="1100" dirty="0"/>
          </a:p>
        </p:txBody>
      </p:sp>
      <p:sp>
        <p:nvSpPr>
          <p:cNvPr id="21" name="Text 18"/>
          <p:cNvSpPr txBox="1"/>
          <p:nvPr/>
        </p:nvSpPr>
        <p:spPr>
          <a:xfrm>
            <a:off x="8229600" y="2011680"/>
            <a:ext cx="3246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622B1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Không thêm đăng nhập tích điểm</a:t>
            </a:r>
            <a:endParaRPr lang="en-US" sz="1600" dirty="0"/>
          </a:p>
        </p:txBody>
      </p:sp>
      <p:sp>
        <p:nvSpPr>
          <p:cNvPr id="22" name="Text 19"/>
          <p:cNvSpPr txBox="1"/>
          <p:nvPr/>
        </p:nvSpPr>
        <p:spPr>
          <a:xfrm>
            <a:off x="8229600" y="2468880"/>
            <a:ext cx="324612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2E1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Đề xuất: Claude (Phụ lục A #9)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2E1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Lý do: A1, A3 bỏ app nếu bắt đăng ký; mục tiêu &lt; 35 giây, ≤ 8 chạm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2E1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Ngoài phạm vi Lab 2 (D12)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548640" y="5532120"/>
            <a:ext cx="11109960" cy="731520"/>
          </a:xfrm>
          <a:prstGeom prst="roundRect">
            <a:avLst>
              <a:gd name="adj" fmla="val 12500"/>
            </a:avLst>
          </a:prstGeom>
          <a:solidFill>
            <a:srgbClr val="F6E7D3"/>
          </a:solidFill>
          <a:ln w="9525">
            <a:solidFill>
              <a:srgbClr val="F6E7D3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777240" y="553212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2E1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Còn: chỉ huỷ đơn trong 60 giây (D04 Modify, ràng buộc bếp) · không chuyển sang web QR (D20 Reject, ràng buộc đề bài).</a:t>
            </a:r>
            <a:endParaRPr lang="en-US" sz="13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BF4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640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69D3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7.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1143000" y="347472"/>
            <a:ext cx="9875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622B1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Design Decisions — Evidence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THAY ĐỔI NHÌN THẤY TRÊN MÀN HÌNH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1908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Minh chứng: Figma Page 03 · assets/figma/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11247120" y="64190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105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141732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 · Giá động trên CTA (S04)</a:t>
            </a:r>
            <a:endParaRPr lang="en-US" sz="1350" dirty="0"/>
          </a:p>
        </p:txBody>
      </p:sp>
      <p:sp>
        <p:nvSpPr>
          <p:cNvPr id="9" name="Shape 6"/>
          <p:cNvSpPr/>
          <p:nvPr/>
        </p:nvSpPr>
        <p:spPr>
          <a:xfrm>
            <a:off x="548640" y="1828800"/>
            <a:ext cx="3611880" cy="4389120"/>
          </a:xfrm>
          <a:prstGeom prst="roundRect">
            <a:avLst>
              <a:gd name="adj" fmla="val 2532"/>
            </a:avLst>
          </a:prstGeom>
          <a:solidFill>
            <a:srgbClr val="FFF5E5"/>
          </a:solidFill>
          <a:ln w="9525">
            <a:solidFill>
              <a:srgbClr val="E8D9C6"/>
            </a:solidFill>
            <a:prstDash val="solid"/>
          </a:ln>
        </p:spPr>
      </p:sp>
      <p:pic>
        <p:nvPicPr>
          <p:cNvPr id="10" name="Image 0" descr="D:\Study\FPTU\Sem8\PRM323\prm393-lab2\assets\figma\S0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35092" y="1965960"/>
            <a:ext cx="1638975" cy="365760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1535092" y="1965960"/>
            <a:ext cx="1638975" cy="3657600"/>
          </a:xfrm>
          <a:prstGeom prst="rect">
            <a:avLst/>
          </a:prstGeom>
          <a:ln w="9525">
            <a:solidFill>
              <a:srgbClr val="E8D9C6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685800" y="5669280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"Thêm vào giỏ • 44.000đ" cộng cả topping</a:t>
            </a:r>
            <a:endParaRPr lang="en-US" sz="1200" dirty="0"/>
          </a:p>
        </p:txBody>
      </p:sp>
      <p:sp>
        <p:nvSpPr>
          <p:cNvPr id="13" name="Text 9"/>
          <p:cNvSpPr txBox="1"/>
          <p:nvPr/>
        </p:nvSpPr>
        <p:spPr>
          <a:xfrm>
            <a:off x="4297680" y="141732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MODIFY · Chữ nút nâu 5,23:1</a:t>
            </a:r>
            <a:endParaRPr lang="en-US" sz="1350" dirty="0"/>
          </a:p>
        </p:txBody>
      </p:sp>
      <p:sp>
        <p:nvSpPr>
          <p:cNvPr id="14" name="Shape 10"/>
          <p:cNvSpPr/>
          <p:nvPr/>
        </p:nvSpPr>
        <p:spPr>
          <a:xfrm>
            <a:off x="4297680" y="1828800"/>
            <a:ext cx="3611880" cy="4389120"/>
          </a:xfrm>
          <a:prstGeom prst="roundRect">
            <a:avLst>
              <a:gd name="adj" fmla="val 2532"/>
            </a:avLst>
          </a:prstGeom>
          <a:solidFill>
            <a:srgbClr val="FFF5E5"/>
          </a:solidFill>
          <a:ln w="9525">
            <a:solidFill>
              <a:srgbClr val="E8D9C6"/>
            </a:solidFill>
            <a:prstDash val="solid"/>
          </a:ln>
        </p:spPr>
      </p:sp>
      <p:pic>
        <p:nvPicPr>
          <p:cNvPr id="15" name="Image 1" descr="D:\Study\FPTU\Sem8\PRM323\prm393-lab2\assets\figma\S05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80660" y="1965960"/>
            <a:ext cx="1645920" cy="3657600"/>
          </a:xfrm>
          <a:prstGeom prst="rect">
            <a:avLst/>
          </a:prstGeom>
        </p:spPr>
      </p:pic>
      <p:sp>
        <p:nvSpPr>
          <p:cNvPr id="16" name="Shape 11"/>
          <p:cNvSpPr/>
          <p:nvPr/>
        </p:nvSpPr>
        <p:spPr>
          <a:xfrm>
            <a:off x="5280660" y="1965960"/>
            <a:ext cx="1645920" cy="3657600"/>
          </a:xfrm>
          <a:prstGeom prst="rect">
            <a:avLst/>
          </a:prstGeom>
          <a:ln w="9525">
            <a:solidFill>
              <a:srgbClr val="E8D9C6"/>
            </a:solidFill>
            <a:prstDash val="solid"/>
          </a:ln>
        </p:spPr>
      </p:sp>
      <p:sp>
        <p:nvSpPr>
          <p:cNvPr id="17" name="Text 12"/>
          <p:cNvSpPr txBox="1"/>
          <p:nvPr/>
        </p:nvSpPr>
        <p:spPr>
          <a:xfrm>
            <a:off x="4434840" y="5669280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Nền cam giữ nguyên, chữ #622B14</a:t>
            </a:r>
            <a:endParaRPr lang="en-US" sz="1200" dirty="0"/>
          </a:p>
        </p:txBody>
      </p:sp>
      <p:sp>
        <p:nvSpPr>
          <p:cNvPr id="18" name="Text 13"/>
          <p:cNvSpPr txBox="1"/>
          <p:nvPr/>
        </p:nvSpPr>
        <p:spPr>
          <a:xfrm>
            <a:off x="8046720" y="141732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REJECT · Không có màn đăng nhập (S02)</a:t>
            </a:r>
            <a:endParaRPr lang="en-US" sz="1350" dirty="0"/>
          </a:p>
        </p:txBody>
      </p:sp>
      <p:sp>
        <p:nvSpPr>
          <p:cNvPr id="19" name="Shape 14"/>
          <p:cNvSpPr/>
          <p:nvPr/>
        </p:nvSpPr>
        <p:spPr>
          <a:xfrm>
            <a:off x="8046720" y="1828800"/>
            <a:ext cx="3611880" cy="4389120"/>
          </a:xfrm>
          <a:prstGeom prst="roundRect">
            <a:avLst>
              <a:gd name="adj" fmla="val 2532"/>
            </a:avLst>
          </a:prstGeom>
          <a:solidFill>
            <a:srgbClr val="FFF5E5"/>
          </a:solidFill>
          <a:ln w="9525">
            <a:solidFill>
              <a:srgbClr val="E8D9C6"/>
            </a:solidFill>
            <a:prstDash val="solid"/>
          </a:ln>
        </p:spPr>
      </p:sp>
      <p:pic>
        <p:nvPicPr>
          <p:cNvPr id="20" name="Image 2" descr="D:\Study\FPTU\Sem8\PRM323\prm393-lab2\assets\figma\S0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29700" y="1965960"/>
            <a:ext cx="1645920" cy="3657600"/>
          </a:xfrm>
          <a:prstGeom prst="rect">
            <a:avLst/>
          </a:prstGeom>
        </p:spPr>
      </p:pic>
      <p:sp>
        <p:nvSpPr>
          <p:cNvPr id="21" name="Shape 15"/>
          <p:cNvSpPr/>
          <p:nvPr/>
        </p:nvSpPr>
        <p:spPr>
          <a:xfrm>
            <a:off x="9029700" y="1965960"/>
            <a:ext cx="1645920" cy="3657600"/>
          </a:xfrm>
          <a:prstGeom prst="rect">
            <a:avLst/>
          </a:prstGeom>
          <a:ln w="9525">
            <a:solidFill>
              <a:srgbClr val="E8D9C6"/>
            </a:solidFill>
            <a:prstDash val="solid"/>
          </a:ln>
        </p:spPr>
      </p:sp>
      <p:sp>
        <p:nvSpPr>
          <p:cNvPr id="22" name="Text 16"/>
          <p:cNvSpPr txBox="1"/>
          <p:nvPr/>
        </p:nvSpPr>
        <p:spPr>
          <a:xfrm>
            <a:off x="8183880" y="5669280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Mở app là thấy menu và trạng thái quán</a:t>
            </a:r>
            <a:endParaRPr lang="en-US" sz="12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BF4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640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69D3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8.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1143000" y="347472"/>
            <a:ext cx="9875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622B1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Wireframe → Final UI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BỐ CỤC &amp; PHÂN CẤP — 4/8 MÀN ĐẶT MÓN (BẢN V2)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1908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Minh chứng: Figma Page 02 · Page 03 · assets/figma/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11247120" y="64190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548640" y="1417320"/>
            <a:ext cx="5486400" cy="2331720"/>
          </a:xfrm>
          <a:prstGeom prst="roundRect">
            <a:avLst>
              <a:gd name="adj" fmla="val 3922"/>
            </a:avLst>
          </a:prstGeom>
          <a:solidFill>
            <a:srgbClr val="FFFFFF"/>
          </a:solidFill>
          <a:ln w="9525">
            <a:solidFill>
              <a:srgbClr val="E8D9C6"/>
            </a:solidFill>
            <a:prstDash val="solid"/>
          </a:ln>
        </p:spPr>
        <p:txBody>
          <a:bodyPr/>
          <a:p/>
        </p:txBody>
      </p:sp>
      <p:sp>
        <p:nvSpPr>
          <p:cNvPr id="9" name="Text 6"/>
          <p:cNvSpPr txBox="1"/>
          <p:nvPr/>
        </p:nvSpPr>
        <p:spPr>
          <a:xfrm>
            <a:off x="731520" y="155448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622B1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S02 Trang chủ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731520" y="2057400"/>
            <a:ext cx="21031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Badge quán, gợi ý nhanh, giỏ trên app bar</a:t>
            </a:r>
            <a:endParaRPr lang="en-US" sz="1250" dirty="0"/>
          </a:p>
        </p:txBody>
      </p:sp>
      <p:pic>
        <p:nvPicPr>
          <p:cNvPr id="11" name="Image 0" descr="D:\Study\FPTU\Sem8\PRM323\prm393-lab2\assets\figma\WF-S0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61243" y="1554480"/>
            <a:ext cx="838434" cy="1828800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3261243" y="1554480"/>
            <a:ext cx="838434" cy="1828800"/>
          </a:xfrm>
          <a:prstGeom prst="rect">
            <a:avLst/>
          </a:prstGeom>
          <a:ln w="9525">
            <a:solidFill>
              <a:srgbClr val="E8D9C6"/>
            </a:solidFill>
            <a:prstDash val="solid"/>
          </a:ln>
        </p:spPr>
        <p:txBody>
          <a:bodyPr/>
          <a:p/>
        </p:txBody>
      </p:sp>
      <p:pic>
        <p:nvPicPr>
          <p:cNvPr id="13" name="Image 1" descr="D:\Study\FPTU\Sem8\PRM323\prm393-lab2\assets\figma\S0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77740" y="1554480"/>
            <a:ext cx="822960" cy="1828800"/>
          </a:xfrm>
          <a:prstGeom prst="rect">
            <a:avLst/>
          </a:prstGeom>
        </p:spPr>
      </p:pic>
      <p:sp>
        <p:nvSpPr>
          <p:cNvPr id="14" name="Shape 9"/>
          <p:cNvSpPr/>
          <p:nvPr/>
        </p:nvSpPr>
        <p:spPr>
          <a:xfrm>
            <a:off x="4777740" y="1554480"/>
            <a:ext cx="822960" cy="1828800"/>
          </a:xfrm>
          <a:prstGeom prst="rect">
            <a:avLst/>
          </a:prstGeom>
          <a:ln w="9525">
            <a:solidFill>
              <a:srgbClr val="E8D9C6"/>
            </a:solidFill>
            <a:prstDash val="solid"/>
          </a:ln>
        </p:spPr>
        <p:txBody>
          <a:bodyPr/>
          <a:p/>
        </p:txBody>
      </p:sp>
      <p:sp>
        <p:nvSpPr>
          <p:cNvPr id="15" name="Text 10"/>
          <p:cNvSpPr txBox="1"/>
          <p:nvPr/>
        </p:nvSpPr>
        <p:spPr>
          <a:xfrm>
            <a:off x="2971800" y="3383280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Wireframe</a:t>
            </a:r>
            <a:endParaRPr lang="en-US" sz="1000" dirty="0"/>
          </a:p>
        </p:txBody>
      </p:sp>
      <p:sp>
        <p:nvSpPr>
          <p:cNvPr id="16" name="Text 11"/>
          <p:cNvSpPr txBox="1"/>
          <p:nvPr/>
        </p:nvSpPr>
        <p:spPr>
          <a:xfrm>
            <a:off x="4480560" y="3383280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UI</a:t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6172200" y="1417320"/>
            <a:ext cx="5486400" cy="2331720"/>
          </a:xfrm>
          <a:prstGeom prst="roundRect">
            <a:avLst>
              <a:gd name="adj" fmla="val 3922"/>
            </a:avLst>
          </a:prstGeom>
          <a:solidFill>
            <a:srgbClr val="FFFFFF"/>
          </a:solidFill>
          <a:ln w="9525">
            <a:solidFill>
              <a:srgbClr val="E8D9C6"/>
            </a:solidFill>
            <a:prstDash val="solid"/>
          </a:ln>
        </p:spPr>
        <p:txBody>
          <a:bodyPr/>
          <a:p/>
        </p:txBody>
      </p:sp>
      <p:sp>
        <p:nvSpPr>
          <p:cNvPr id="18" name="Text 13"/>
          <p:cNvSpPr txBox="1"/>
          <p:nvPr/>
        </p:nvSpPr>
        <p:spPr>
          <a:xfrm>
            <a:off x="6355080" y="155448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622B1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S04 Chi tiết món</a:t>
            </a:r>
            <a:endParaRPr lang="en-US" sz="1600" dirty="0"/>
          </a:p>
        </p:txBody>
      </p:sp>
      <p:sp>
        <p:nvSpPr>
          <p:cNvPr id="19" name="Text 14"/>
          <p:cNvSpPr txBox="1"/>
          <p:nvPr/>
        </p:nvSpPr>
        <p:spPr>
          <a:xfrm>
            <a:off x="6355080" y="2057400"/>
            <a:ext cx="21031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Topping checkbox 48 dp, CTA ghim đáy kèm giá</a:t>
            </a:r>
            <a:endParaRPr lang="en-US" sz="1250" dirty="0"/>
          </a:p>
        </p:txBody>
      </p:sp>
      <p:pic>
        <p:nvPicPr>
          <p:cNvPr id="20" name="Image 2" descr="D:\Study\FPTU\Sem8\PRM323\prm393-lab2\assets\figma\WF-S04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82558" y="1554480"/>
            <a:ext cx="842924" cy="1828800"/>
          </a:xfrm>
          <a:prstGeom prst="rect">
            <a:avLst/>
          </a:prstGeom>
        </p:spPr>
      </p:pic>
      <p:sp>
        <p:nvSpPr>
          <p:cNvPr id="21" name="Shape 15"/>
          <p:cNvSpPr/>
          <p:nvPr/>
        </p:nvSpPr>
        <p:spPr>
          <a:xfrm>
            <a:off x="8882558" y="1554480"/>
            <a:ext cx="842924" cy="1828800"/>
          </a:xfrm>
          <a:prstGeom prst="rect">
            <a:avLst/>
          </a:prstGeom>
          <a:ln w="9525">
            <a:solidFill>
              <a:srgbClr val="E8D9C6"/>
            </a:solidFill>
            <a:prstDash val="solid"/>
          </a:ln>
        </p:spPr>
        <p:txBody>
          <a:bodyPr/>
          <a:p/>
        </p:txBody>
      </p:sp>
      <p:pic>
        <p:nvPicPr>
          <p:cNvPr id="22" name="Image 3" descr="D:\Study\FPTU\Sem8\PRM323\prm393-lab2\assets\figma\S04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03036" y="1554480"/>
            <a:ext cx="819488" cy="1828800"/>
          </a:xfrm>
          <a:prstGeom prst="rect">
            <a:avLst/>
          </a:prstGeom>
        </p:spPr>
      </p:pic>
      <p:sp>
        <p:nvSpPr>
          <p:cNvPr id="23" name="Shape 16"/>
          <p:cNvSpPr/>
          <p:nvPr/>
        </p:nvSpPr>
        <p:spPr>
          <a:xfrm>
            <a:off x="10403036" y="1554480"/>
            <a:ext cx="819488" cy="1828800"/>
          </a:xfrm>
          <a:prstGeom prst="rect">
            <a:avLst/>
          </a:prstGeom>
          <a:ln w="9525">
            <a:solidFill>
              <a:srgbClr val="E8D9C6"/>
            </a:solidFill>
            <a:prstDash val="solid"/>
          </a:ln>
        </p:spPr>
        <p:txBody>
          <a:bodyPr/>
          <a:p/>
        </p:txBody>
      </p:sp>
      <p:sp>
        <p:nvSpPr>
          <p:cNvPr id="24" name="Text 17"/>
          <p:cNvSpPr txBox="1"/>
          <p:nvPr/>
        </p:nvSpPr>
        <p:spPr>
          <a:xfrm>
            <a:off x="8595360" y="3383280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Wireframe</a:t>
            </a:r>
            <a:endParaRPr lang="en-US" sz="1000" dirty="0"/>
          </a:p>
        </p:txBody>
      </p:sp>
      <p:sp>
        <p:nvSpPr>
          <p:cNvPr id="25" name="Text 18"/>
          <p:cNvSpPr txBox="1"/>
          <p:nvPr/>
        </p:nvSpPr>
        <p:spPr>
          <a:xfrm>
            <a:off x="10104120" y="3383280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UI</a:t>
            </a:r>
            <a:endParaRPr lang="en-US" sz="1000" dirty="0"/>
          </a:p>
        </p:txBody>
      </p:sp>
      <p:sp>
        <p:nvSpPr>
          <p:cNvPr id="26" name="Shape 19"/>
          <p:cNvSpPr/>
          <p:nvPr/>
        </p:nvSpPr>
        <p:spPr>
          <a:xfrm>
            <a:off x="548640" y="3867912"/>
            <a:ext cx="5486400" cy="2331720"/>
          </a:xfrm>
          <a:prstGeom prst="roundRect">
            <a:avLst>
              <a:gd name="adj" fmla="val 3922"/>
            </a:avLst>
          </a:prstGeom>
          <a:solidFill>
            <a:srgbClr val="FFFFFF"/>
          </a:solidFill>
          <a:ln w="9525">
            <a:solidFill>
              <a:srgbClr val="E8D9C6"/>
            </a:solidFill>
            <a:prstDash val="solid"/>
          </a:ln>
        </p:spPr>
        <p:txBody>
          <a:bodyPr/>
          <a:p/>
        </p:txBody>
      </p:sp>
      <p:sp>
        <p:nvSpPr>
          <p:cNvPr id="27" name="Text 20"/>
          <p:cNvSpPr txBox="1"/>
          <p:nvPr/>
        </p:nvSpPr>
        <p:spPr>
          <a:xfrm>
            <a:off x="731520" y="4005072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622B1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S05 Giỏ hàng</a:t>
            </a:r>
            <a:endParaRPr lang="en-US" sz="1600" dirty="0"/>
          </a:p>
        </p:txBody>
      </p:sp>
      <p:sp>
        <p:nvSpPr>
          <p:cNvPr id="28" name="Text 21"/>
          <p:cNvSpPr txBox="1"/>
          <p:nvPr/>
        </p:nvSpPr>
        <p:spPr>
          <a:xfrm>
            <a:off x="731520" y="4507992"/>
            <a:ext cx="21031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Mã giảm giá, hẹn giờ nhận, tổng tiền</a:t>
            </a:r>
            <a:endParaRPr lang="en-US" sz="1250" dirty="0"/>
          </a:p>
        </p:txBody>
      </p:sp>
      <p:sp>
        <p:nvSpPr>
          <p:cNvPr id="29" name="Shape 22"/>
          <p:cNvSpPr/>
          <p:nvPr/>
        </p:nvSpPr>
        <p:spPr>
          <a:xfrm>
            <a:off x="2971800" y="4005072"/>
            <a:ext cx="1417320" cy="182880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5875">
            <a:solidFill>
              <a:srgbClr val="B45309"/>
            </a:solidFill>
            <a:prstDash val="dash"/>
          </a:ln>
        </p:spPr>
        <p:txBody>
          <a:bodyPr/>
          <a:p/>
        </p:txBody>
      </p:sp>
      <p:sp>
        <p:nvSpPr>
          <p:cNvPr id="30" name="Text 23"/>
          <p:cNvSpPr txBox="1"/>
          <p:nvPr/>
        </p:nvSpPr>
        <p:spPr>
          <a:xfrm>
            <a:off x="3063240" y="4005072"/>
            <a:ext cx="12344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Xem Figma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02</a:t>
            </a:r>
            <a:endParaRPr lang="en-US" sz="1200" dirty="0"/>
          </a:p>
        </p:txBody>
      </p:sp>
      <p:pic>
        <p:nvPicPr>
          <p:cNvPr id="31" name="Image 4" descr="D:\Study\FPTU\Sem8\PRM323\prm393-lab2\assets\figma\S05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77740" y="4005072"/>
            <a:ext cx="822960" cy="1828800"/>
          </a:xfrm>
          <a:prstGeom prst="rect">
            <a:avLst/>
          </a:prstGeom>
        </p:spPr>
      </p:pic>
      <p:sp>
        <p:nvSpPr>
          <p:cNvPr id="32" name="Shape 24"/>
          <p:cNvSpPr/>
          <p:nvPr/>
        </p:nvSpPr>
        <p:spPr>
          <a:xfrm>
            <a:off x="4777740" y="4005072"/>
            <a:ext cx="822960" cy="1828800"/>
          </a:xfrm>
          <a:prstGeom prst="rect">
            <a:avLst/>
          </a:prstGeom>
          <a:ln w="9525">
            <a:solidFill>
              <a:srgbClr val="E8D9C6"/>
            </a:solidFill>
            <a:prstDash val="solid"/>
          </a:ln>
        </p:spPr>
        <p:txBody>
          <a:bodyPr/>
          <a:p/>
        </p:txBody>
      </p:sp>
      <p:sp>
        <p:nvSpPr>
          <p:cNvPr id="33" name="Text 25"/>
          <p:cNvSpPr txBox="1"/>
          <p:nvPr/>
        </p:nvSpPr>
        <p:spPr>
          <a:xfrm>
            <a:off x="2971800" y="5833872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Wireframe</a:t>
            </a:r>
            <a:endParaRPr lang="en-US" sz="1000" dirty="0"/>
          </a:p>
        </p:txBody>
      </p:sp>
      <p:sp>
        <p:nvSpPr>
          <p:cNvPr id="34" name="Text 26"/>
          <p:cNvSpPr txBox="1"/>
          <p:nvPr/>
        </p:nvSpPr>
        <p:spPr>
          <a:xfrm>
            <a:off x="4480560" y="5833872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UI</a:t>
            </a:r>
            <a:endParaRPr lang="en-US" sz="1000" dirty="0"/>
          </a:p>
        </p:txBody>
      </p:sp>
      <p:sp>
        <p:nvSpPr>
          <p:cNvPr id="35" name="Shape 27"/>
          <p:cNvSpPr/>
          <p:nvPr/>
        </p:nvSpPr>
        <p:spPr>
          <a:xfrm>
            <a:off x="6172200" y="3867912"/>
            <a:ext cx="5486400" cy="2331720"/>
          </a:xfrm>
          <a:prstGeom prst="roundRect">
            <a:avLst>
              <a:gd name="adj" fmla="val 3922"/>
            </a:avLst>
          </a:prstGeom>
          <a:solidFill>
            <a:srgbClr val="FFFFFF"/>
          </a:solidFill>
          <a:ln w="9525">
            <a:solidFill>
              <a:srgbClr val="E8D9C6"/>
            </a:solidFill>
            <a:prstDash val="solid"/>
          </a:ln>
        </p:spPr>
        <p:txBody>
          <a:bodyPr/>
          <a:p/>
        </p:txBody>
      </p:sp>
      <p:sp>
        <p:nvSpPr>
          <p:cNvPr id="36" name="Text 28"/>
          <p:cNvSpPr txBox="1"/>
          <p:nvPr/>
        </p:nvSpPr>
        <p:spPr>
          <a:xfrm>
            <a:off x="6355080" y="4005072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622B1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S06 Thanh toán</a:t>
            </a:r>
            <a:endParaRPr lang="en-US" sz="1600" dirty="0"/>
          </a:p>
        </p:txBody>
      </p:sp>
      <p:sp>
        <p:nvSpPr>
          <p:cNvPr id="37" name="Text 29"/>
          <p:cNvSpPr txBox="1"/>
          <p:nvPr/>
        </p:nvSpPr>
        <p:spPr>
          <a:xfrm>
            <a:off x="6355080" y="4507992"/>
            <a:ext cx="21031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Phương thức, dialog xác nhận</a:t>
            </a:r>
            <a:endParaRPr lang="en-US" sz="1250" dirty="0"/>
          </a:p>
        </p:txBody>
      </p:sp>
      <p:sp>
        <p:nvSpPr>
          <p:cNvPr id="38" name="Shape 30"/>
          <p:cNvSpPr/>
          <p:nvPr/>
        </p:nvSpPr>
        <p:spPr>
          <a:xfrm>
            <a:off x="8595360" y="4005072"/>
            <a:ext cx="1417320" cy="182880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5875">
            <a:solidFill>
              <a:srgbClr val="B45309"/>
            </a:solidFill>
            <a:prstDash val="dash"/>
          </a:ln>
        </p:spPr>
        <p:txBody>
          <a:bodyPr/>
          <a:p/>
        </p:txBody>
      </p:sp>
      <p:sp>
        <p:nvSpPr>
          <p:cNvPr id="39" name="Text 31"/>
          <p:cNvSpPr txBox="1"/>
          <p:nvPr/>
        </p:nvSpPr>
        <p:spPr>
          <a:xfrm>
            <a:off x="8686800" y="4005072"/>
            <a:ext cx="12344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Xem Figma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02</a:t>
            </a:r>
            <a:endParaRPr lang="en-US" sz="1200" dirty="0"/>
          </a:p>
        </p:txBody>
      </p:sp>
      <p:pic>
        <p:nvPicPr>
          <p:cNvPr id="40" name="Image 5" descr="D:\Study\FPTU\Sem8\PRM323\prm393-lab2\assets\figma\S06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401300" y="4005072"/>
            <a:ext cx="822960" cy="1828800"/>
          </a:xfrm>
          <a:prstGeom prst="rect">
            <a:avLst/>
          </a:prstGeom>
        </p:spPr>
      </p:pic>
      <p:sp>
        <p:nvSpPr>
          <p:cNvPr id="41" name="Shape 32"/>
          <p:cNvSpPr/>
          <p:nvPr/>
        </p:nvSpPr>
        <p:spPr>
          <a:xfrm>
            <a:off x="10401300" y="4005072"/>
            <a:ext cx="822960" cy="1828800"/>
          </a:xfrm>
          <a:prstGeom prst="rect">
            <a:avLst/>
          </a:prstGeom>
          <a:ln w="9525">
            <a:solidFill>
              <a:srgbClr val="E8D9C6"/>
            </a:solidFill>
            <a:prstDash val="solid"/>
          </a:ln>
        </p:spPr>
        <p:txBody>
          <a:bodyPr/>
          <a:p/>
        </p:txBody>
      </p:sp>
      <p:sp>
        <p:nvSpPr>
          <p:cNvPr id="42" name="Text 33"/>
          <p:cNvSpPr txBox="1"/>
          <p:nvPr/>
        </p:nvSpPr>
        <p:spPr>
          <a:xfrm>
            <a:off x="8595360" y="5833872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Wireframe</a:t>
            </a:r>
            <a:endParaRPr lang="en-US" sz="1000" dirty="0"/>
          </a:p>
        </p:txBody>
      </p:sp>
      <p:sp>
        <p:nvSpPr>
          <p:cNvPr id="43" name="Text 34"/>
          <p:cNvSpPr txBox="1"/>
          <p:nvPr/>
        </p:nvSpPr>
        <p:spPr>
          <a:xfrm>
            <a:off x="10104120" y="5833872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UI</a:t>
            </a:r>
            <a:endParaRPr lang="en-US" sz="10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BF4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640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69D3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8.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1143000" y="347472"/>
            <a:ext cx="9875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622B1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Wireframe → Final UI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NHẤT QUÁN CÁC MÀN ĐẶT MÓN CÒN LẠI (BẢN V2)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1908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Minh chứng: Figma Page 02 · Page 03 · assets/figma/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11247120" y="64190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548640" y="1417320"/>
            <a:ext cx="5486400" cy="2331720"/>
          </a:xfrm>
          <a:prstGeom prst="roundRect">
            <a:avLst>
              <a:gd name="adj" fmla="val 3922"/>
            </a:avLst>
          </a:prstGeom>
          <a:solidFill>
            <a:srgbClr val="FFFFFF"/>
          </a:solidFill>
          <a:ln w="9525">
            <a:solidFill>
              <a:srgbClr val="E8D9C6"/>
            </a:solidFill>
            <a:prstDash val="solid"/>
          </a:ln>
        </p:spPr>
        <p:txBody>
          <a:bodyPr/>
          <a:p/>
        </p:txBody>
      </p:sp>
      <p:sp>
        <p:nvSpPr>
          <p:cNvPr id="9" name="Text 6"/>
          <p:cNvSpPr txBox="1"/>
          <p:nvPr/>
        </p:nvSpPr>
        <p:spPr>
          <a:xfrm>
            <a:off x="731520" y="155448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622B1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S01 Onboarding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731520" y="2057400"/>
            <a:ext cx="21031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Giá trị cốt lõi, nút Bắt đầu + Bỏ qua</a:t>
            </a:r>
            <a:endParaRPr lang="en-US" sz="1250" dirty="0"/>
          </a:p>
        </p:txBody>
      </p:sp>
      <p:pic>
        <p:nvPicPr>
          <p:cNvPr id="11" name="Image 0" descr="D:\Study\FPTU\Sem8\PRM323\prm393-lab2\assets\figma\WF-S0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61243" y="1554480"/>
            <a:ext cx="838434" cy="1828800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3261243" y="1554480"/>
            <a:ext cx="838434" cy="1828800"/>
          </a:xfrm>
          <a:prstGeom prst="rect">
            <a:avLst/>
          </a:prstGeom>
          <a:ln w="9525">
            <a:solidFill>
              <a:srgbClr val="E8D9C6"/>
            </a:solidFill>
            <a:prstDash val="solid"/>
          </a:ln>
        </p:spPr>
        <p:txBody>
          <a:bodyPr/>
          <a:p/>
        </p:txBody>
      </p:sp>
      <p:pic>
        <p:nvPicPr>
          <p:cNvPr id="13" name="Image 1" descr="D:\Study\FPTU\Sem8\PRM323\prm393-lab2\assets\figma\S0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77740" y="1554480"/>
            <a:ext cx="822960" cy="1828800"/>
          </a:xfrm>
          <a:prstGeom prst="rect">
            <a:avLst/>
          </a:prstGeom>
        </p:spPr>
      </p:pic>
      <p:sp>
        <p:nvSpPr>
          <p:cNvPr id="14" name="Shape 9"/>
          <p:cNvSpPr/>
          <p:nvPr/>
        </p:nvSpPr>
        <p:spPr>
          <a:xfrm>
            <a:off x="4777740" y="1554480"/>
            <a:ext cx="822960" cy="1828800"/>
          </a:xfrm>
          <a:prstGeom prst="rect">
            <a:avLst/>
          </a:prstGeom>
          <a:ln w="9525">
            <a:solidFill>
              <a:srgbClr val="E8D9C6"/>
            </a:solidFill>
            <a:prstDash val="solid"/>
          </a:ln>
        </p:spPr>
        <p:txBody>
          <a:bodyPr/>
          <a:p/>
        </p:txBody>
      </p:sp>
      <p:sp>
        <p:nvSpPr>
          <p:cNvPr id="15" name="Text 10"/>
          <p:cNvSpPr txBox="1"/>
          <p:nvPr/>
        </p:nvSpPr>
        <p:spPr>
          <a:xfrm>
            <a:off x="2971800" y="3383280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Wireframe</a:t>
            </a:r>
            <a:endParaRPr lang="en-US" sz="1000" dirty="0"/>
          </a:p>
        </p:txBody>
      </p:sp>
      <p:sp>
        <p:nvSpPr>
          <p:cNvPr id="16" name="Text 11"/>
          <p:cNvSpPr txBox="1"/>
          <p:nvPr/>
        </p:nvSpPr>
        <p:spPr>
          <a:xfrm>
            <a:off x="4480560" y="3383280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UI</a:t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6172200" y="1417320"/>
            <a:ext cx="5486400" cy="2331720"/>
          </a:xfrm>
          <a:prstGeom prst="roundRect">
            <a:avLst>
              <a:gd name="adj" fmla="val 3922"/>
            </a:avLst>
          </a:prstGeom>
          <a:solidFill>
            <a:srgbClr val="FFFFFF"/>
          </a:solidFill>
          <a:ln w="9525">
            <a:solidFill>
              <a:srgbClr val="E8D9C6"/>
            </a:solidFill>
            <a:prstDash val="solid"/>
          </a:ln>
        </p:spPr>
        <p:txBody>
          <a:bodyPr/>
          <a:p/>
        </p:txBody>
      </p:sp>
      <p:sp>
        <p:nvSpPr>
          <p:cNvPr id="18" name="Text 13"/>
          <p:cNvSpPr txBox="1"/>
          <p:nvPr/>
        </p:nvSpPr>
        <p:spPr>
          <a:xfrm>
            <a:off x="6355080" y="155448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622B1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S03 Thực đơn</a:t>
            </a:r>
            <a:endParaRPr lang="en-US" sz="1600" dirty="0"/>
          </a:p>
        </p:txBody>
      </p:sp>
      <p:sp>
        <p:nvSpPr>
          <p:cNvPr id="19" name="Text 14"/>
          <p:cNvSpPr txBox="1"/>
          <p:nvPr/>
        </p:nvSpPr>
        <p:spPr>
          <a:xfrm>
            <a:off x="6355080" y="2057400"/>
            <a:ext cx="21031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Danh mục, tìm kiếm, thẻ món</a:t>
            </a:r>
            <a:endParaRPr lang="en-US" sz="1250" dirty="0"/>
          </a:p>
        </p:txBody>
      </p:sp>
      <p:sp>
        <p:nvSpPr>
          <p:cNvPr id="20" name="Shape 15"/>
          <p:cNvSpPr/>
          <p:nvPr/>
        </p:nvSpPr>
        <p:spPr>
          <a:xfrm>
            <a:off x="8595360" y="1554480"/>
            <a:ext cx="1417320" cy="182880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5875">
            <a:solidFill>
              <a:srgbClr val="B45309"/>
            </a:solidFill>
            <a:prstDash val="dash"/>
          </a:ln>
        </p:spPr>
        <p:txBody>
          <a:bodyPr/>
          <a:p/>
        </p:txBody>
      </p:sp>
      <p:sp>
        <p:nvSpPr>
          <p:cNvPr id="21" name="Text 16"/>
          <p:cNvSpPr txBox="1"/>
          <p:nvPr/>
        </p:nvSpPr>
        <p:spPr>
          <a:xfrm>
            <a:off x="8686800" y="1554480"/>
            <a:ext cx="12344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Xem Figma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02</a:t>
            </a:r>
            <a:endParaRPr lang="en-US" sz="1200" dirty="0"/>
          </a:p>
        </p:txBody>
      </p:sp>
      <p:pic>
        <p:nvPicPr>
          <p:cNvPr id="22" name="Image 2" descr="D:\Study\FPTU\Sem8\PRM323\prm393-lab2\assets\figma\S03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01300" y="1554480"/>
            <a:ext cx="822960" cy="1828800"/>
          </a:xfrm>
          <a:prstGeom prst="rect">
            <a:avLst/>
          </a:prstGeom>
        </p:spPr>
      </p:pic>
      <p:sp>
        <p:nvSpPr>
          <p:cNvPr id="23" name="Shape 17"/>
          <p:cNvSpPr/>
          <p:nvPr/>
        </p:nvSpPr>
        <p:spPr>
          <a:xfrm>
            <a:off x="10401300" y="1554480"/>
            <a:ext cx="822960" cy="1828800"/>
          </a:xfrm>
          <a:prstGeom prst="rect">
            <a:avLst/>
          </a:prstGeom>
          <a:ln w="9525">
            <a:solidFill>
              <a:srgbClr val="E8D9C6"/>
            </a:solidFill>
            <a:prstDash val="solid"/>
          </a:ln>
        </p:spPr>
        <p:txBody>
          <a:bodyPr/>
          <a:p/>
        </p:txBody>
      </p:sp>
      <p:sp>
        <p:nvSpPr>
          <p:cNvPr id="24" name="Text 18"/>
          <p:cNvSpPr txBox="1"/>
          <p:nvPr/>
        </p:nvSpPr>
        <p:spPr>
          <a:xfrm>
            <a:off x="8595360" y="3383280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Wireframe</a:t>
            </a:r>
            <a:endParaRPr lang="en-US" sz="1000" dirty="0"/>
          </a:p>
        </p:txBody>
      </p:sp>
      <p:sp>
        <p:nvSpPr>
          <p:cNvPr id="25" name="Text 19"/>
          <p:cNvSpPr txBox="1"/>
          <p:nvPr/>
        </p:nvSpPr>
        <p:spPr>
          <a:xfrm>
            <a:off x="10104120" y="3383280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UI</a:t>
            </a:r>
            <a:endParaRPr lang="en-US" sz="1000" dirty="0"/>
          </a:p>
        </p:txBody>
      </p:sp>
      <p:sp>
        <p:nvSpPr>
          <p:cNvPr id="26" name="Shape 20"/>
          <p:cNvSpPr/>
          <p:nvPr/>
        </p:nvSpPr>
        <p:spPr>
          <a:xfrm>
            <a:off x="548640" y="3867912"/>
            <a:ext cx="5486400" cy="2331720"/>
          </a:xfrm>
          <a:prstGeom prst="roundRect">
            <a:avLst>
              <a:gd name="adj" fmla="val 3922"/>
            </a:avLst>
          </a:prstGeom>
          <a:solidFill>
            <a:srgbClr val="FFFFFF"/>
          </a:solidFill>
          <a:ln w="9525">
            <a:solidFill>
              <a:srgbClr val="E8D9C6"/>
            </a:solidFill>
            <a:prstDash val="solid"/>
          </a:ln>
        </p:spPr>
        <p:txBody>
          <a:bodyPr/>
          <a:p/>
        </p:txBody>
      </p:sp>
      <p:sp>
        <p:nvSpPr>
          <p:cNvPr id="27" name="Text 21"/>
          <p:cNvSpPr txBox="1"/>
          <p:nvPr/>
        </p:nvSpPr>
        <p:spPr>
          <a:xfrm>
            <a:off x="731520" y="4005072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622B1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S07 Theo dõi đơn</a:t>
            </a:r>
            <a:endParaRPr lang="en-US" sz="1600" dirty="0"/>
          </a:p>
        </p:txBody>
      </p:sp>
      <p:sp>
        <p:nvSpPr>
          <p:cNvPr id="28" name="Text 22"/>
          <p:cNvSpPr txBox="1"/>
          <p:nvPr/>
        </p:nvSpPr>
        <p:spPr>
          <a:xfrm>
            <a:off x="731520" y="4507992"/>
            <a:ext cx="21031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Mã #A-204 + QR, tiến trình 4 bước</a:t>
            </a:r>
            <a:endParaRPr lang="en-US" sz="1250" dirty="0"/>
          </a:p>
        </p:txBody>
      </p:sp>
      <p:sp>
        <p:nvSpPr>
          <p:cNvPr id="29" name="Shape 23"/>
          <p:cNvSpPr/>
          <p:nvPr/>
        </p:nvSpPr>
        <p:spPr>
          <a:xfrm>
            <a:off x="2971800" y="4005072"/>
            <a:ext cx="1417320" cy="182880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5875">
            <a:solidFill>
              <a:srgbClr val="B45309"/>
            </a:solidFill>
            <a:prstDash val="dash"/>
          </a:ln>
        </p:spPr>
        <p:txBody>
          <a:bodyPr/>
          <a:p/>
        </p:txBody>
      </p:sp>
      <p:sp>
        <p:nvSpPr>
          <p:cNvPr id="30" name="Text 24"/>
          <p:cNvSpPr txBox="1"/>
          <p:nvPr/>
        </p:nvSpPr>
        <p:spPr>
          <a:xfrm>
            <a:off x="3063240" y="4005072"/>
            <a:ext cx="12344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Xem Figma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02</a:t>
            </a:r>
            <a:endParaRPr lang="en-US" sz="1200" dirty="0"/>
          </a:p>
        </p:txBody>
      </p:sp>
      <p:pic>
        <p:nvPicPr>
          <p:cNvPr id="31" name="Image 3" descr="D:\Study\FPTU\Sem8\PRM323\prm393-lab2\assets\figma\S07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77740" y="4005072"/>
            <a:ext cx="822960" cy="1828800"/>
          </a:xfrm>
          <a:prstGeom prst="rect">
            <a:avLst/>
          </a:prstGeom>
        </p:spPr>
      </p:pic>
      <p:sp>
        <p:nvSpPr>
          <p:cNvPr id="32" name="Shape 25"/>
          <p:cNvSpPr/>
          <p:nvPr/>
        </p:nvSpPr>
        <p:spPr>
          <a:xfrm>
            <a:off x="4777740" y="4005072"/>
            <a:ext cx="822960" cy="1828800"/>
          </a:xfrm>
          <a:prstGeom prst="rect">
            <a:avLst/>
          </a:prstGeom>
          <a:ln w="9525">
            <a:solidFill>
              <a:srgbClr val="E8D9C6"/>
            </a:solidFill>
            <a:prstDash val="solid"/>
          </a:ln>
        </p:spPr>
        <p:txBody>
          <a:bodyPr/>
          <a:p/>
        </p:txBody>
      </p:sp>
      <p:sp>
        <p:nvSpPr>
          <p:cNvPr id="33" name="Text 26"/>
          <p:cNvSpPr txBox="1"/>
          <p:nvPr/>
        </p:nvSpPr>
        <p:spPr>
          <a:xfrm>
            <a:off x="2971800" y="5833872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Wireframe</a:t>
            </a:r>
            <a:endParaRPr lang="en-US" sz="1000" dirty="0"/>
          </a:p>
        </p:txBody>
      </p:sp>
      <p:sp>
        <p:nvSpPr>
          <p:cNvPr id="34" name="Text 27"/>
          <p:cNvSpPr txBox="1"/>
          <p:nvPr/>
        </p:nvSpPr>
        <p:spPr>
          <a:xfrm>
            <a:off x="4480560" y="5833872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UI</a:t>
            </a:r>
            <a:endParaRPr lang="en-US" sz="1000" dirty="0"/>
          </a:p>
        </p:txBody>
      </p:sp>
      <p:sp>
        <p:nvSpPr>
          <p:cNvPr id="35" name="Shape 28"/>
          <p:cNvSpPr/>
          <p:nvPr/>
        </p:nvSpPr>
        <p:spPr>
          <a:xfrm>
            <a:off x="6172200" y="3867912"/>
            <a:ext cx="5486400" cy="2331720"/>
          </a:xfrm>
          <a:prstGeom prst="roundRect">
            <a:avLst>
              <a:gd name="adj" fmla="val 3922"/>
            </a:avLst>
          </a:prstGeom>
          <a:solidFill>
            <a:srgbClr val="FFFFFF"/>
          </a:solidFill>
          <a:ln w="9525">
            <a:solidFill>
              <a:srgbClr val="E8D9C6"/>
            </a:solidFill>
            <a:prstDash val="solid"/>
          </a:ln>
        </p:spPr>
        <p:txBody>
          <a:bodyPr/>
          <a:p/>
        </p:txBody>
      </p:sp>
      <p:sp>
        <p:nvSpPr>
          <p:cNvPr id="36" name="Text 29"/>
          <p:cNvSpPr txBox="1"/>
          <p:nvPr/>
        </p:nvSpPr>
        <p:spPr>
          <a:xfrm>
            <a:off x="6355080" y="4005072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622B1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S08 Lịch sử</a:t>
            </a:r>
            <a:endParaRPr lang="en-US" sz="1600" dirty="0"/>
          </a:p>
        </p:txBody>
      </p:sp>
      <p:sp>
        <p:nvSpPr>
          <p:cNvPr id="37" name="Text 30"/>
          <p:cNvSpPr txBox="1"/>
          <p:nvPr/>
        </p:nvSpPr>
        <p:spPr>
          <a:xfrm>
            <a:off x="6355080" y="4507992"/>
            <a:ext cx="21031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Đơn cũ, Đặt lại 1 chạm</a:t>
            </a:r>
            <a:endParaRPr lang="en-US" sz="1250" dirty="0"/>
          </a:p>
        </p:txBody>
      </p:sp>
      <p:sp>
        <p:nvSpPr>
          <p:cNvPr id="38" name="Shape 31"/>
          <p:cNvSpPr/>
          <p:nvPr/>
        </p:nvSpPr>
        <p:spPr>
          <a:xfrm>
            <a:off x="8595360" y="4005072"/>
            <a:ext cx="1417320" cy="182880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5875">
            <a:solidFill>
              <a:srgbClr val="B45309"/>
            </a:solidFill>
            <a:prstDash val="dash"/>
          </a:ln>
        </p:spPr>
        <p:txBody>
          <a:bodyPr/>
          <a:p/>
        </p:txBody>
      </p:sp>
      <p:sp>
        <p:nvSpPr>
          <p:cNvPr id="39" name="Text 32"/>
          <p:cNvSpPr txBox="1"/>
          <p:nvPr/>
        </p:nvSpPr>
        <p:spPr>
          <a:xfrm>
            <a:off x="8686800" y="4005072"/>
            <a:ext cx="12344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Xem Figma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02</a:t>
            </a:r>
            <a:endParaRPr lang="en-US" sz="1200" dirty="0"/>
          </a:p>
        </p:txBody>
      </p:sp>
      <p:pic>
        <p:nvPicPr>
          <p:cNvPr id="40" name="Image 4" descr="D:\Study\FPTU\Sem8\PRM323\prm393-lab2\assets\figma\S08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401300" y="4005072"/>
            <a:ext cx="822960" cy="1828800"/>
          </a:xfrm>
          <a:prstGeom prst="rect">
            <a:avLst/>
          </a:prstGeom>
        </p:spPr>
      </p:pic>
      <p:sp>
        <p:nvSpPr>
          <p:cNvPr id="41" name="Shape 33"/>
          <p:cNvSpPr/>
          <p:nvPr/>
        </p:nvSpPr>
        <p:spPr>
          <a:xfrm>
            <a:off x="10401300" y="4005072"/>
            <a:ext cx="822960" cy="1828800"/>
          </a:xfrm>
          <a:prstGeom prst="rect">
            <a:avLst/>
          </a:prstGeom>
          <a:ln w="9525">
            <a:solidFill>
              <a:srgbClr val="E8D9C6"/>
            </a:solidFill>
            <a:prstDash val="solid"/>
          </a:ln>
        </p:spPr>
        <p:txBody>
          <a:bodyPr/>
          <a:p/>
        </p:txBody>
      </p:sp>
      <p:sp>
        <p:nvSpPr>
          <p:cNvPr id="42" name="Text 34"/>
          <p:cNvSpPr txBox="1"/>
          <p:nvPr/>
        </p:nvSpPr>
        <p:spPr>
          <a:xfrm>
            <a:off x="8595360" y="5833872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Wireframe</a:t>
            </a:r>
            <a:endParaRPr lang="en-US" sz="1000" dirty="0"/>
          </a:p>
        </p:txBody>
      </p:sp>
      <p:sp>
        <p:nvSpPr>
          <p:cNvPr id="43" name="Text 35"/>
          <p:cNvSpPr txBox="1"/>
          <p:nvPr/>
        </p:nvSpPr>
        <p:spPr>
          <a:xfrm>
            <a:off x="10104120" y="5833872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UI</a:t>
            </a:r>
            <a:endParaRPr lang="en-US" sz="1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BF4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640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69D3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8.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1143000" y="347472"/>
            <a:ext cx="9875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622B1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System States &amp; Recovery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TRẠNG THÁI HỆ THỐNG — PHẢN HỒI RÕ RÀNG VÀ CÓ HƯỚNG XỬ LÝ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1908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Minh chứng: Figma Page 03 (biến thể) · assets/figma/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11247120" y="64190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548640" y="1417320"/>
            <a:ext cx="2697480" cy="4846320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E8D9C6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48640" y="1554480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B4530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EMPTY</a:t>
            </a:r>
            <a:endParaRPr lang="en-US" sz="170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1920240"/>
            <a:ext cx="2697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S05 · Giỏ hàng trống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3383280" y="1417320"/>
            <a:ext cx="2697480" cy="4846320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E8D9C6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3383280" y="1554480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622B1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LOADING</a:t>
            </a:r>
            <a:endParaRPr lang="en-US" sz="1700" dirty="0"/>
          </a:p>
        </p:txBody>
      </p:sp>
      <p:sp>
        <p:nvSpPr>
          <p:cNvPr id="13" name="Text 10"/>
          <p:cNvSpPr txBox="1"/>
          <p:nvPr/>
        </p:nvSpPr>
        <p:spPr>
          <a:xfrm>
            <a:off x="3383280" y="1920240"/>
            <a:ext cx="2697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S06-LOADING · Kết nối cổng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6217920" y="1417320"/>
            <a:ext cx="2697480" cy="4846320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E8D9C6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217920" y="1554480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B91C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ERROR</a:t>
            </a:r>
            <a:endParaRPr lang="en-US" sz="1700" dirty="0"/>
          </a:p>
        </p:txBody>
      </p:sp>
      <p:sp>
        <p:nvSpPr>
          <p:cNvPr id="16" name="Text 13"/>
          <p:cNvSpPr txBox="1"/>
          <p:nvPr/>
        </p:nvSpPr>
        <p:spPr>
          <a:xfrm>
            <a:off x="6217920" y="1920240"/>
            <a:ext cx="2697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S06-ERR · Lỗi thanh toán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9052560" y="1417320"/>
            <a:ext cx="2697480" cy="4846320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E8D9C6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9052560" y="1554480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580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SUCCESS</a:t>
            </a:r>
            <a:endParaRPr lang="en-US" sz="1700" dirty="0"/>
          </a:p>
        </p:txBody>
      </p:sp>
      <p:sp>
        <p:nvSpPr>
          <p:cNvPr id="19" name="Text 16"/>
          <p:cNvSpPr txBox="1"/>
          <p:nvPr/>
        </p:nvSpPr>
        <p:spPr>
          <a:xfrm>
            <a:off x="9052560" y="1920240"/>
            <a:ext cx="2697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S07 · Đã nhận đơn</a:t>
            </a:r>
            <a:endParaRPr lang="en-US" sz="1200" dirty="0"/>
          </a:p>
        </p:txBody>
      </p:sp>
      <p:pic>
        <p:nvPicPr>
          <p:cNvPr id="20" name="Image 0" descr="D:\Study\FPTU\Sem8\PRM323\prm393-lab2\assets\figma\S05-EMPT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7162" y="2331720"/>
            <a:ext cx="1700437" cy="3794760"/>
          </a:xfrm>
          <a:prstGeom prst="rect">
            <a:avLst/>
          </a:prstGeom>
        </p:spPr>
      </p:pic>
      <p:sp>
        <p:nvSpPr>
          <p:cNvPr id="21" name="Shape 17"/>
          <p:cNvSpPr/>
          <p:nvPr/>
        </p:nvSpPr>
        <p:spPr>
          <a:xfrm>
            <a:off x="1047162" y="2331720"/>
            <a:ext cx="1700437" cy="3794760"/>
          </a:xfrm>
          <a:prstGeom prst="rect">
            <a:avLst/>
          </a:prstGeom>
          <a:ln w="9525">
            <a:solidFill>
              <a:srgbClr val="E8D9C6"/>
            </a:solidFill>
            <a:prstDash val="solid"/>
          </a:ln>
        </p:spPr>
      </p:sp>
      <p:pic>
        <p:nvPicPr>
          <p:cNvPr id="22" name="Image 1" descr="D:\Study\FPTU\Sem8\PRM323\prm393-lab2\assets\figma\S06-LOADING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78199" y="2331720"/>
            <a:ext cx="1707642" cy="3794760"/>
          </a:xfrm>
          <a:prstGeom prst="rect">
            <a:avLst/>
          </a:prstGeom>
        </p:spPr>
      </p:pic>
      <p:sp>
        <p:nvSpPr>
          <p:cNvPr id="23" name="Shape 18"/>
          <p:cNvSpPr/>
          <p:nvPr/>
        </p:nvSpPr>
        <p:spPr>
          <a:xfrm>
            <a:off x="3878199" y="2331720"/>
            <a:ext cx="1707642" cy="3794760"/>
          </a:xfrm>
          <a:prstGeom prst="rect">
            <a:avLst/>
          </a:prstGeom>
          <a:ln w="9525">
            <a:solidFill>
              <a:srgbClr val="E8D9C6"/>
            </a:solidFill>
            <a:prstDash val="solid"/>
          </a:ln>
        </p:spPr>
      </p:sp>
      <p:pic>
        <p:nvPicPr>
          <p:cNvPr id="24" name="Image 2" descr="D:\Study\FPTU\Sem8\PRM323\prm393-lab2\assets\figma\S06-ERR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16442" y="2331720"/>
            <a:ext cx="1700437" cy="3794760"/>
          </a:xfrm>
          <a:prstGeom prst="rect">
            <a:avLst/>
          </a:prstGeom>
        </p:spPr>
      </p:pic>
      <p:sp>
        <p:nvSpPr>
          <p:cNvPr id="25" name="Shape 19"/>
          <p:cNvSpPr/>
          <p:nvPr/>
        </p:nvSpPr>
        <p:spPr>
          <a:xfrm>
            <a:off x="6716442" y="2331720"/>
            <a:ext cx="1700437" cy="3794760"/>
          </a:xfrm>
          <a:prstGeom prst="rect">
            <a:avLst/>
          </a:prstGeom>
          <a:ln w="9525">
            <a:solidFill>
              <a:srgbClr val="E8D9C6"/>
            </a:solidFill>
            <a:prstDash val="solid"/>
          </a:ln>
        </p:spPr>
      </p:sp>
      <p:pic>
        <p:nvPicPr>
          <p:cNvPr id="26" name="Image 3" descr="D:\Study\FPTU\Sem8\PRM323\prm393-lab2\assets\figma\S07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47479" y="2331720"/>
            <a:ext cx="1707642" cy="3794760"/>
          </a:xfrm>
          <a:prstGeom prst="rect">
            <a:avLst/>
          </a:prstGeom>
        </p:spPr>
      </p:pic>
      <p:sp>
        <p:nvSpPr>
          <p:cNvPr id="27" name="Shape 20"/>
          <p:cNvSpPr/>
          <p:nvPr/>
        </p:nvSpPr>
        <p:spPr>
          <a:xfrm>
            <a:off x="9547479" y="2331720"/>
            <a:ext cx="1707642" cy="3794760"/>
          </a:xfrm>
          <a:prstGeom prst="rect">
            <a:avLst/>
          </a:prstGeom>
          <a:ln w="9525">
            <a:solidFill>
              <a:srgbClr val="E8D9C6"/>
            </a:solidFill>
            <a:prstDash val="solid"/>
          </a:ln>
        </p:spPr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BF4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640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69D3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9.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1143000" y="347472"/>
            <a:ext cx="9875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622B1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Design System — Foundations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NỀN TẢNG THIẾT KẾ · FIGMA PAGE 04 (VARIABLES)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1908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Minh chứng: design/DESIGN.md mục 2 · 2.5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11247120" y="64190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548640" y="1417320"/>
            <a:ext cx="658368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9525">
            <a:solidFill>
              <a:srgbClr val="E8D9C6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7724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COLOR TOKENS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777240" y="1965960"/>
            <a:ext cx="749808" cy="749808"/>
          </a:xfrm>
          <a:prstGeom prst="roundRect">
            <a:avLst>
              <a:gd name="adj" fmla="val 12195"/>
            </a:avLst>
          </a:prstGeom>
          <a:solidFill>
            <a:srgbClr val="F69D39"/>
          </a:solidFill>
          <a:ln w="12700">
            <a:solidFill>
              <a:srgbClr val="E8D9C6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04088" y="2788920"/>
            <a:ext cx="8961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E1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</a:t>
            </a:r>
            <a:endParaRPr lang="en-US" sz="1000" dirty="0"/>
          </a:p>
        </p:txBody>
      </p:sp>
      <p:sp>
        <p:nvSpPr>
          <p:cNvPr id="12" name="Text 9"/>
          <p:cNvSpPr txBox="1"/>
          <p:nvPr/>
        </p:nvSpPr>
        <p:spPr>
          <a:xfrm>
            <a:off x="704088" y="3200400"/>
            <a:ext cx="896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#F69D39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1673352" y="1965960"/>
            <a:ext cx="749808" cy="749808"/>
          </a:xfrm>
          <a:prstGeom prst="roundRect">
            <a:avLst>
              <a:gd name="adj" fmla="val 12195"/>
            </a:avLst>
          </a:prstGeom>
          <a:solidFill>
            <a:srgbClr val="622B14"/>
          </a:solidFill>
          <a:ln w="12700">
            <a:solidFill>
              <a:srgbClr val="E8D9C6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1600200" y="2788920"/>
            <a:ext cx="8961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E1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on-primary</a:t>
            </a:r>
            <a:endParaRPr lang="en-US" sz="1000" dirty="0"/>
          </a:p>
        </p:txBody>
      </p:sp>
      <p:sp>
        <p:nvSpPr>
          <p:cNvPr id="15" name="Text 12"/>
          <p:cNvSpPr txBox="1"/>
          <p:nvPr/>
        </p:nvSpPr>
        <p:spPr>
          <a:xfrm>
            <a:off x="1600200" y="3200400"/>
            <a:ext cx="896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#622B14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2569464" y="1965960"/>
            <a:ext cx="749808" cy="749808"/>
          </a:xfrm>
          <a:prstGeom prst="roundRect">
            <a:avLst>
              <a:gd name="adj" fmla="val 12195"/>
            </a:avLst>
          </a:prstGeom>
          <a:solidFill>
            <a:srgbClr val="B45309"/>
          </a:solidFill>
          <a:ln w="12700">
            <a:solidFill>
              <a:srgbClr val="E8D9C6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2496312" y="2788920"/>
            <a:ext cx="8961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E1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primary-text</a:t>
            </a:r>
            <a:endParaRPr lang="en-US" sz="1000" dirty="0"/>
          </a:p>
        </p:txBody>
      </p:sp>
      <p:sp>
        <p:nvSpPr>
          <p:cNvPr id="18" name="Text 15"/>
          <p:cNvSpPr txBox="1"/>
          <p:nvPr/>
        </p:nvSpPr>
        <p:spPr>
          <a:xfrm>
            <a:off x="2496312" y="3200400"/>
            <a:ext cx="896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#B45309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3465576" y="1965960"/>
            <a:ext cx="749808" cy="749808"/>
          </a:xfrm>
          <a:prstGeom prst="roundRect">
            <a:avLst>
              <a:gd name="adj" fmla="val 12195"/>
            </a:avLst>
          </a:prstGeom>
          <a:solidFill>
            <a:srgbClr val="FFF5E5"/>
          </a:solidFill>
          <a:ln w="12700">
            <a:solidFill>
              <a:srgbClr val="E8D9C6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3392424" y="2788920"/>
            <a:ext cx="8961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E1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background</a:t>
            </a:r>
            <a:endParaRPr lang="en-US" sz="1000" dirty="0"/>
          </a:p>
        </p:txBody>
      </p:sp>
      <p:sp>
        <p:nvSpPr>
          <p:cNvPr id="21" name="Text 18"/>
          <p:cNvSpPr txBox="1"/>
          <p:nvPr/>
        </p:nvSpPr>
        <p:spPr>
          <a:xfrm>
            <a:off x="3392424" y="3200400"/>
            <a:ext cx="896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#FFF5E5</a:t>
            </a:r>
            <a:endParaRPr lang="en-US" sz="950" dirty="0"/>
          </a:p>
        </p:txBody>
      </p:sp>
      <p:sp>
        <p:nvSpPr>
          <p:cNvPr id="22" name="Shape 19"/>
          <p:cNvSpPr/>
          <p:nvPr/>
        </p:nvSpPr>
        <p:spPr>
          <a:xfrm>
            <a:off x="4361688" y="1965960"/>
            <a:ext cx="749808" cy="749808"/>
          </a:xfrm>
          <a:prstGeom prst="roundRect">
            <a:avLst>
              <a:gd name="adj" fmla="val 12195"/>
            </a:avLst>
          </a:prstGeom>
          <a:solidFill>
            <a:srgbClr val="8A5D48"/>
          </a:solidFill>
          <a:ln w="12700">
            <a:solidFill>
              <a:srgbClr val="E8D9C6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4288536" y="2788920"/>
            <a:ext cx="8961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E1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text-secondary</a:t>
            </a:r>
            <a:endParaRPr lang="en-US" sz="1000" dirty="0"/>
          </a:p>
        </p:txBody>
      </p:sp>
      <p:sp>
        <p:nvSpPr>
          <p:cNvPr id="24" name="Text 21"/>
          <p:cNvSpPr txBox="1"/>
          <p:nvPr/>
        </p:nvSpPr>
        <p:spPr>
          <a:xfrm>
            <a:off x="4288536" y="3200400"/>
            <a:ext cx="896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#8A5D48</a:t>
            </a:r>
            <a:endParaRPr lang="en-US" sz="950" dirty="0"/>
          </a:p>
        </p:txBody>
      </p:sp>
      <p:sp>
        <p:nvSpPr>
          <p:cNvPr id="25" name="Shape 22"/>
          <p:cNvSpPr/>
          <p:nvPr/>
        </p:nvSpPr>
        <p:spPr>
          <a:xfrm>
            <a:off x="5257800" y="1965960"/>
            <a:ext cx="749808" cy="749808"/>
          </a:xfrm>
          <a:prstGeom prst="roundRect">
            <a:avLst>
              <a:gd name="adj" fmla="val 12195"/>
            </a:avLst>
          </a:prstGeom>
          <a:solidFill>
            <a:srgbClr val="B91C1C"/>
          </a:solidFill>
          <a:ln w="12700">
            <a:solidFill>
              <a:srgbClr val="E8D9C6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5184648" y="2788920"/>
            <a:ext cx="8961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E1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</a:t>
            </a:r>
            <a:endParaRPr lang="en-US" sz="1000" dirty="0"/>
          </a:p>
        </p:txBody>
      </p:sp>
      <p:sp>
        <p:nvSpPr>
          <p:cNvPr id="27" name="Text 24"/>
          <p:cNvSpPr txBox="1"/>
          <p:nvPr/>
        </p:nvSpPr>
        <p:spPr>
          <a:xfrm>
            <a:off x="5184648" y="3200400"/>
            <a:ext cx="896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#B91C1C</a:t>
            </a:r>
            <a:endParaRPr lang="en-US" sz="950" dirty="0"/>
          </a:p>
        </p:txBody>
      </p:sp>
      <p:sp>
        <p:nvSpPr>
          <p:cNvPr id="28" name="Shape 25"/>
          <p:cNvSpPr/>
          <p:nvPr/>
        </p:nvSpPr>
        <p:spPr>
          <a:xfrm>
            <a:off x="6153912" y="1965960"/>
            <a:ext cx="749808" cy="749808"/>
          </a:xfrm>
          <a:prstGeom prst="roundRect">
            <a:avLst>
              <a:gd name="adj" fmla="val 12195"/>
            </a:avLst>
          </a:prstGeom>
          <a:solidFill>
            <a:srgbClr val="15803D"/>
          </a:solidFill>
          <a:ln w="12700">
            <a:solidFill>
              <a:srgbClr val="E8D9C6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6080760" y="2788920"/>
            <a:ext cx="8961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E1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success</a:t>
            </a:r>
            <a:endParaRPr lang="en-US" sz="1000" dirty="0"/>
          </a:p>
        </p:txBody>
      </p:sp>
      <p:sp>
        <p:nvSpPr>
          <p:cNvPr id="30" name="Text 27"/>
          <p:cNvSpPr txBox="1"/>
          <p:nvPr/>
        </p:nvSpPr>
        <p:spPr>
          <a:xfrm>
            <a:off x="6080760" y="3200400"/>
            <a:ext cx="896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#15803D</a:t>
            </a:r>
            <a:endParaRPr lang="en-US" sz="950" dirty="0"/>
          </a:p>
        </p:txBody>
      </p:sp>
      <p:sp>
        <p:nvSpPr>
          <p:cNvPr id="31" name="Shape 28"/>
          <p:cNvSpPr/>
          <p:nvPr/>
        </p:nvSpPr>
        <p:spPr>
          <a:xfrm>
            <a:off x="7360920" y="1417320"/>
            <a:ext cx="429768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9525">
            <a:solidFill>
              <a:srgbClr val="E8D9C6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7589520" y="1554480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TYPOGRAPHY · Nunito</a:t>
            </a:r>
            <a:endParaRPr lang="en-US" sz="1200" dirty="0"/>
          </a:p>
        </p:txBody>
      </p:sp>
      <p:sp>
        <p:nvSpPr>
          <p:cNvPr id="33" name="Text 30"/>
          <p:cNvSpPr txBox="1"/>
          <p:nvPr/>
        </p:nvSpPr>
        <p:spPr>
          <a:xfrm>
            <a:off x="7589520" y="192024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622B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Display</a:t>
            </a:r>
            <a:endParaRPr lang="en-US" sz="2200" dirty="0"/>
          </a:p>
        </p:txBody>
      </p:sp>
      <p:sp>
        <p:nvSpPr>
          <p:cNvPr id="34" name="Text 31"/>
          <p:cNvSpPr txBox="1"/>
          <p:nvPr/>
        </p:nvSpPr>
        <p:spPr>
          <a:xfrm>
            <a:off x="9464040" y="192024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 sp · Bold</a:t>
            </a:r>
            <a:endParaRPr lang="en-US" sz="1200" dirty="0"/>
          </a:p>
        </p:txBody>
      </p:sp>
      <p:sp>
        <p:nvSpPr>
          <p:cNvPr id="35" name="Text 32"/>
          <p:cNvSpPr txBox="1"/>
          <p:nvPr/>
        </p:nvSpPr>
        <p:spPr>
          <a:xfrm>
            <a:off x="7589520" y="2395728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622B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Headline</a:t>
            </a:r>
            <a:endParaRPr lang="en-US" sz="1800" dirty="0"/>
          </a:p>
        </p:txBody>
      </p:sp>
      <p:sp>
        <p:nvSpPr>
          <p:cNvPr id="36" name="Text 33"/>
          <p:cNvSpPr txBox="1"/>
          <p:nvPr/>
        </p:nvSpPr>
        <p:spPr>
          <a:xfrm>
            <a:off x="9464040" y="2395728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sp · Bold</a:t>
            </a:r>
            <a:endParaRPr lang="en-US" sz="1200" dirty="0"/>
          </a:p>
        </p:txBody>
      </p:sp>
      <p:sp>
        <p:nvSpPr>
          <p:cNvPr id="37" name="Text 34"/>
          <p:cNvSpPr txBox="1"/>
          <p:nvPr/>
        </p:nvSpPr>
        <p:spPr>
          <a:xfrm>
            <a:off x="7589520" y="2871216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622B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Title</a:t>
            </a:r>
            <a:endParaRPr lang="en-US" sz="1500" dirty="0"/>
          </a:p>
        </p:txBody>
      </p:sp>
      <p:sp>
        <p:nvSpPr>
          <p:cNvPr id="38" name="Text 35"/>
          <p:cNvSpPr txBox="1"/>
          <p:nvPr/>
        </p:nvSpPr>
        <p:spPr>
          <a:xfrm>
            <a:off x="9464040" y="2871216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sp · SemiBold</a:t>
            </a:r>
            <a:endParaRPr lang="en-US" sz="1200" dirty="0"/>
          </a:p>
        </p:txBody>
      </p:sp>
      <p:sp>
        <p:nvSpPr>
          <p:cNvPr id="39" name="Text 36"/>
          <p:cNvSpPr txBox="1"/>
          <p:nvPr/>
        </p:nvSpPr>
        <p:spPr>
          <a:xfrm>
            <a:off x="7589520" y="3346704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622B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Body</a:t>
            </a:r>
            <a:endParaRPr lang="en-US" sz="1300" dirty="0"/>
          </a:p>
        </p:txBody>
      </p:sp>
      <p:sp>
        <p:nvSpPr>
          <p:cNvPr id="40" name="Text 37"/>
          <p:cNvSpPr txBox="1"/>
          <p:nvPr/>
        </p:nvSpPr>
        <p:spPr>
          <a:xfrm>
            <a:off x="9464040" y="3346704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14–15 sp · Regular</a:t>
            </a:r>
            <a:endParaRPr lang="en-US" sz="1200" dirty="0"/>
          </a:p>
        </p:txBody>
      </p:sp>
      <p:sp>
        <p:nvSpPr>
          <p:cNvPr id="41" name="Shape 38"/>
          <p:cNvSpPr/>
          <p:nvPr/>
        </p:nvSpPr>
        <p:spPr>
          <a:xfrm>
            <a:off x="548640" y="4114800"/>
            <a:ext cx="365760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9525">
            <a:solidFill>
              <a:srgbClr val="E8D9C6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777240" y="42519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SPACING · lưới 4 dp</a:t>
            </a:r>
            <a:endParaRPr lang="en-US" sz="1200" dirty="0"/>
          </a:p>
        </p:txBody>
      </p:sp>
      <p:sp>
        <p:nvSpPr>
          <p:cNvPr id="43" name="Shape 40"/>
          <p:cNvSpPr/>
          <p:nvPr/>
        </p:nvSpPr>
        <p:spPr>
          <a:xfrm>
            <a:off x="777240" y="4983480"/>
            <a:ext cx="137160" cy="137160"/>
          </a:xfrm>
          <a:prstGeom prst="rect">
            <a:avLst/>
          </a:prstGeom>
          <a:solidFill>
            <a:srgbClr val="622B14"/>
          </a:solidFill>
          <a:ln w="12700">
            <a:solidFill>
              <a:srgbClr val="622B14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685800" y="5257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45" name="Shape 42"/>
          <p:cNvSpPr/>
          <p:nvPr/>
        </p:nvSpPr>
        <p:spPr>
          <a:xfrm>
            <a:off x="1325880" y="4937760"/>
            <a:ext cx="182880" cy="182880"/>
          </a:xfrm>
          <a:prstGeom prst="rect">
            <a:avLst/>
          </a:prstGeom>
          <a:solidFill>
            <a:srgbClr val="622B14"/>
          </a:solidFill>
          <a:ln w="12700">
            <a:solidFill>
              <a:srgbClr val="622B14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1234440" y="5257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100" dirty="0"/>
          </a:p>
        </p:txBody>
      </p:sp>
      <p:sp>
        <p:nvSpPr>
          <p:cNvPr id="47" name="Shape 44"/>
          <p:cNvSpPr/>
          <p:nvPr/>
        </p:nvSpPr>
        <p:spPr>
          <a:xfrm>
            <a:off x="1874520" y="4892040"/>
            <a:ext cx="228600" cy="228600"/>
          </a:xfrm>
          <a:prstGeom prst="rect">
            <a:avLst/>
          </a:prstGeom>
          <a:solidFill>
            <a:srgbClr val="622B14"/>
          </a:solidFill>
          <a:ln w="12700">
            <a:solidFill>
              <a:srgbClr val="622B14"/>
            </a:solidFill>
            <a:prstDash val="solid"/>
          </a:ln>
        </p:spPr>
      </p:sp>
      <p:sp>
        <p:nvSpPr>
          <p:cNvPr id="48" name="Text 45"/>
          <p:cNvSpPr txBox="1"/>
          <p:nvPr/>
        </p:nvSpPr>
        <p:spPr>
          <a:xfrm>
            <a:off x="1783080" y="5257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100" dirty="0"/>
          </a:p>
        </p:txBody>
      </p:sp>
      <p:sp>
        <p:nvSpPr>
          <p:cNvPr id="49" name="Shape 46"/>
          <p:cNvSpPr/>
          <p:nvPr/>
        </p:nvSpPr>
        <p:spPr>
          <a:xfrm>
            <a:off x="2423160" y="4846320"/>
            <a:ext cx="274320" cy="274320"/>
          </a:xfrm>
          <a:prstGeom prst="rect">
            <a:avLst/>
          </a:prstGeom>
          <a:solidFill>
            <a:srgbClr val="622B14"/>
          </a:solidFill>
          <a:ln w="12700">
            <a:solidFill>
              <a:srgbClr val="622B14"/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2331720" y="5257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100" dirty="0"/>
          </a:p>
        </p:txBody>
      </p:sp>
      <p:sp>
        <p:nvSpPr>
          <p:cNvPr id="51" name="Shape 48"/>
          <p:cNvSpPr/>
          <p:nvPr/>
        </p:nvSpPr>
        <p:spPr>
          <a:xfrm>
            <a:off x="2971800" y="4754880"/>
            <a:ext cx="365760" cy="365760"/>
          </a:xfrm>
          <a:prstGeom prst="rect">
            <a:avLst/>
          </a:prstGeom>
          <a:solidFill>
            <a:srgbClr val="622B14"/>
          </a:solidFill>
          <a:ln w="12700">
            <a:solidFill>
              <a:srgbClr val="622B14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2880360" y="5257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1100" dirty="0"/>
          </a:p>
        </p:txBody>
      </p:sp>
      <p:sp>
        <p:nvSpPr>
          <p:cNvPr id="53" name="Shape 50"/>
          <p:cNvSpPr/>
          <p:nvPr/>
        </p:nvSpPr>
        <p:spPr>
          <a:xfrm>
            <a:off x="3520440" y="4663440"/>
            <a:ext cx="457200" cy="457200"/>
          </a:xfrm>
          <a:prstGeom prst="rect">
            <a:avLst/>
          </a:prstGeom>
          <a:solidFill>
            <a:srgbClr val="622B14"/>
          </a:solidFill>
          <a:ln w="12700">
            <a:solidFill>
              <a:srgbClr val="622B14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3429000" y="5257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</a:t>
            </a:r>
            <a:endParaRPr lang="en-US" sz="1100" dirty="0"/>
          </a:p>
        </p:txBody>
      </p:sp>
      <p:sp>
        <p:nvSpPr>
          <p:cNvPr id="55" name="Text 52"/>
          <p:cNvSpPr txBox="1"/>
          <p:nvPr/>
        </p:nvSpPr>
        <p:spPr>
          <a:xfrm>
            <a:off x="777240" y="56692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Lề màn hình 16 dp</a:t>
            </a:r>
            <a:endParaRPr lang="en-US" sz="1200" dirty="0"/>
          </a:p>
        </p:txBody>
      </p:sp>
      <p:sp>
        <p:nvSpPr>
          <p:cNvPr id="56" name="Shape 53"/>
          <p:cNvSpPr/>
          <p:nvPr/>
        </p:nvSpPr>
        <p:spPr>
          <a:xfrm>
            <a:off x="4389120" y="4114800"/>
            <a:ext cx="365760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9525">
            <a:solidFill>
              <a:srgbClr val="E8D9C6"/>
            </a:solidFill>
            <a:prstDash val="solid"/>
          </a:ln>
        </p:spPr>
      </p:sp>
      <p:sp>
        <p:nvSpPr>
          <p:cNvPr id="57" name="Text 54"/>
          <p:cNvSpPr txBox="1"/>
          <p:nvPr/>
        </p:nvSpPr>
        <p:spPr>
          <a:xfrm>
            <a:off x="4617720" y="42519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RADIUS</a:t>
            </a:r>
            <a:endParaRPr lang="en-US" sz="1200" dirty="0"/>
          </a:p>
        </p:txBody>
      </p:sp>
      <p:sp>
        <p:nvSpPr>
          <p:cNvPr id="58" name="Shape 55"/>
          <p:cNvSpPr/>
          <p:nvPr/>
        </p:nvSpPr>
        <p:spPr>
          <a:xfrm>
            <a:off x="4617720" y="4709160"/>
            <a:ext cx="685800" cy="685800"/>
          </a:xfrm>
          <a:prstGeom prst="roundRect">
            <a:avLst>
              <a:gd name="adj" fmla="val 13333"/>
            </a:avLst>
          </a:prstGeom>
          <a:solidFill>
            <a:srgbClr val="F6E7D3"/>
          </a:solidFill>
          <a:ln w="15875">
            <a:solidFill>
              <a:srgbClr val="B45309"/>
            </a:solidFill>
            <a:prstDash val="solid"/>
          </a:ln>
        </p:spPr>
      </p:sp>
      <p:sp>
        <p:nvSpPr>
          <p:cNvPr id="59" name="Text 56"/>
          <p:cNvSpPr txBox="1"/>
          <p:nvPr/>
        </p:nvSpPr>
        <p:spPr>
          <a:xfrm>
            <a:off x="4572000" y="548640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dp</a:t>
            </a:r>
            <a:endParaRPr lang="en-US" sz="1100" dirty="0"/>
          </a:p>
        </p:txBody>
      </p:sp>
      <p:sp>
        <p:nvSpPr>
          <p:cNvPr id="60" name="Shape 57"/>
          <p:cNvSpPr/>
          <p:nvPr/>
        </p:nvSpPr>
        <p:spPr>
          <a:xfrm>
            <a:off x="5440680" y="4709160"/>
            <a:ext cx="685800" cy="685800"/>
          </a:xfrm>
          <a:prstGeom prst="roundRect">
            <a:avLst>
              <a:gd name="adj" fmla="val 20000"/>
            </a:avLst>
          </a:prstGeom>
          <a:solidFill>
            <a:srgbClr val="F6E7D3"/>
          </a:solidFill>
          <a:ln w="15875">
            <a:solidFill>
              <a:srgbClr val="B45309"/>
            </a:solidFill>
            <a:prstDash val="solid"/>
          </a:ln>
        </p:spPr>
      </p:sp>
      <p:sp>
        <p:nvSpPr>
          <p:cNvPr id="61" name="Text 58"/>
          <p:cNvSpPr txBox="1"/>
          <p:nvPr/>
        </p:nvSpPr>
        <p:spPr>
          <a:xfrm>
            <a:off x="5394960" y="548640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dp</a:t>
            </a:r>
            <a:endParaRPr lang="en-US" sz="1100" dirty="0"/>
          </a:p>
        </p:txBody>
      </p:sp>
      <p:sp>
        <p:nvSpPr>
          <p:cNvPr id="62" name="Shape 59"/>
          <p:cNvSpPr/>
          <p:nvPr/>
        </p:nvSpPr>
        <p:spPr>
          <a:xfrm>
            <a:off x="6263640" y="4709160"/>
            <a:ext cx="685800" cy="685800"/>
          </a:xfrm>
          <a:prstGeom prst="roundRect">
            <a:avLst>
              <a:gd name="adj" fmla="val 26667"/>
            </a:avLst>
          </a:prstGeom>
          <a:solidFill>
            <a:srgbClr val="F6E7D3"/>
          </a:solidFill>
          <a:ln w="15875">
            <a:solidFill>
              <a:srgbClr val="B45309"/>
            </a:solidFill>
            <a:prstDash val="solid"/>
          </a:ln>
        </p:spPr>
      </p:sp>
      <p:sp>
        <p:nvSpPr>
          <p:cNvPr id="63" name="Text 60"/>
          <p:cNvSpPr txBox="1"/>
          <p:nvPr/>
        </p:nvSpPr>
        <p:spPr>
          <a:xfrm>
            <a:off x="6217920" y="548640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dp</a:t>
            </a:r>
            <a:endParaRPr lang="en-US" sz="1100" dirty="0"/>
          </a:p>
        </p:txBody>
      </p:sp>
      <p:sp>
        <p:nvSpPr>
          <p:cNvPr id="64" name="Shape 61"/>
          <p:cNvSpPr/>
          <p:nvPr/>
        </p:nvSpPr>
        <p:spPr>
          <a:xfrm>
            <a:off x="7086600" y="4709160"/>
            <a:ext cx="685800" cy="685800"/>
          </a:xfrm>
          <a:prstGeom prst="roundRect">
            <a:avLst>
              <a:gd name="adj" fmla="val 40000"/>
            </a:avLst>
          </a:prstGeom>
          <a:solidFill>
            <a:srgbClr val="F6E7D3"/>
          </a:solidFill>
          <a:ln w="15875">
            <a:solidFill>
              <a:srgbClr val="B45309"/>
            </a:solidFill>
            <a:prstDash val="solid"/>
          </a:ln>
        </p:spPr>
      </p:sp>
      <p:sp>
        <p:nvSpPr>
          <p:cNvPr id="65" name="Text 62"/>
          <p:cNvSpPr txBox="1"/>
          <p:nvPr/>
        </p:nvSpPr>
        <p:spPr>
          <a:xfrm>
            <a:off x="7040880" y="548640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 dp</a:t>
            </a:r>
            <a:endParaRPr lang="en-US" sz="1100" dirty="0"/>
          </a:p>
        </p:txBody>
      </p:sp>
      <p:sp>
        <p:nvSpPr>
          <p:cNvPr id="66" name="Shape 63"/>
          <p:cNvSpPr/>
          <p:nvPr/>
        </p:nvSpPr>
        <p:spPr>
          <a:xfrm>
            <a:off x="8229600" y="4114800"/>
            <a:ext cx="342900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9525">
            <a:solidFill>
              <a:srgbClr val="E8D9C6"/>
            </a:solidFill>
            <a:prstDash val="solid"/>
          </a:ln>
        </p:spPr>
      </p:sp>
      <p:sp>
        <p:nvSpPr>
          <p:cNvPr id="67" name="Text 64"/>
          <p:cNvSpPr txBox="1"/>
          <p:nvPr/>
        </p:nvSpPr>
        <p:spPr>
          <a:xfrm>
            <a:off x="8458200" y="425196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ELEVATION &amp; SIZE</a:t>
            </a:r>
            <a:endParaRPr lang="en-US" sz="1200" dirty="0"/>
          </a:p>
        </p:txBody>
      </p:sp>
      <p:sp>
        <p:nvSpPr>
          <p:cNvPr id="68" name="Text 65"/>
          <p:cNvSpPr txBox="1"/>
          <p:nvPr/>
        </p:nvSpPr>
        <p:spPr>
          <a:xfrm>
            <a:off x="8458200" y="4617720"/>
            <a:ext cx="31089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2E1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Elevation 1 · card, app bar</a:t>
            </a:r>
            <a:endParaRPr lang="en-US" sz="12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2E1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Elevation 2 · CTA ghim, bottom nav</a:t>
            </a:r>
            <a:endParaRPr lang="en-US" sz="12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2E1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Elevation 3 · dialog, toast</a:t>
            </a:r>
            <a:endParaRPr lang="en-US" sz="12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2E1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Vùng chạm ≥ 48 dp · CTA 52 dp</a:t>
            </a:r>
            <a:endParaRPr lang="en-US" sz="12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BF4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640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69D3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9.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1143000" y="347472"/>
            <a:ext cx="9875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622B1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Design System — Components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COMPONENT SET CÓ VARIANT + MẪU TRẠNG THÁI · FIGMA PAGE 05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1908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Minh chứng: Figma Page 05 · handoff/flutter-handoff.md mục 1.2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11247120" y="64190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548640" y="1417320"/>
            <a:ext cx="5120640" cy="457200"/>
          </a:xfrm>
          <a:prstGeom prst="roundRect">
            <a:avLst>
              <a:gd name="adj" fmla="val 20000"/>
            </a:avLst>
          </a:prstGeom>
          <a:solidFill>
            <a:srgbClr val="FFF5E5"/>
          </a:solidFill>
          <a:ln w="9525">
            <a:solidFill>
              <a:srgbClr val="E8D9C6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31520" y="1417320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622B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Button/Primary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2377440" y="141732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State: Default · Pressed · Disabled · Loading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548640" y="1947672"/>
            <a:ext cx="512064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E8D9C6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31520" y="1947672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622B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TextField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2377440" y="1947672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State: Default · Focused · Filled · Error · Disabled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48640" y="2478024"/>
            <a:ext cx="5120640" cy="457200"/>
          </a:xfrm>
          <a:prstGeom prst="roundRect">
            <a:avLst>
              <a:gd name="adj" fmla="val 20000"/>
            </a:avLst>
          </a:prstGeom>
          <a:solidFill>
            <a:srgbClr val="FFF5E5"/>
          </a:solidFill>
          <a:ln w="9525">
            <a:solidFill>
              <a:srgbClr val="E8D9C6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31520" y="2478024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622B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Card/Food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2377440" y="2478024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State: Default · OutOfStock · nút + 48 dp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548640" y="3008376"/>
            <a:ext cx="512064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E8D9C6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731520" y="3008376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622B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NavBar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2377440" y="3008376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Selected: Home · Menu · Orders · Profile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548640" y="3538728"/>
            <a:ext cx="5120640" cy="457200"/>
          </a:xfrm>
          <a:prstGeom prst="roundRect">
            <a:avLst>
              <a:gd name="adj" fmla="val 20000"/>
            </a:avLst>
          </a:prstGeom>
          <a:solidFill>
            <a:srgbClr val="FFF5E5"/>
          </a:solidFill>
          <a:ln w="9525">
            <a:solidFill>
              <a:srgbClr val="E8D9C6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731520" y="3538728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622B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Dialog</a:t>
            </a:r>
            <a:endParaRPr lang="en-US" sz="1300" dirty="0"/>
          </a:p>
        </p:txBody>
      </p:sp>
      <p:sp>
        <p:nvSpPr>
          <p:cNvPr id="22" name="Text 19"/>
          <p:cNvSpPr txBox="1"/>
          <p:nvPr/>
        </p:nvSpPr>
        <p:spPr>
          <a:xfrm>
            <a:off x="2377440" y="3538728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Type: Confirm · Destructive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48640" y="4069080"/>
            <a:ext cx="512064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E8D9C6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731520" y="4069080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622B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bar</a:t>
            </a:r>
            <a:endParaRPr lang="en-US" sz="1300" dirty="0"/>
          </a:p>
        </p:txBody>
      </p:sp>
      <p:sp>
        <p:nvSpPr>
          <p:cNvPr id="25" name="Text 22"/>
          <p:cNvSpPr txBox="1"/>
          <p:nvPr/>
        </p:nvSpPr>
        <p:spPr>
          <a:xfrm>
            <a:off x="2377440" y="406908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mẫu ở bảng tham khảo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548640" y="4599432"/>
            <a:ext cx="5120640" cy="457200"/>
          </a:xfrm>
          <a:prstGeom prst="roundRect">
            <a:avLst>
              <a:gd name="adj" fmla="val 20000"/>
            </a:avLst>
          </a:prstGeom>
          <a:solidFill>
            <a:srgbClr val="FFF5E5"/>
          </a:solidFill>
          <a:ln w="9525">
            <a:solidFill>
              <a:srgbClr val="E8D9C6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731520" y="4599432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622B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Loading</a:t>
            </a:r>
            <a:endParaRPr lang="en-US" sz="1300" dirty="0"/>
          </a:p>
        </p:txBody>
      </p:sp>
      <p:sp>
        <p:nvSpPr>
          <p:cNvPr id="28" name="Text 25"/>
          <p:cNvSpPr txBox="1"/>
          <p:nvPr/>
        </p:nvSpPr>
        <p:spPr>
          <a:xfrm>
            <a:off x="2377440" y="4599432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S06-LOADING · skeleton mẫu</a:t>
            </a:r>
            <a:endParaRPr lang="en-US" sz="1200" dirty="0"/>
          </a:p>
        </p:txBody>
      </p:sp>
      <p:sp>
        <p:nvSpPr>
          <p:cNvPr id="29" name="Shape 26"/>
          <p:cNvSpPr/>
          <p:nvPr/>
        </p:nvSpPr>
        <p:spPr>
          <a:xfrm>
            <a:off x="548640" y="5129784"/>
            <a:ext cx="512064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E8D9C6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731520" y="5129784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622B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Empty</a:t>
            </a:r>
            <a:endParaRPr lang="en-US" sz="1300" dirty="0"/>
          </a:p>
        </p:txBody>
      </p:sp>
      <p:sp>
        <p:nvSpPr>
          <p:cNvPr id="31" name="Text 28"/>
          <p:cNvSpPr txBox="1"/>
          <p:nvPr/>
        </p:nvSpPr>
        <p:spPr>
          <a:xfrm>
            <a:off x="2377440" y="5129784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S05-EMPTY · S08-EMPTY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548640" y="5660136"/>
            <a:ext cx="5120640" cy="457200"/>
          </a:xfrm>
          <a:prstGeom prst="roundRect">
            <a:avLst>
              <a:gd name="adj" fmla="val 20000"/>
            </a:avLst>
          </a:prstGeom>
          <a:solidFill>
            <a:srgbClr val="FFF5E5"/>
          </a:solidFill>
          <a:ln w="9525">
            <a:solidFill>
              <a:srgbClr val="E8D9C6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731520" y="5660136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622B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</a:t>
            </a:r>
            <a:endParaRPr lang="en-US" sz="1300" dirty="0"/>
          </a:p>
        </p:txBody>
      </p:sp>
      <p:sp>
        <p:nvSpPr>
          <p:cNvPr id="34" name="Text 31"/>
          <p:cNvSpPr txBox="1"/>
          <p:nvPr/>
        </p:nvSpPr>
        <p:spPr>
          <a:xfrm>
            <a:off x="2377440" y="5660136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S06-ERR · S05-VOUCHER-ERR</a:t>
            </a:r>
            <a:endParaRPr lang="en-US" sz="1200" dirty="0"/>
          </a:p>
        </p:txBody>
      </p:sp>
      <p:sp>
        <p:nvSpPr>
          <p:cNvPr id="35" name="Shape 32"/>
          <p:cNvSpPr/>
          <p:nvPr/>
        </p:nvSpPr>
        <p:spPr>
          <a:xfrm>
            <a:off x="5943600" y="1417320"/>
            <a:ext cx="5715000" cy="4800600"/>
          </a:xfrm>
          <a:prstGeom prst="roundRect">
            <a:avLst>
              <a:gd name="adj" fmla="val 1905"/>
            </a:avLst>
          </a:prstGeom>
          <a:solidFill>
            <a:srgbClr val="FFFFFF"/>
          </a:solidFill>
          <a:ln w="9525">
            <a:solidFill>
              <a:srgbClr val="E8D9C6"/>
            </a:solidFill>
            <a:prstDash val="solid"/>
          </a:ln>
        </p:spPr>
      </p:sp>
      <p:pic>
        <p:nvPicPr>
          <p:cNvPr id="36" name="Image 0" descr="D:\Study\FPTU\Sem8\PRM323\prm393-lab2\assets\figma\componen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71311" y="1508760"/>
            <a:ext cx="5059577" cy="461772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BF4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640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69D3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10.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1417320" y="347472"/>
            <a:ext cx="9875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622B1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Accessibility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CONTRAST · READABILITY · TOUCH TARGET — WCAG 2.2 AA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1908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Minh chứng: design/design-decisions.md mục 2.1 · design/DESIGN.md mục 2.5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11247120" y="64190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548640" y="1417320"/>
            <a:ext cx="6309360" cy="4800600"/>
          </a:xfrm>
          <a:prstGeom prst="roundRect">
            <a:avLst>
              <a:gd name="adj" fmla="val 1905"/>
            </a:avLst>
          </a:prstGeom>
          <a:solidFill>
            <a:srgbClr val="FFFFFF"/>
          </a:solidFill>
          <a:ln w="9525">
            <a:solidFill>
              <a:srgbClr val="E8D9C6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77240" y="1554480"/>
            <a:ext cx="5852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CONTRAST — đo bằng công thức WCAG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777240" y="1965960"/>
            <a:ext cx="5852160" cy="868680"/>
          </a:xfrm>
          <a:prstGeom prst="roundRect">
            <a:avLst>
              <a:gd name="adj" fmla="val 10526"/>
            </a:avLst>
          </a:prstGeom>
          <a:solidFill>
            <a:srgbClr val="FFF5E5"/>
          </a:solidFill>
          <a:ln w="9525">
            <a:solidFill>
              <a:srgbClr val="FFF5E5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914400" y="1965960"/>
            <a:ext cx="1463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580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10,37:1</a:t>
            </a:r>
            <a:endParaRPr lang="en-US" sz="2200" dirty="0"/>
          </a:p>
        </p:txBody>
      </p:sp>
      <p:sp>
        <p:nvSpPr>
          <p:cNvPr id="12" name="Text 9"/>
          <p:cNvSpPr txBox="1"/>
          <p:nvPr/>
        </p:nvSpPr>
        <p:spPr>
          <a:xfrm>
            <a:off x="2423160" y="1965960"/>
            <a:ext cx="4114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E1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Chữ chính #622B14 / nền #FFF5E5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777240" y="2990088"/>
            <a:ext cx="5852160" cy="868680"/>
          </a:xfrm>
          <a:prstGeom prst="roundRect">
            <a:avLst>
              <a:gd name="adj" fmla="val 10526"/>
            </a:avLst>
          </a:prstGeom>
          <a:solidFill>
            <a:srgbClr val="FFF5E5"/>
          </a:solidFill>
          <a:ln w="9525">
            <a:solidFill>
              <a:srgbClr val="FFF5E5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914400" y="2990088"/>
            <a:ext cx="1463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580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5,23:1</a:t>
            </a:r>
            <a:endParaRPr lang="en-US" sz="2200" dirty="0"/>
          </a:p>
        </p:txBody>
      </p:sp>
      <p:sp>
        <p:nvSpPr>
          <p:cNvPr id="15" name="Text 12"/>
          <p:cNvSpPr txBox="1"/>
          <p:nvPr/>
        </p:nvSpPr>
        <p:spPr>
          <a:xfrm>
            <a:off x="2423160" y="2990088"/>
            <a:ext cx="4114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E1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Chữ nút #622B14 / cam #F69D39 (trước: trắng 2,14:1)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777240" y="4014216"/>
            <a:ext cx="5852160" cy="868680"/>
          </a:xfrm>
          <a:prstGeom prst="roundRect">
            <a:avLst>
              <a:gd name="adj" fmla="val 10526"/>
            </a:avLst>
          </a:prstGeom>
          <a:solidFill>
            <a:srgbClr val="FFF5E5"/>
          </a:solidFill>
          <a:ln w="9525">
            <a:solidFill>
              <a:srgbClr val="FFF5E5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914400" y="4014216"/>
            <a:ext cx="1463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580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5,2:1</a:t>
            </a:r>
            <a:endParaRPr lang="en-US" sz="2200" dirty="0"/>
          </a:p>
        </p:txBody>
      </p:sp>
      <p:sp>
        <p:nvSpPr>
          <p:cNvPr id="18" name="Text 15"/>
          <p:cNvSpPr txBox="1"/>
          <p:nvPr/>
        </p:nvSpPr>
        <p:spPr>
          <a:xfrm>
            <a:off x="2423160" y="4014216"/>
            <a:ext cx="4114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E1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Chữ phụ #8A5D48 (trước: #966A55 4,33:1)</a:t>
            </a:r>
            <a:endParaRPr lang="en-US" sz="1300" dirty="0"/>
          </a:p>
        </p:txBody>
      </p:sp>
      <p:sp>
        <p:nvSpPr>
          <p:cNvPr id="19" name="Shape 16"/>
          <p:cNvSpPr/>
          <p:nvPr/>
        </p:nvSpPr>
        <p:spPr>
          <a:xfrm>
            <a:off x="777240" y="5038344"/>
            <a:ext cx="5852160" cy="868680"/>
          </a:xfrm>
          <a:prstGeom prst="roundRect">
            <a:avLst>
              <a:gd name="adj" fmla="val 10526"/>
            </a:avLst>
          </a:prstGeom>
          <a:solidFill>
            <a:srgbClr val="FFF5E5"/>
          </a:solidFill>
          <a:ln w="9525">
            <a:solidFill>
              <a:srgbClr val="FFF5E5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914400" y="5038344"/>
            <a:ext cx="1463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580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3,93:1</a:t>
            </a:r>
            <a:endParaRPr lang="en-US" sz="2200" dirty="0"/>
          </a:p>
        </p:txBody>
      </p:sp>
      <p:sp>
        <p:nvSpPr>
          <p:cNvPr id="21" name="Text 18"/>
          <p:cNvSpPr txBox="1"/>
          <p:nvPr/>
        </p:nvSpPr>
        <p:spPr>
          <a:xfrm>
            <a:off x="2423160" y="5038344"/>
            <a:ext cx="4114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E1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Viền ô nhập #8A7A70 / #FFF9F0 (ngưỡng 3:1)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7086600" y="1417320"/>
            <a:ext cx="4572000" cy="48006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9525">
            <a:solidFill>
              <a:srgbClr val="E8D9C6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7315200" y="155448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READABILITY &amp; TOUCH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315200" y="1965960"/>
            <a:ext cx="4114800" cy="868680"/>
          </a:xfrm>
          <a:prstGeom prst="roundRect">
            <a:avLst>
              <a:gd name="adj" fmla="val 10526"/>
            </a:avLst>
          </a:prstGeom>
          <a:solidFill>
            <a:srgbClr val="FFF5E5"/>
          </a:solidFill>
          <a:ln w="9525">
            <a:solidFill>
              <a:srgbClr val="FFF5E5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7452360" y="1965960"/>
            <a:ext cx="1234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622B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≥ 14 sp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8686800" y="1965960"/>
            <a:ext cx="2651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2E1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Chữ nội dung (D15 nâng chữ phụ)</a:t>
            </a:r>
            <a:endParaRPr lang="en-US" sz="1250" dirty="0"/>
          </a:p>
        </p:txBody>
      </p:sp>
      <p:sp>
        <p:nvSpPr>
          <p:cNvPr id="27" name="Shape 24"/>
          <p:cNvSpPr/>
          <p:nvPr/>
        </p:nvSpPr>
        <p:spPr>
          <a:xfrm>
            <a:off x="7315200" y="2990088"/>
            <a:ext cx="4114800" cy="868680"/>
          </a:xfrm>
          <a:prstGeom prst="roundRect">
            <a:avLst>
              <a:gd name="adj" fmla="val 10526"/>
            </a:avLst>
          </a:prstGeom>
          <a:solidFill>
            <a:srgbClr val="FFF5E5"/>
          </a:solidFill>
          <a:ln w="9525">
            <a:solidFill>
              <a:srgbClr val="FFF5E5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7452360" y="2990088"/>
            <a:ext cx="1234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622B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≥ 48 dp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8686800" y="2990088"/>
            <a:ext cx="2651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2E1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Vùng chạm; nút +/- sửa ở D13</a:t>
            </a:r>
            <a:endParaRPr lang="en-US" sz="1250" dirty="0"/>
          </a:p>
        </p:txBody>
      </p:sp>
      <p:sp>
        <p:nvSpPr>
          <p:cNvPr id="30" name="Shape 27"/>
          <p:cNvSpPr/>
          <p:nvPr/>
        </p:nvSpPr>
        <p:spPr>
          <a:xfrm>
            <a:off x="7315200" y="4014216"/>
            <a:ext cx="4114800" cy="868680"/>
          </a:xfrm>
          <a:prstGeom prst="roundRect">
            <a:avLst>
              <a:gd name="adj" fmla="val 10526"/>
            </a:avLst>
          </a:prstGeom>
          <a:solidFill>
            <a:srgbClr val="FFF5E5"/>
          </a:solidFill>
          <a:ln w="9525">
            <a:solidFill>
              <a:srgbClr val="FFF5E5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7452360" y="4014216"/>
            <a:ext cx="1234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622B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Icon + chữ</a:t>
            </a:r>
            <a:endParaRPr lang="en-US" sz="1400" dirty="0"/>
          </a:p>
        </p:txBody>
      </p:sp>
      <p:sp>
        <p:nvSpPr>
          <p:cNvPr id="32" name="Text 29"/>
          <p:cNvSpPr txBox="1"/>
          <p:nvPr/>
        </p:nvSpPr>
        <p:spPr>
          <a:xfrm>
            <a:off x="8686800" y="4014216"/>
            <a:ext cx="2651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2E1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Trạng thái không chỉ dùng màu (WCAG 1.4.1)</a:t>
            </a:r>
            <a:endParaRPr lang="en-US" sz="1250" dirty="0"/>
          </a:p>
        </p:txBody>
      </p:sp>
      <p:sp>
        <p:nvSpPr>
          <p:cNvPr id="33" name="Shape 30"/>
          <p:cNvSpPr/>
          <p:nvPr/>
        </p:nvSpPr>
        <p:spPr>
          <a:xfrm>
            <a:off x="7315200" y="5038344"/>
            <a:ext cx="4114800" cy="868680"/>
          </a:xfrm>
          <a:prstGeom prst="roundRect">
            <a:avLst>
              <a:gd name="adj" fmla="val 10526"/>
            </a:avLst>
          </a:prstGeom>
          <a:solidFill>
            <a:srgbClr val="FFF5E5"/>
          </a:solidFill>
          <a:ln w="9525">
            <a:solidFill>
              <a:srgbClr val="FFF5E5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7452360" y="5038344"/>
            <a:ext cx="1234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622B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Ngưỡng</a:t>
            </a:r>
            <a:endParaRPr lang="en-US" sz="1400" dirty="0"/>
          </a:p>
        </p:txBody>
      </p:sp>
      <p:sp>
        <p:nvSpPr>
          <p:cNvPr id="35" name="Text 32"/>
          <p:cNvSpPr txBox="1"/>
          <p:nvPr/>
        </p:nvSpPr>
        <p:spPr>
          <a:xfrm>
            <a:off x="8686800" y="5038344"/>
            <a:ext cx="2651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2E1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Chữ 14–15 sp đậm vẫn cần 4,5:1 — chữ lớn phải ≥ 18,7 px đậm</a:t>
            </a:r>
            <a:endParaRPr lang="en-US" sz="12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BF4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640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69D3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10.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1417320" y="347472"/>
            <a:ext cx="9875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622B1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Responsive — 360 dp vs 412 dp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360 DP VÀ 412 DP ĐỀU ĐÃ DỰNG (RÀNG BUỘC CONSTRAINTS)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1908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Minh chứng: Figma Page 03 (khung ' v2 · 412') · assets/figma/final-ui-v2/412/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11247120" y="64190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548640" y="1417320"/>
            <a:ext cx="3611880" cy="4800600"/>
          </a:xfrm>
          <a:prstGeom prst="roundRect">
            <a:avLst>
              <a:gd name="adj" fmla="val 2532"/>
            </a:avLst>
          </a:prstGeom>
          <a:solidFill>
            <a:srgbClr val="FFFFFF"/>
          </a:solidFill>
          <a:ln w="9525">
            <a:solidFill>
              <a:srgbClr val="E8D9C6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31520" y="15544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622B1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S02 Trang chủ</a:t>
            </a:r>
            <a:endParaRPr lang="en-US" sz="1500" dirty="0"/>
          </a:p>
        </p:txBody>
      </p:sp>
      <p:pic>
        <p:nvPicPr>
          <p:cNvPr id="10" name="Image 0" descr="D:\Study\FPTU\Sem8\PRM323\prm393-lab2\assets\figma\S0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2026920"/>
            <a:ext cx="1508760" cy="335280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731520" y="2026920"/>
            <a:ext cx="1508760" cy="3352800"/>
          </a:xfrm>
          <a:prstGeom prst="rect">
            <a:avLst/>
          </a:prstGeom>
          <a:ln w="9525">
            <a:solidFill>
              <a:srgbClr val="E8D9C6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731520" y="548640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360 dp</a:t>
            </a:r>
            <a:endParaRPr lang="en-US" sz="1050" dirty="0"/>
          </a:p>
        </p:txBody>
      </p:sp>
      <p:sp>
        <p:nvSpPr>
          <p:cNvPr id="15" name="Shape 11"/>
          <p:cNvSpPr/>
          <p:nvPr/>
        </p:nvSpPr>
        <p:spPr>
          <a:xfrm>
            <a:off x="4297680" y="1417320"/>
            <a:ext cx="3611880" cy="4800600"/>
          </a:xfrm>
          <a:prstGeom prst="roundRect">
            <a:avLst>
              <a:gd name="adj" fmla="val 2532"/>
            </a:avLst>
          </a:prstGeom>
          <a:solidFill>
            <a:srgbClr val="FFFFFF"/>
          </a:solidFill>
          <a:ln w="9525">
            <a:solidFill>
              <a:srgbClr val="E8D9C6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4480560" y="15544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622B1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S06 Thanh toán</a:t>
            </a:r>
            <a:endParaRPr lang="en-US" sz="1500" dirty="0"/>
          </a:p>
        </p:txBody>
      </p:sp>
      <p:pic>
        <p:nvPicPr>
          <p:cNvPr id="17" name="Image 1" descr="D:\Study\FPTU\Sem8\PRM323\prm393-lab2\assets\figma\S04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80560" y="2019817"/>
            <a:ext cx="1508760" cy="3367007"/>
          </a:xfrm>
          <a:prstGeom prst="rect">
            <a:avLst/>
          </a:prstGeom>
        </p:spPr>
      </p:pic>
      <p:sp>
        <p:nvSpPr>
          <p:cNvPr id="18" name="Shape 13"/>
          <p:cNvSpPr/>
          <p:nvPr/>
        </p:nvSpPr>
        <p:spPr>
          <a:xfrm>
            <a:off x="4480560" y="2019817"/>
            <a:ext cx="1508760" cy="3367007"/>
          </a:xfrm>
          <a:prstGeom prst="rect">
            <a:avLst/>
          </a:prstGeom>
          <a:ln w="9525">
            <a:solidFill>
              <a:srgbClr val="E8D9C6"/>
            </a:solidFill>
            <a:prstDash val="solid"/>
          </a:ln>
        </p:spPr>
      </p:sp>
      <p:sp>
        <p:nvSpPr>
          <p:cNvPr id="21" name="Text 16"/>
          <p:cNvSpPr txBox="1"/>
          <p:nvPr/>
        </p:nvSpPr>
        <p:spPr>
          <a:xfrm>
            <a:off x="4480560" y="548640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360 dp</a:t>
            </a:r>
            <a:endParaRPr lang="en-US" sz="1050" dirty="0"/>
          </a:p>
        </p:txBody>
      </p:sp>
      <p:sp>
        <p:nvSpPr>
          <p:cNvPr id="22" name="Shape 17"/>
          <p:cNvSpPr/>
          <p:nvPr/>
        </p:nvSpPr>
        <p:spPr>
          <a:xfrm>
            <a:off x="8046720" y="1417320"/>
            <a:ext cx="3611880" cy="4800600"/>
          </a:xfrm>
          <a:prstGeom prst="roundRect">
            <a:avLst>
              <a:gd name="adj" fmla="val 2532"/>
            </a:avLst>
          </a:prstGeom>
          <a:solidFill>
            <a:srgbClr val="FFFFFF"/>
          </a:solidFill>
          <a:ln w="9525">
            <a:solidFill>
              <a:srgbClr val="E8D9C6"/>
            </a:solidFill>
            <a:prstDash val="solid"/>
          </a:ln>
        </p:spPr>
      </p:sp>
      <p:sp>
        <p:nvSpPr>
          <p:cNvPr id="23" name="Text 18"/>
          <p:cNvSpPr txBox="1"/>
          <p:nvPr/>
        </p:nvSpPr>
        <p:spPr>
          <a:xfrm>
            <a:off x="8229600" y="15544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622B1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S05 Giỏ hàng</a:t>
            </a:r>
            <a:endParaRPr lang="en-US" sz="1500" dirty="0"/>
          </a:p>
        </p:txBody>
      </p:sp>
      <p:pic>
        <p:nvPicPr>
          <p:cNvPr id="24" name="Image 2" descr="D:\Study\FPTU\Sem8\PRM323\prm393-lab2\assets\figma\S05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0" y="2026920"/>
            <a:ext cx="1508760" cy="3352800"/>
          </a:xfrm>
          <a:prstGeom prst="rect">
            <a:avLst/>
          </a:prstGeom>
        </p:spPr>
      </p:pic>
      <p:sp>
        <p:nvSpPr>
          <p:cNvPr id="25" name="Shape 19"/>
          <p:cNvSpPr/>
          <p:nvPr/>
        </p:nvSpPr>
        <p:spPr>
          <a:xfrm>
            <a:off x="8229600" y="2026920"/>
            <a:ext cx="1508760" cy="3352800"/>
          </a:xfrm>
          <a:prstGeom prst="rect">
            <a:avLst/>
          </a:prstGeom>
          <a:ln w="9525">
            <a:solidFill>
              <a:srgbClr val="E8D9C6"/>
            </a:solidFill>
            <a:prstDash val="solid"/>
          </a:ln>
        </p:spPr>
      </p:sp>
      <p:sp>
        <p:nvSpPr>
          <p:cNvPr id="28" name="Text 22"/>
          <p:cNvSpPr txBox="1"/>
          <p:nvPr/>
        </p:nvSpPr>
        <p:spPr>
          <a:xfrm>
            <a:off x="8229600" y="548640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360 dp</a:t>
            </a:r>
            <a:endParaRPr lang="en-US" sz="1050" dirty="0"/>
          </a:p>
        </p:txBody>
      </p:sp>
      <p:pic>
        <p:nvPicPr>
          <p:cNvPr id="29" name="Picture 28" descr="S0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423160" y="2194116"/>
            <a:ext cx="1554480" cy="3018407"/>
          </a:xfrm>
          <a:prstGeom prst="rect">
            <a:avLst/>
          </a:prstGeom>
        </p:spPr>
      </p:pic>
      <p:pic>
        <p:nvPicPr>
          <p:cNvPr id="30" name="Picture 29" descr="S0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172200" y="2194116"/>
            <a:ext cx="1554480" cy="3018407"/>
          </a:xfrm>
          <a:prstGeom prst="rect">
            <a:avLst/>
          </a:prstGeom>
        </p:spPr>
      </p:pic>
      <p:pic>
        <p:nvPicPr>
          <p:cNvPr id="31" name="Picture 30" descr="S05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921240" y="2194116"/>
            <a:ext cx="1554480" cy="3018407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2423160" y="5486400"/>
            <a:ext cx="155448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200">
                <a:solidFill>
                  <a:srgbClr val="8A5D48"/>
                </a:solidFill>
                <a:latin typeface="Cambria"/>
              </a:rPr>
              <a:t>412 dp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172200" y="5486400"/>
            <a:ext cx="155448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200">
                <a:solidFill>
                  <a:srgbClr val="8A5D48"/>
                </a:solidFill>
                <a:latin typeface="Cambria"/>
              </a:rPr>
              <a:t>412 dp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921240" y="5486400"/>
            <a:ext cx="155448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200">
                <a:solidFill>
                  <a:srgbClr val="8A5D48"/>
                </a:solidFill>
                <a:latin typeface="Cambria"/>
              </a:rPr>
              <a:t>412 dp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BF4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640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69D3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11.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1417320" y="347472"/>
            <a:ext cx="9875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622B1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Live Prototype — 3 Main Flows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FIGMA PAGE 03 (V2) · 12 ĐIỂM BẮT ĐẦU, HÀNH ĐỘNG, KẾT QUẢ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1908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Minh chứng: Figma Page 03 (bản v2) · Page 06 (bản cũ) · tests/figma-proto/hotspots-v2.json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11247120" y="64190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548640" y="1417320"/>
            <a:ext cx="3611880" cy="3566160"/>
          </a:xfrm>
          <a:prstGeom prst="roundRect">
            <a:avLst>
              <a:gd name="adj" fmla="val 2564"/>
            </a:avLst>
          </a:prstGeom>
          <a:solidFill>
            <a:srgbClr val="FFFFFF"/>
          </a:solidFill>
          <a:ln w="9525">
            <a:solidFill>
              <a:srgbClr val="E8D9C6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31520" y="1600200"/>
            <a:ext cx="1188720" cy="384048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31520" y="1600200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 1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731520" y="210312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622B1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Đặt nhanh, nhận tại quầy</a:t>
            </a:r>
            <a:endParaRPr lang="en-US" sz="1700" dirty="0"/>
          </a:p>
        </p:txBody>
      </p:sp>
      <p:sp>
        <p:nvSpPr>
          <p:cNvPr id="12" name="Text 9"/>
          <p:cNvSpPr txBox="1"/>
          <p:nvPr/>
        </p:nvSpPr>
        <p:spPr>
          <a:xfrm>
            <a:off x="731520" y="2606040"/>
            <a:ext cx="3246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S01 → S02 → S04 → S05 → S06 → S06-LOADING → S07</a:t>
            </a:r>
            <a:endParaRPr lang="en-US" sz="1250" dirty="0"/>
          </a:p>
        </p:txBody>
      </p:sp>
      <p:sp>
        <p:nvSpPr>
          <p:cNvPr id="13" name="Text 10"/>
          <p:cNvSpPr txBox="1"/>
          <p:nvPr/>
        </p:nvSpPr>
        <p:spPr>
          <a:xfrm>
            <a:off x="731520" y="3474720"/>
            <a:ext cx="3246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Bấm combo, thêm vào giỏ, trả MoMo, loading 1,2 giây, nhận mã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731520" y="4526280"/>
            <a:ext cx="3246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22B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TRỰC TIẾP · Figma Present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4297680" y="1417320"/>
            <a:ext cx="3611880" cy="3566160"/>
          </a:xfrm>
          <a:prstGeom prst="roundRect">
            <a:avLst>
              <a:gd name="adj" fmla="val 2564"/>
            </a:avLst>
          </a:prstGeom>
          <a:solidFill>
            <a:srgbClr val="FFFFFF"/>
          </a:solidFill>
          <a:ln w="9525">
            <a:solidFill>
              <a:srgbClr val="E8D9C6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4480560" y="1600200"/>
            <a:ext cx="1188720" cy="384048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4480560" y="1600200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 2</a:t>
            </a:r>
            <a:endParaRPr lang="en-US" sz="1300" dirty="0"/>
          </a:p>
        </p:txBody>
      </p:sp>
      <p:sp>
        <p:nvSpPr>
          <p:cNvPr id="18" name="Text 15"/>
          <p:cNvSpPr txBox="1"/>
          <p:nvPr/>
        </p:nvSpPr>
        <p:spPr>
          <a:xfrm>
            <a:off x="4480560" y="210312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622B1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Tuỳ chỉnh &amp; mã giảm giá</a:t>
            </a:r>
            <a:endParaRPr lang="en-US" sz="1700" dirty="0"/>
          </a:p>
        </p:txBody>
      </p:sp>
      <p:sp>
        <p:nvSpPr>
          <p:cNvPr id="19" name="Text 16"/>
          <p:cNvSpPr txBox="1"/>
          <p:nvPr/>
        </p:nvSpPr>
        <p:spPr>
          <a:xfrm>
            <a:off x="4480560" y="2606040"/>
            <a:ext cx="3246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S03 → S04 → S05 → S05-VOUCHER-ERR → S05 → S06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4480560" y="3474720"/>
            <a:ext cx="3246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Mức cay, topping, nhập BB20 hết hạn rồi nhập lại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4480560" y="4526280"/>
            <a:ext cx="3246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22B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TRỰC TIẾP · Figma Present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8046720" y="1417320"/>
            <a:ext cx="3611880" cy="3566160"/>
          </a:xfrm>
          <a:prstGeom prst="roundRect">
            <a:avLst>
              <a:gd name="adj" fmla="val 2564"/>
            </a:avLst>
          </a:prstGeom>
          <a:solidFill>
            <a:srgbClr val="FFFFFF"/>
          </a:solidFill>
          <a:ln w="9525">
            <a:solidFill>
              <a:srgbClr val="E8D9C6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8229600" y="1600200"/>
            <a:ext cx="1188720" cy="384048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8229600" y="1600200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 3</a:t>
            </a:r>
            <a:endParaRPr lang="en-US" sz="1300" dirty="0"/>
          </a:p>
        </p:txBody>
      </p:sp>
      <p:sp>
        <p:nvSpPr>
          <p:cNvPr id="25" name="Text 22"/>
          <p:cNvSpPr txBox="1"/>
          <p:nvPr/>
        </p:nvSpPr>
        <p:spPr>
          <a:xfrm>
            <a:off x="8229600" y="210312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622B1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Lỗi thanh toán &amp; phục hồi</a:t>
            </a:r>
            <a:endParaRPr lang="en-US" sz="1700" dirty="0"/>
          </a:p>
        </p:txBody>
      </p:sp>
      <p:sp>
        <p:nvSpPr>
          <p:cNvPr id="26" name="Text 23"/>
          <p:cNvSpPr txBox="1"/>
          <p:nvPr/>
        </p:nvSpPr>
        <p:spPr>
          <a:xfrm>
            <a:off x="8229600" y="2606040"/>
            <a:ext cx="3246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S06-ERR → Thử lại / Tiền mặt → S07-CASH</a:t>
            </a:r>
            <a:endParaRPr lang="en-US" sz="1250" dirty="0"/>
          </a:p>
        </p:txBody>
      </p:sp>
      <p:sp>
        <p:nvSpPr>
          <p:cNvPr id="27" name="Text 24"/>
          <p:cNvSpPr txBox="1"/>
          <p:nvPr/>
        </p:nvSpPr>
        <p:spPr>
          <a:xfrm>
            <a:off x="8229600" y="3474720"/>
            <a:ext cx="3246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Giỏ hàng được giữ, đơn tiền mặt có badge "Trả tại quầy"</a:t>
            </a:r>
            <a:endParaRPr lang="en-US" sz="1300" dirty="0"/>
          </a:p>
        </p:txBody>
      </p:sp>
      <p:sp>
        <p:nvSpPr>
          <p:cNvPr id="28" name="Text 25"/>
          <p:cNvSpPr txBox="1"/>
          <p:nvPr/>
        </p:nvSpPr>
        <p:spPr>
          <a:xfrm>
            <a:off x="8229600" y="4526280"/>
            <a:ext cx="3246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22B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TRỰC TIẾP · Figma Present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548640" y="5166360"/>
            <a:ext cx="11109960" cy="1051560"/>
          </a:xfrm>
          <a:prstGeom prst="roundRect">
            <a:avLst>
              <a:gd name="adj" fmla="val 8696"/>
            </a:avLst>
          </a:prstGeom>
          <a:solidFill>
            <a:srgbClr val="FFF5E5"/>
          </a:solidFill>
          <a:ln w="9525">
            <a:solidFill>
              <a:srgbClr val="E8D9C6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777240" y="5166360"/>
            <a:ext cx="106984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Phải thấy khi demo  </a:t>
            </a:r>
            <a:pPr algn="l" indent="0" marL="0">
              <a:buNone/>
            </a:pPr>
            <a:r>
              <a:rPr lang="en-US" sz="1500" dirty="0">
                <a:solidFill>
                  <a:srgbClr val="2E1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starting point riêng · loading tự chuyển 1,2 giây · dialog huỷ dạng overlay · Back đúng · không ngõ cụt</a:t>
            </a:r>
            <a:endParaRPr lang="en-US" sz="15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BF4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640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69D3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11.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1417320" y="347472"/>
            <a:ext cx="9875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622B1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Live Prototype — Error &amp; Recovery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CÁC NHÁNH CẦN DEMO THẬT, KHÔNG CHỈ TRÌNH ẢNH TĨNH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1908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Minh chứng: Figma Page 03 (v2) · Page 06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11247120" y="64190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548640" y="1417320"/>
            <a:ext cx="3611880" cy="4800600"/>
          </a:xfrm>
          <a:prstGeom prst="roundRect">
            <a:avLst>
              <a:gd name="adj" fmla="val 2532"/>
            </a:avLst>
          </a:prstGeom>
          <a:solidFill>
            <a:srgbClr val="FFFFFF"/>
          </a:solidFill>
          <a:ln w="9525">
            <a:solidFill>
              <a:srgbClr val="E8D9C6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31520" y="1554480"/>
            <a:ext cx="3246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622B1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FLOW 2 · Mã giảm giá sai</a:t>
            </a:r>
            <a:endParaRPr lang="en-US" sz="1500" dirty="0"/>
          </a:p>
        </p:txBody>
      </p:sp>
      <p:pic>
        <p:nvPicPr>
          <p:cNvPr id="10" name="Image 0" descr="D:\Study\FPTU\Sem8\PRM323\prm393-lab2\assets\figma\S05-VOUCHER-ER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16786" y="2148840"/>
            <a:ext cx="1275588" cy="283464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1716786" y="2148840"/>
            <a:ext cx="1275588" cy="2834640"/>
          </a:xfrm>
          <a:prstGeom prst="rect">
            <a:avLst/>
          </a:prstGeom>
          <a:ln w="9525">
            <a:solidFill>
              <a:srgbClr val="E8D9C6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731520" y="5074920"/>
            <a:ext cx="3246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S05-VOUCHER-ERR: BB20 hết hạn — viền đỏ + chữ, tổng không giảm → bấm ô mã để nhập lại</a:t>
            </a:r>
            <a:endParaRPr lang="en-US" sz="1250" dirty="0"/>
          </a:p>
        </p:txBody>
      </p:sp>
      <p:sp>
        <p:nvSpPr>
          <p:cNvPr id="13" name="Shape 9"/>
          <p:cNvSpPr/>
          <p:nvPr/>
        </p:nvSpPr>
        <p:spPr>
          <a:xfrm>
            <a:off x="4297680" y="1417320"/>
            <a:ext cx="3611880" cy="4800600"/>
          </a:xfrm>
          <a:prstGeom prst="roundRect">
            <a:avLst>
              <a:gd name="adj" fmla="val 2532"/>
            </a:avLst>
          </a:prstGeom>
          <a:solidFill>
            <a:srgbClr val="FFFFFF"/>
          </a:solidFill>
          <a:ln w="9525">
            <a:solidFill>
              <a:srgbClr val="E8D9C6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4480560" y="1554480"/>
            <a:ext cx="3246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622B1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FLOW 3 · Thanh toán lỗi</a:t>
            </a:r>
            <a:endParaRPr lang="en-US" sz="1500" dirty="0"/>
          </a:p>
        </p:txBody>
      </p:sp>
      <p:pic>
        <p:nvPicPr>
          <p:cNvPr id="15" name="Image 1" descr="D:\Study\FPTU\Sem8\PRM323\prm393-lab2\assets\figma\S06-ER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68517" y="2148840"/>
            <a:ext cx="1270206" cy="2834640"/>
          </a:xfrm>
          <a:prstGeom prst="rect">
            <a:avLst/>
          </a:prstGeom>
        </p:spPr>
      </p:pic>
      <p:sp>
        <p:nvSpPr>
          <p:cNvPr id="16" name="Shape 11"/>
          <p:cNvSpPr/>
          <p:nvPr/>
        </p:nvSpPr>
        <p:spPr>
          <a:xfrm>
            <a:off x="5468517" y="2148840"/>
            <a:ext cx="1270206" cy="2834640"/>
          </a:xfrm>
          <a:prstGeom prst="rect">
            <a:avLst/>
          </a:prstGeom>
          <a:ln w="9525">
            <a:solidFill>
              <a:srgbClr val="E8D9C6"/>
            </a:solidFill>
            <a:prstDash val="solid"/>
          </a:ln>
        </p:spPr>
      </p:sp>
      <p:sp>
        <p:nvSpPr>
          <p:cNvPr id="17" name="Text 12"/>
          <p:cNvSpPr txBox="1"/>
          <p:nvPr/>
        </p:nvSpPr>
        <p:spPr>
          <a:xfrm>
            <a:off x="4480560" y="5074920"/>
            <a:ext cx="3246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S06-ERR: "Đơn hàng của bạn vẫn được giữ" → đổi cách trả hoặc trả tiền mặt → S07-CASH</a:t>
            </a:r>
            <a:endParaRPr lang="en-US" sz="1250" dirty="0"/>
          </a:p>
        </p:txBody>
      </p:sp>
      <p:sp>
        <p:nvSpPr>
          <p:cNvPr id="18" name="Shape 13"/>
          <p:cNvSpPr/>
          <p:nvPr/>
        </p:nvSpPr>
        <p:spPr>
          <a:xfrm>
            <a:off x="8046720" y="1417320"/>
            <a:ext cx="3611880" cy="4800600"/>
          </a:xfrm>
          <a:prstGeom prst="roundRect">
            <a:avLst>
              <a:gd name="adj" fmla="val 2532"/>
            </a:avLst>
          </a:prstGeom>
          <a:solidFill>
            <a:srgbClr val="FFFFFF"/>
          </a:solidFill>
          <a:ln w="9525">
            <a:solidFill>
              <a:srgbClr val="E8D9C6"/>
            </a:solidFill>
            <a:prstDash val="solid"/>
          </a:ln>
        </p:spPr>
      </p:sp>
      <p:sp>
        <p:nvSpPr>
          <p:cNvPr id="19" name="Text 14"/>
          <p:cNvSpPr txBox="1"/>
          <p:nvPr/>
        </p:nvSpPr>
        <p:spPr>
          <a:xfrm>
            <a:off x="8229600" y="1554480"/>
            <a:ext cx="3246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622B1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Huỷ đơn</a:t>
            </a:r>
            <a:endParaRPr lang="en-US" sz="1500" dirty="0"/>
          </a:p>
        </p:txBody>
      </p:sp>
      <p:pic>
        <p:nvPicPr>
          <p:cNvPr id="20" name="Image 2" descr="D:\Study\FPTU\Sem8\PRM323\prm393-lab2\assets\figma\S07-DIALOG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0" y="2756059"/>
            <a:ext cx="2880360" cy="1620203"/>
          </a:xfrm>
          <a:prstGeom prst="rect">
            <a:avLst/>
          </a:prstGeom>
        </p:spPr>
      </p:pic>
      <p:sp>
        <p:nvSpPr>
          <p:cNvPr id="21" name="Shape 15"/>
          <p:cNvSpPr/>
          <p:nvPr/>
        </p:nvSpPr>
        <p:spPr>
          <a:xfrm>
            <a:off x="8412480" y="2756059"/>
            <a:ext cx="2880360" cy="1620203"/>
          </a:xfrm>
          <a:prstGeom prst="rect">
            <a:avLst/>
          </a:prstGeom>
          <a:ln w="9525">
            <a:solidFill>
              <a:srgbClr val="E8D9C6"/>
            </a:solidFill>
            <a:prstDash val="solid"/>
          </a:ln>
        </p:spPr>
      </p:sp>
      <p:sp>
        <p:nvSpPr>
          <p:cNvPr id="22" name="Text 16"/>
          <p:cNvSpPr txBox="1"/>
          <p:nvPr/>
        </p:nvSpPr>
        <p:spPr>
          <a:xfrm>
            <a:off x="8229600" y="5074920"/>
            <a:ext cx="3246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S07: dialog overlay; "Giữ đơn" đóng overlay. Ẩn nút sau 60 giây (D04) chưa làm</a:t>
            </a:r>
            <a:endParaRPr lang="en-US" sz="125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BF4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640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69D3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12.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1417320" y="347472"/>
            <a:ext cx="9875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622B1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Flutter Handoff — Token → Widget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DESIGN/DESIGN.MD + FIGMA 04/05 → HANDOFF/FLUTTER-HANDOFF.MD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1908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Minh chứng: handoff/flutter-handoff.md mục 1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11247120" y="64190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548640" y="1417320"/>
            <a:ext cx="5394960" cy="4800600"/>
          </a:xfrm>
          <a:prstGeom prst="roundRect">
            <a:avLst>
              <a:gd name="adj" fmla="val 1905"/>
            </a:avLst>
          </a:prstGeom>
          <a:solidFill>
            <a:srgbClr val="FFFFFF"/>
          </a:solidFill>
          <a:ln w="9525">
            <a:solidFill>
              <a:srgbClr val="E8D9C6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77240" y="15544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DESIGN TOKENS → THEME</a:t>
            </a:r>
            <a:endParaRPr lang="en-US" sz="1200" dirty="0"/>
          </a:p>
        </p:txBody>
      </p:sp>
      <p:graphicFrame>
        <p:nvGraphicFramePr>
          <p:cNvPr id="3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965960"/>
          <a:ext cx="4937760" cy="3600000"/>
        </p:xfrm>
        <a:graphic>
          <a:graphicData uri="http://schemas.openxmlformats.org/drawingml/2006/table">
            <a:tbl>
              <a:tblPr/>
              <a:tblGrid>
                <a:gridCol w="2377440"/>
                <a:gridCol w="2560320"/>
              </a:tblGrid>
              <a:tr h="4000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Token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22B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Flutter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22B14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E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color-primary #F69D39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E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ColorScheme.primary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E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color-on-primary #622B14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E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ColorScheme.onPrimary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E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color-error #B91C1C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E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ColorScheme.error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E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type-body-medium 14 sp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E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TextTheme.bodyMedium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E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spacing-md 16 dp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E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EdgeInsets.all(16)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E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radius-lg 16 dp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E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BorderRadius.circular(16)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E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color/v2-background #FAF8F5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E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ColorScheme.surface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E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color/v2-selected #FFF1DE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E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ColorScheme.secondaryContainer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263640" y="1417320"/>
            <a:ext cx="5394960" cy="4800600"/>
          </a:xfrm>
          <a:prstGeom prst="roundRect">
            <a:avLst>
              <a:gd name="adj" fmla="val 1905"/>
            </a:avLst>
          </a:prstGeom>
          <a:solidFill>
            <a:srgbClr val="FFFFFF"/>
          </a:solidFill>
          <a:ln w="9525">
            <a:solidFill>
              <a:srgbClr val="E8D9C6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6492240" y="15544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FIGMA COMPONENT → FLUTTER WIDGET</a:t>
            </a:r>
            <a:endParaRPr lang="en-US" sz="1200" dirty="0"/>
          </a:p>
        </p:txBody>
      </p:sp>
      <p:graphicFrame>
        <p:nvGraphicFramePr>
          <p:cNvPr id="7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92240" y="1965960"/>
          <a:ext cx="4937760" cy="3600000"/>
        </p:xfrm>
        <a:graphic>
          <a:graphicData uri="http://schemas.openxmlformats.org/drawingml/2006/table">
            <a:tbl>
              <a:tblPr/>
              <a:tblGrid>
                <a:gridCol w="2011680"/>
                <a:gridCol w="2926080"/>
              </a:tblGrid>
              <a:tr h="4000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Component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22B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Widget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22B14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E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Button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E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FilledButton / OutlinedButton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E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Text field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E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TextFormField + validator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E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E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Card + InkWell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E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Navigation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E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NavigationBar (&lt; 600 dp) / Rail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E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Dialog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E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AlertDialog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E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Loading / Empty / Error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E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Shimmer + state widgets + retry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E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Chip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E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ChoiceChip (48 dp)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E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IconButton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E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IconButton, minimumSize 48 × 48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8D9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BF4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640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69D3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12.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1417320" y="347472"/>
            <a:ext cx="9875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622B1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Flutter Handoff — Đặc tả &amp; giới hạn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S01–S30 + K01–K15 × 6 MỤC · PHẠM VI THIẾT KẾ, KHÔNG VIẾT CODE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1908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Minh chứng: handoff/flutter-handoff.md mục 2–6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11247120" y="64190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548640" y="1417320"/>
            <a:ext cx="5760720" cy="4800600"/>
          </a:xfrm>
          <a:prstGeom prst="roundRect">
            <a:avLst>
              <a:gd name="adj" fmla="val 1905"/>
            </a:avLst>
          </a:prstGeom>
          <a:solidFill>
            <a:srgbClr val="FFFFFF"/>
          </a:solidFill>
          <a:ln w="9525">
            <a:solidFill>
              <a:srgbClr val="E8D9C6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77240" y="1554480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CHECKLIST MỖI MÀN — 6 MỤC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777240" y="1965960"/>
            <a:ext cx="5303520" cy="566928"/>
          </a:xfrm>
          <a:prstGeom prst="roundRect">
            <a:avLst>
              <a:gd name="adj" fmla="val 16129"/>
            </a:avLst>
          </a:prstGeom>
          <a:solidFill>
            <a:srgbClr val="FFF5E5"/>
          </a:solidFill>
          <a:ln w="9525">
            <a:solidFill>
              <a:srgbClr val="FFF5E5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914400" y="1965960"/>
            <a:ext cx="457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1417320" y="1965960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622B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</a:t>
            </a:r>
            <a:endParaRPr lang="en-US" sz="1350" dirty="0"/>
          </a:p>
        </p:txBody>
      </p:sp>
      <p:sp>
        <p:nvSpPr>
          <p:cNvPr id="13" name="Text 10"/>
          <p:cNvSpPr txBox="1"/>
          <p:nvPr/>
        </p:nvSpPr>
        <p:spPr>
          <a:xfrm>
            <a:off x="2926080" y="1965960"/>
            <a:ext cx="3063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Scaffold · AppBar · phần cuộn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777240" y="2651760"/>
            <a:ext cx="5303520" cy="566928"/>
          </a:xfrm>
          <a:prstGeom prst="roundRect">
            <a:avLst>
              <a:gd name="adj" fmla="val 16129"/>
            </a:avLst>
          </a:prstGeom>
          <a:solidFill>
            <a:srgbClr val="FFF5E5"/>
          </a:solidFill>
          <a:ln w="9525">
            <a:solidFill>
              <a:srgbClr val="FFF5E5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914400" y="2651760"/>
            <a:ext cx="457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1417320" y="2651760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622B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Components</a:t>
            </a:r>
            <a:endParaRPr lang="en-US" sz="1350" dirty="0"/>
          </a:p>
        </p:txBody>
      </p:sp>
      <p:sp>
        <p:nvSpPr>
          <p:cNvPr id="17" name="Text 14"/>
          <p:cNvSpPr txBox="1"/>
          <p:nvPr/>
        </p:nvSpPr>
        <p:spPr>
          <a:xfrm>
            <a:off x="2926080" y="2651760"/>
            <a:ext cx="3063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Instance Figma → widget</a:t>
            </a:r>
            <a:endParaRPr lang="en-US" sz="1250" dirty="0"/>
          </a:p>
        </p:txBody>
      </p:sp>
      <p:sp>
        <p:nvSpPr>
          <p:cNvPr id="18" name="Shape 15"/>
          <p:cNvSpPr/>
          <p:nvPr/>
        </p:nvSpPr>
        <p:spPr>
          <a:xfrm>
            <a:off x="777240" y="3337560"/>
            <a:ext cx="5303520" cy="566928"/>
          </a:xfrm>
          <a:prstGeom prst="roundRect">
            <a:avLst>
              <a:gd name="adj" fmla="val 16129"/>
            </a:avLst>
          </a:prstGeom>
          <a:solidFill>
            <a:srgbClr val="FFF5E5"/>
          </a:solidFill>
          <a:ln w="9525">
            <a:solidFill>
              <a:srgbClr val="FFF5E5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914400" y="3337560"/>
            <a:ext cx="457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300" dirty="0"/>
          </a:p>
        </p:txBody>
      </p:sp>
      <p:sp>
        <p:nvSpPr>
          <p:cNvPr id="20" name="Text 17"/>
          <p:cNvSpPr txBox="1"/>
          <p:nvPr/>
        </p:nvSpPr>
        <p:spPr>
          <a:xfrm>
            <a:off x="1417320" y="3337560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622B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States</a:t>
            </a:r>
            <a:endParaRPr lang="en-US" sz="1350" dirty="0"/>
          </a:p>
        </p:txBody>
      </p:sp>
      <p:sp>
        <p:nvSpPr>
          <p:cNvPr id="21" name="Text 18"/>
          <p:cNvSpPr txBox="1"/>
          <p:nvPr/>
        </p:nvSpPr>
        <p:spPr>
          <a:xfrm>
            <a:off x="2926080" y="3337560"/>
            <a:ext cx="3063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Default · Loading · Empty · Error</a:t>
            </a:r>
            <a:endParaRPr lang="en-US" sz="1250" dirty="0"/>
          </a:p>
        </p:txBody>
      </p:sp>
      <p:sp>
        <p:nvSpPr>
          <p:cNvPr id="22" name="Shape 19"/>
          <p:cNvSpPr/>
          <p:nvPr/>
        </p:nvSpPr>
        <p:spPr>
          <a:xfrm>
            <a:off x="777240" y="4023360"/>
            <a:ext cx="5303520" cy="566928"/>
          </a:xfrm>
          <a:prstGeom prst="roundRect">
            <a:avLst>
              <a:gd name="adj" fmla="val 16129"/>
            </a:avLst>
          </a:prstGeom>
          <a:solidFill>
            <a:srgbClr val="FFF5E5"/>
          </a:solidFill>
          <a:ln w="9525">
            <a:solidFill>
              <a:srgbClr val="FFF5E5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914400" y="4023360"/>
            <a:ext cx="457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300" dirty="0"/>
          </a:p>
        </p:txBody>
      </p:sp>
      <p:sp>
        <p:nvSpPr>
          <p:cNvPr id="24" name="Text 21"/>
          <p:cNvSpPr txBox="1"/>
          <p:nvPr/>
        </p:nvSpPr>
        <p:spPr>
          <a:xfrm>
            <a:off x="1417320" y="4023360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622B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Interactions</a:t>
            </a:r>
            <a:endParaRPr lang="en-US" sz="1350" dirty="0"/>
          </a:p>
        </p:txBody>
      </p:sp>
      <p:sp>
        <p:nvSpPr>
          <p:cNvPr id="25" name="Text 22"/>
          <p:cNvSpPr txBox="1"/>
          <p:nvPr/>
        </p:nvSpPr>
        <p:spPr>
          <a:xfrm>
            <a:off x="2926080" y="4023360"/>
            <a:ext cx="3063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Validate, snackbar, giá động</a:t>
            </a:r>
            <a:endParaRPr lang="en-US" sz="1250" dirty="0"/>
          </a:p>
        </p:txBody>
      </p:sp>
      <p:sp>
        <p:nvSpPr>
          <p:cNvPr id="26" name="Shape 23"/>
          <p:cNvSpPr/>
          <p:nvPr/>
        </p:nvSpPr>
        <p:spPr>
          <a:xfrm>
            <a:off x="777240" y="4709160"/>
            <a:ext cx="5303520" cy="566928"/>
          </a:xfrm>
          <a:prstGeom prst="roundRect">
            <a:avLst>
              <a:gd name="adj" fmla="val 16129"/>
            </a:avLst>
          </a:prstGeom>
          <a:solidFill>
            <a:srgbClr val="FFF5E5"/>
          </a:solidFill>
          <a:ln w="9525">
            <a:solidFill>
              <a:srgbClr val="FFF5E5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914400" y="4709160"/>
            <a:ext cx="457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300" dirty="0"/>
          </a:p>
        </p:txBody>
      </p:sp>
      <p:sp>
        <p:nvSpPr>
          <p:cNvPr id="28" name="Text 25"/>
          <p:cNvSpPr txBox="1"/>
          <p:nvPr/>
        </p:nvSpPr>
        <p:spPr>
          <a:xfrm>
            <a:off x="1417320" y="4709160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622B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Navigation</a:t>
            </a:r>
            <a:endParaRPr lang="en-US" sz="1350" dirty="0"/>
          </a:p>
        </p:txBody>
      </p:sp>
      <p:sp>
        <p:nvSpPr>
          <p:cNvPr id="29" name="Text 26"/>
          <p:cNvSpPr txBox="1"/>
          <p:nvPr/>
        </p:nvSpPr>
        <p:spPr>
          <a:xfrm>
            <a:off x="2926080" y="4709160"/>
            <a:ext cx="3063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Đến từ đâu, Back về đâu</a:t>
            </a:r>
            <a:endParaRPr lang="en-US" sz="1250" dirty="0"/>
          </a:p>
        </p:txBody>
      </p:sp>
      <p:sp>
        <p:nvSpPr>
          <p:cNvPr id="30" name="Shape 27"/>
          <p:cNvSpPr/>
          <p:nvPr/>
        </p:nvSpPr>
        <p:spPr>
          <a:xfrm>
            <a:off x="777240" y="5394960"/>
            <a:ext cx="5303520" cy="566928"/>
          </a:xfrm>
          <a:prstGeom prst="roundRect">
            <a:avLst>
              <a:gd name="adj" fmla="val 16129"/>
            </a:avLst>
          </a:prstGeom>
          <a:solidFill>
            <a:srgbClr val="FFF5E5"/>
          </a:solidFill>
          <a:ln w="9525">
            <a:solidFill>
              <a:srgbClr val="FFF5E5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914400" y="5394960"/>
            <a:ext cx="457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300" dirty="0"/>
          </a:p>
        </p:txBody>
      </p:sp>
      <p:sp>
        <p:nvSpPr>
          <p:cNvPr id="32" name="Text 29"/>
          <p:cNvSpPr txBox="1"/>
          <p:nvPr/>
        </p:nvSpPr>
        <p:spPr>
          <a:xfrm>
            <a:off x="1417320" y="5394960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622B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Constraints</a:t>
            </a:r>
            <a:endParaRPr lang="en-US" sz="1350" dirty="0"/>
          </a:p>
        </p:txBody>
      </p:sp>
      <p:sp>
        <p:nvSpPr>
          <p:cNvPr id="33" name="Text 30"/>
          <p:cNvSpPr txBox="1"/>
          <p:nvPr/>
        </p:nvSpPr>
        <p:spPr>
          <a:xfrm>
            <a:off x="2926080" y="5394960"/>
            <a:ext cx="3063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 dp, bàn phím, chữ dài, ≥ 600 dp</a:t>
            </a:r>
            <a:endParaRPr lang="en-US" sz="1250" dirty="0"/>
          </a:p>
        </p:txBody>
      </p:sp>
      <p:sp>
        <p:nvSpPr>
          <p:cNvPr id="34" name="Shape 31"/>
          <p:cNvSpPr/>
          <p:nvPr/>
        </p:nvSpPr>
        <p:spPr>
          <a:xfrm>
            <a:off x="6537960" y="1417320"/>
            <a:ext cx="5120640" cy="2240280"/>
          </a:xfrm>
          <a:prstGeom prst="roundRect">
            <a:avLst>
              <a:gd name="adj" fmla="val 4082"/>
            </a:avLst>
          </a:prstGeom>
          <a:solidFill>
            <a:srgbClr val="FFFFFF"/>
          </a:solidFill>
          <a:ln w="9525">
            <a:solidFill>
              <a:srgbClr val="E8D9C6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6720840" y="1581912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622B1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Sẵn sàng bàn giao</a:t>
            </a:r>
            <a:endParaRPr lang="en-US" sz="1600" dirty="0"/>
          </a:p>
        </p:txBody>
      </p:sp>
      <p:sp>
        <p:nvSpPr>
          <p:cNvPr id="36" name="Text 33"/>
          <p:cNvSpPr txBox="1"/>
          <p:nvPr/>
        </p:nvSpPr>
        <p:spPr>
          <a:xfrm>
            <a:off x="6720840" y="2039112"/>
            <a:ext cx="4754880" cy="1527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2E1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 + 2 bảng mapping (kèm token v2)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2E1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mục cho S01–S30 và K01–K15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2E1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Hành vi màn ≥ 600 dp: NavigationRail, lưới 2–3 cột</a:t>
            </a:r>
            <a:endParaRPr lang="en-US" sz="1300" dirty="0"/>
          </a:p>
        </p:txBody>
      </p:sp>
      <p:sp>
        <p:nvSpPr>
          <p:cNvPr id="37" name="Shape 34"/>
          <p:cNvSpPr/>
          <p:nvPr/>
        </p:nvSpPr>
        <p:spPr>
          <a:xfrm>
            <a:off x="6537960" y="3794760"/>
            <a:ext cx="5120640" cy="2423160"/>
          </a:xfrm>
          <a:prstGeom prst="roundRect">
            <a:avLst>
              <a:gd name="adj" fmla="val 3774"/>
            </a:avLst>
          </a:prstGeom>
          <a:solidFill>
            <a:srgbClr val="FFFFFF"/>
          </a:solidFill>
          <a:ln w="9525">
            <a:solidFill>
              <a:srgbClr val="E8D9C6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6720840" y="3959352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B91C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Tồn tại / cần làm tiếp</a:t>
            </a:r>
            <a:endParaRPr lang="en-US" sz="1600" dirty="0"/>
          </a:p>
        </p:txBody>
      </p:sp>
      <p:sp>
        <p:nvSpPr>
          <p:cNvPr id="39" name="Text 36"/>
          <p:cNvSpPr txBox="1"/>
          <p:nvPr/>
        </p:nvSpPr>
        <p:spPr>
          <a:xfrm>
            <a:off x="6720840" y="4416552"/>
            <a:ext cx="4754880" cy="1709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2E1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Chưa có phản hồi khảo sát thật — persona là proto-persona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2E1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Chưa usability test Flow 1 (&lt; 35 giây) và chưa có phản biện của AI khác cho bản v2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2E1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Chạy Present trên prototype v2 và cập nhật ảnh chuẩn Playwright</a:t>
            </a:r>
            <a:endParaRPr lang="en-US" sz="13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BF4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640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69D3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12.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1417320" y="347472"/>
            <a:ext cx="9144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622B1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Project Summary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11109960" cy="1371600"/>
          </a:xfrm>
          <a:prstGeom prst="roundRect">
            <a:avLst>
              <a:gd name="adj" fmla="val 6667"/>
            </a:avLst>
          </a:prstGeom>
          <a:solidFill>
            <a:srgbClr val="622B14"/>
          </a:solidFill>
          <a:ln w="9525">
            <a:solidFill>
              <a:srgbClr val="622B1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417320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Ăn kịp giờ nghỉ — không phải xếp hàng.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10312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3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BreakBite giúp sinh viên đặt trước và lấy món tại quầy trong 15 phút giữa hai slot.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2971800"/>
            <a:ext cx="5440680" cy="3246120"/>
          </a:xfrm>
          <a:prstGeom prst="roundRect">
            <a:avLst>
              <a:gd name="adj" fmla="val 2817"/>
            </a:avLst>
          </a:prstGeom>
          <a:solidFill>
            <a:srgbClr val="FFFFFF"/>
          </a:solidFill>
          <a:ln w="9525">
            <a:solidFill>
              <a:srgbClr val="E8D9C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31520" y="3136392"/>
            <a:ext cx="5074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622B1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 giúp mình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731520" y="3593592"/>
            <a:ext cx="5074920" cy="2532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2E1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Sinh UI ban đầu nhanh (Stitch)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2E1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Mô phỏng phỏng vấn để tạo giả thuyết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2E1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Phản biện theo Nielsen, WCAG, persona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2E1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Ghi log, tổng hợp đánh giá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17920" y="2971800"/>
            <a:ext cx="5440680" cy="3246120"/>
          </a:xfrm>
          <a:prstGeom prst="roundRect">
            <a:avLst>
              <a:gd name="adj" fmla="val 2817"/>
            </a:avLst>
          </a:prstGeom>
          <a:solidFill>
            <a:srgbClr val="FFFFFF"/>
          </a:solidFill>
          <a:ln w="9525">
            <a:solidFill>
              <a:srgbClr val="E8D9C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00800" y="3136392"/>
            <a:ext cx="5074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622B1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Mình vẫn phải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6400800" y="3593592"/>
            <a:ext cx="5074920" cy="2532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2E1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Xác định vấn đề, chọn persona có lý do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2E1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Tự đo lại — AI nói sai tương phản 2,14:1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2E1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Quyết định Accept / Modify / Reject (2 lần Reject)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2E1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Ghi rõ giới hạn: chưa có người dùng thật</a:t>
            </a:r>
            <a:endParaRPr lang="en-US" sz="13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622B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37744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Cảm ơn thầy và các bạn</a:t>
            </a:r>
            <a:endParaRPr lang="en-US" sz="44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3383280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rgbClr val="E0C3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Hỏi đáp · Demo Figma Present</a:t>
            </a:r>
            <a:endParaRPr lang="en-US" sz="20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4EA"/>
        </a:solidFill>
      </p:bgPr>
    </p:bg>
    <p:spTree>
      <p:nvGrpSpPr>
        <p:cNvPr id="1" name=""/>
        <p:cNvGrpSpPr/>
        <p:nvPr/>
      </p:nvGrpSpPr>
      <p:grpSpPr/>
      <p:sp>
        <p:nvSpPr>
          <p:cNvPr id="2" name="Text 0"/>
          <p:cNvSpPr txBox="1"/>
          <p:nvPr/>
        </p:nvSpPr>
        <p:spPr>
          <a:xfrm>
            <a:off x="548640" y="347472"/>
            <a:ext cx="640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69D3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7.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1143000" y="347472"/>
            <a:ext cx="9875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622B1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Design Decisions — Phản biện giao diện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A01–A15 → FINAL UI V2 · SỐ ĐO TRƯỚC VÀ SAU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1908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Minh chứng: ai/phan-bien-giao-dien/ · tests/audit/ (Playwright + Figma Plugin API)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11247120" y="64190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1050" dirty="0"/>
          </a:p>
        </p:txBody>
      </p:sp>
      <p:sp>
        <p:nvSpPr>
          <p:cNvPr id="7" name="Rounded Rectangle 6"/>
          <p:cNvSpPr/>
          <p:nvPr/>
        </p:nvSpPr>
        <p:spPr>
          <a:xfrm>
            <a:off x="548640" y="1417320"/>
            <a:ext cx="6583680" cy="4800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8D9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554480"/>
            <a:ext cx="6126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8A5D48"/>
                </a:solidFill>
                <a:latin typeface="Cambria"/>
              </a:rPr>
              <a:t>SỐ ĐO BẢN CŨ → V2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77240" y="1965960"/>
          <a:ext cx="6126480" cy="336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000"/>
                <a:gridCol w="1463040"/>
                <a:gridCol w="1463440"/>
              </a:tblGrid>
              <a:tr h="480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mbria"/>
                        </a:rPr>
                        <a:t>Chỉ số</a:t>
                      </a:r>
                    </a:p>
                  </a:txBody>
                  <a:tcPr anchor="ctr">
                    <a:solidFill>
                      <a:srgbClr val="622B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mbria"/>
                        </a:rPr>
                        <a:t>Bản cũ</a:t>
                      </a:r>
                    </a:p>
                  </a:txBody>
                  <a:tcPr anchor="ctr">
                    <a:solidFill>
                      <a:srgbClr val="622B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mbria"/>
                        </a:rPr>
                        <a:t>V2</a:t>
                      </a:r>
                    </a:p>
                  </a:txBody>
                  <a:tcPr anchor="ctr">
                    <a:solidFill>
                      <a:srgbClr val="622B14"/>
                    </a:solidFill>
                  </a:tcPr>
                </a:tc>
              </a:tr>
              <a:tr h="480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622B14"/>
                          </a:solidFill>
                          <a:latin typeface="Cambria"/>
                        </a:rPr>
                        <a:t>Cam đậm (TB S01–S08)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622B14"/>
                          </a:solidFill>
                          <a:latin typeface="Cambria"/>
                        </a:rPr>
                        <a:t>5,9%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622B14"/>
                          </a:solidFill>
                          <a:latin typeface="Cambria"/>
                        </a:rPr>
                        <a:t>4,3%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80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622B14"/>
                          </a:solidFill>
                          <a:latin typeface="Cambria"/>
                        </a:rPr>
                        <a:t>Họ cam–be: nền, thẻ, chip</a:t>
                      </a:r>
                    </a:p>
                  </a:txBody>
                  <a:tcPr anchor="ctr">
                    <a:solidFill>
                      <a:srgbClr val="FFF5E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622B14"/>
                          </a:solidFill>
                          <a:latin typeface="Cambria"/>
                        </a:rPr>
                        <a:t>55,3%</a:t>
                      </a:r>
                    </a:p>
                  </a:txBody>
                  <a:tcPr anchor="ctr">
                    <a:solidFill>
                      <a:srgbClr val="FFF5E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622B14"/>
                          </a:solidFill>
                          <a:latin typeface="Cambria"/>
                        </a:rPr>
                        <a:t>4,4%</a:t>
                      </a:r>
                    </a:p>
                  </a:txBody>
                  <a:tcPr anchor="ctr">
                    <a:solidFill>
                      <a:srgbClr val="FFF5E5"/>
                    </a:solidFill>
                  </a:tcPr>
                </a:tc>
              </a:tr>
              <a:tr h="480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622B14"/>
                          </a:solidFill>
                          <a:latin typeface="Cambria"/>
                        </a:rPr>
                        <a:t>Emoji trong chữ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622B14"/>
                          </a:solidFill>
                          <a:latin typeface="Cambria"/>
                        </a:rPr>
                        <a:t>98/366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622B14"/>
                          </a:solidFill>
                          <a:latin typeface="Cambria"/>
                        </a:rPr>
                        <a:t>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80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622B14"/>
                          </a:solidFill>
                          <a:latin typeface="Cambria"/>
                        </a:rPr>
                        <a:t>Chữ dưới 14 sp</a:t>
                      </a:r>
                    </a:p>
                  </a:txBody>
                  <a:tcPr anchor="ctr">
                    <a:solidFill>
                      <a:srgbClr val="FFF5E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622B14"/>
                          </a:solidFill>
                          <a:latin typeface="Cambria"/>
                        </a:rPr>
                        <a:t>86 dòng</a:t>
                      </a:r>
                    </a:p>
                  </a:txBody>
                  <a:tcPr anchor="ctr">
                    <a:solidFill>
                      <a:srgbClr val="FFF5E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622B14"/>
                          </a:solidFill>
                          <a:latin typeface="Cambria"/>
                        </a:rPr>
                        <a:t>0*</a:t>
                      </a:r>
                    </a:p>
                  </a:txBody>
                  <a:tcPr anchor="ctr">
                    <a:solidFill>
                      <a:srgbClr val="FFF5E5"/>
                    </a:solidFill>
                  </a:tcPr>
                </a:tc>
              </a:tr>
              <a:tr h="480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622B14"/>
                          </a:solidFill>
                          <a:latin typeface="Cambria"/>
                        </a:rPr>
                        <a:t>Chữ thiếu tương phản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622B14"/>
                          </a:solidFill>
                          <a:latin typeface="Cambria"/>
                        </a:rPr>
                        <a:t>8 chỗ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622B14"/>
                          </a:solidFill>
                          <a:latin typeface="Cambria"/>
                        </a:rPr>
                        <a:t>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80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622B14"/>
                          </a:solidFill>
                          <a:latin typeface="Cambria"/>
                        </a:rPr>
                        <a:t>Vùng bấm dưới 48 dp</a:t>
                      </a:r>
                    </a:p>
                  </a:txBody>
                  <a:tcPr anchor="ctr">
                    <a:solidFill>
                      <a:srgbClr val="FFF5E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622B14"/>
                          </a:solidFill>
                          <a:latin typeface="Cambria"/>
                        </a:rPr>
                        <a:t>20/39</a:t>
                      </a:r>
                    </a:p>
                  </a:txBody>
                  <a:tcPr anchor="ctr">
                    <a:solidFill>
                      <a:srgbClr val="FFF5E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622B14"/>
                          </a:solidFill>
                          <a:latin typeface="Cambria"/>
                        </a:rPr>
                        <a:t>0/217</a:t>
                      </a:r>
                    </a:p>
                  </a:txBody>
                  <a:tcPr anchor="ctr">
                    <a:solidFill>
                      <a:srgbClr val="FFF5E5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777240" y="5440680"/>
            <a:ext cx="61264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8A5D48"/>
                </a:solidFill>
                <a:latin typeface="Cambria"/>
              </a:rPr>
              <a:t>* trừ nhãn thanh dưới 12 sp (ngoại lệ D36). Nền v2 là #FAF8F5 nên không còn tính vào họ cam–be.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60920" y="1417320"/>
            <a:ext cx="4297680" cy="4800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8D9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589520" y="1554480"/>
            <a:ext cx="3931920" cy="457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8A5D48"/>
                </a:solidFill>
                <a:latin typeface="Cambria"/>
              </a:rPr>
              <a:t>LỖI CHÍNH ĐÃ SỬA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622B14"/>
                </a:solidFill>
                <a:latin typeface="Cambria"/>
              </a:rPr>
              <a:t>A01 · Giao diện quá cam: nền kem trung tính, cam chỉ cho một nút chính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622B14"/>
                </a:solidFill>
                <a:latin typeface="Cambria"/>
              </a:rPr>
              <a:t>A02 · Icon lộn xộn: bỏ emoji, một bộ 27 icon vector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622B14"/>
                </a:solidFill>
                <a:latin typeface="Cambria"/>
              </a:rPr>
              <a:t>A03 · Giỏ hàng và thanh toán lặp: tách S05 và S06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622B14"/>
                </a:solidFill>
                <a:latin typeface="Cambria"/>
              </a:rPr>
              <a:t>A04–A06 · Vùng bấm 48 dp, chữ 14 sp, chữ cam đủ 4,5:1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622B14"/>
                </a:solidFill>
                <a:latin typeface="Cambria"/>
              </a:rPr>
              <a:t>A07–A15 · CTA S07, chip, QR, tên trạng thái, ảnh món, nội dung không có nguồn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8A5D48"/>
                </a:solidFill>
                <a:latin typeface="Cambria"/>
              </a:rPr>
              <a:t>Chưa có phản biện độc lập của AI khác cho v2; báo cáo đo do Claude viết nên không độc lập.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4EA"/>
        </a:solidFill>
      </p:bgPr>
    </p:bg>
    <p:spTree>
      <p:nvGrpSpPr>
        <p:cNvPr id="1" name=""/>
        <p:cNvGrpSpPr/>
        <p:nvPr/>
      </p:nvGrpSpPr>
      <p:grpSpPr/>
      <p:sp>
        <p:nvSpPr>
          <p:cNvPr id="2" name="Text 0"/>
          <p:cNvSpPr txBox="1"/>
          <p:nvPr/>
        </p:nvSpPr>
        <p:spPr>
          <a:xfrm>
            <a:off x="548640" y="347472"/>
            <a:ext cx="640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69D3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8.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1143000" y="347472"/>
            <a:ext cx="9875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622B1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Final UI v2 — 30 màn app khách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S01–S08 · S09–S25 · S26–S30 (BẢN SAU PHẢN BIỆN)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1908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Minh chứng: assets/figma/final-ui-v2/ · design/screens-s09-s30.md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11247120" y="64190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</a:t>
            </a:r>
            <a:endParaRPr lang="en-US" sz="1050" dirty="0"/>
          </a:p>
        </p:txBody>
      </p:sp>
      <p:pic>
        <p:nvPicPr>
          <p:cNvPr id="7" name="Picture 6" descr="contact-sheet-s01-s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17320"/>
            <a:ext cx="3500000" cy="3772727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" y="5250000"/>
            <a:ext cx="3500000" cy="2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622B14"/>
                </a:solidFill>
                <a:latin typeface="Cambria"/>
              </a:rPr>
              <a:t>S01–S08 · Đặt món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5560000"/>
            <a:ext cx="3500000" cy="8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8A5D48"/>
                </a:solidFill>
                <a:latin typeface="Cambria"/>
              </a:rPr>
              <a:t>Onboarding, trang chủ, thực đơn, chi tiết món, giỏ hàng, thanh toán, theo dõi đơn, đơn hàng</a:t>
            </a:r>
          </a:p>
        </p:txBody>
      </p:sp>
      <p:pic>
        <p:nvPicPr>
          <p:cNvPr id="10" name="Picture 9" descr="contact-sheet-s09-s2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51960" y="1417320"/>
            <a:ext cx="3500000" cy="3773913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251960" y="5250000"/>
            <a:ext cx="3500000" cy="2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622B14"/>
                </a:solidFill>
                <a:latin typeface="Cambria"/>
              </a:rPr>
              <a:t>S09–S25 · Vòng đời đơn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51960" y="5560000"/>
            <a:ext cx="3500000" cy="8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8A5D48"/>
                </a:solidFill>
                <a:latin typeface="Cambria"/>
              </a:rPr>
              <a:t>Sửa/huỷ đơn, lịch sử, yêu thích, tài khoản, thông báo, nhận món QR, quán đóng, món hết, đánh giá, sự cố, hẹn giờ</a:t>
            </a:r>
          </a:p>
        </p:txBody>
      </p:sp>
      <p:pic>
        <p:nvPicPr>
          <p:cNvPr id="13" name="Picture 12" descr="contact-sheet-s26-s3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55280" y="1417320"/>
            <a:ext cx="3500000" cy="3772727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955280" y="5250000"/>
            <a:ext cx="3500000" cy="2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622B14"/>
                </a:solidFill>
                <a:latin typeface="Cambria"/>
              </a:rPr>
              <a:t>S26–S30 · Bổ sung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55280" y="5560000"/>
            <a:ext cx="3500000" cy="8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8A5D48"/>
                </a:solidFill>
                <a:latin typeface="Cambria"/>
              </a:rPr>
              <a:t>Đăng nhập email trường, chọn kiosk, tìm kiếm, mã giảm giá, mất kết nối, đang tải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4EA"/>
        </a:solidFill>
      </p:bgPr>
    </p:bg>
    <p:spTree>
      <p:nvGrpSpPr>
        <p:cNvPr id="1" name=""/>
        <p:cNvGrpSpPr/>
        <p:nvPr/>
      </p:nvGrpSpPr>
      <p:grpSpPr/>
      <p:sp>
        <p:nvSpPr>
          <p:cNvPr id="2" name="Text 0"/>
          <p:cNvSpPr txBox="1"/>
          <p:nvPr/>
        </p:nvSpPr>
        <p:spPr>
          <a:xfrm>
            <a:off x="548640" y="347472"/>
            <a:ext cx="640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69D3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8.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1143000" y="347472"/>
            <a:ext cx="9875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622B1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App người bán — BreakBite Kiosk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MÀN K01–K15 CHO NHÂN VIÊN QUẦY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1908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Minh chứng: design/kitchen-app.md · assets/figma/final-ui-v2/kitchen/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11247120" y="64190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1050" dirty="0"/>
          </a:p>
        </p:txBody>
      </p:sp>
      <p:sp>
        <p:nvSpPr>
          <p:cNvPr id="7" name="Rounded Rectangle 6"/>
          <p:cNvSpPr/>
          <p:nvPr/>
        </p:nvSpPr>
        <p:spPr>
          <a:xfrm>
            <a:off x="548640" y="1417320"/>
            <a:ext cx="6400800" cy="26060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8D9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508760"/>
            <a:ext cx="6035040" cy="2423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8A5D48"/>
                </a:solidFill>
                <a:latin typeface="Cambria"/>
              </a:rPr>
              <a:t>MÀN KHÁCH ĐÃ HỨA, QUẦY PHẢI THỰC HIỆN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622B14"/>
                </a:solidFill>
                <a:latin typeface="Cambria"/>
              </a:rPr>
              <a:t>S07 Đã nhận → Đang làm → Sẵn sàng  ←  K03 Nhận đơn, K04 Báo sẵn sàng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622B14"/>
                </a:solidFill>
                <a:latin typeface="Cambria"/>
              </a:rPr>
              <a:t>S20 mã QR  ←  K05 Quét mã, K06 Xác nhận giao (K06-CASH thu tiền mặt)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622B14"/>
                </a:solidFill>
                <a:latin typeface="Cambria"/>
              </a:rPr>
              <a:t>S03/S22 Tạm hết  ←  K08, K09 Hết món; K14, K15 Thêm, sửa món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622B14"/>
                </a:solidFill>
                <a:latin typeface="Cambria"/>
              </a:rPr>
              <a:t>S21 Quán đóng  ←  K10 Bật/tắt nhận đơn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622B14"/>
                </a:solidFill>
                <a:latin typeface="Cambria"/>
              </a:rPr>
              <a:t>S07-DIALOG huỷ, S24 sự cố  ←  K12 Từ chối, K13 Hoàn tiền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4160520"/>
            <a:ext cx="6400800" cy="2057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8D9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251960"/>
            <a:ext cx="6035040" cy="1920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8A5D48"/>
                </a:solidFill>
                <a:latin typeface="Cambria"/>
              </a:rPr>
              <a:t>MÀN VÀ FLOW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622B14"/>
                </a:solidFill>
                <a:latin typeface="Cambria"/>
              </a:rPr>
              <a:t>K01 Đăng nhập · K02 Danh sách đơn · K03 Chi tiết · K04 Đang chuẩn bị · K05 Quét mã · K06 Giao món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622B14"/>
                </a:solidFill>
                <a:latin typeface="Cambria"/>
              </a:rPr>
              <a:t>K08 Quản lý món · K09 Hết món · K10 Quán · K11 Thống kê ca · K12 Từ chối · K13 Sự cố · K14 Thêm món · K15 Sửa món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622B14"/>
                </a:solidFill>
                <a:latin typeface="Cambria"/>
              </a:rPr>
              <a:t>Một nút cam mỗi màn; thanh toán luôn hiện trên thẻ đơn để biết đơn nào thu tiền mặt.</a:t>
            </a:r>
          </a:p>
        </p:txBody>
      </p:sp>
      <p:pic>
        <p:nvPicPr>
          <p:cNvPr id="11" name="Picture 10" descr="contact-sheet-kitch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0" y="1417320"/>
            <a:ext cx="4526280" cy="4880510"/>
          </a:xfrm>
          <a:prstGeom prst="rect">
            <a:avLst/>
          </a:prstGeom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4EA"/>
        </a:solidFill>
      </p:bgPr>
    </p:bg>
    <p:spTree>
      <p:nvGrpSpPr>
        <p:cNvPr id="1" name=""/>
        <p:cNvGrpSpPr/>
        <p:nvPr/>
      </p:nvGrpSpPr>
      <p:grpSpPr/>
      <p:sp>
        <p:nvSpPr>
          <p:cNvPr id="2" name="Text 0"/>
          <p:cNvSpPr txBox="1"/>
          <p:nvPr/>
        </p:nvSpPr>
        <p:spPr>
          <a:xfrm>
            <a:off x="548640" y="347472"/>
            <a:ext cx="640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69D3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12.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1417320" y="347472"/>
            <a:ext cx="9875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622B1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Chấm UX/UI theo Quality Gates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G0–G5 · RUBRIC NỘI BỘ CỦA MÔN, KHÔNG PHẢI CHUẨN QUỐC TẾ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1908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Minh chứng: docs/quy-chuan-ux-ui.md · skills/ (13 skill) · prm393-material.web.app/quality-gates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11247120" y="64190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</a:t>
            </a:r>
            <a:endParaRPr lang="en-US" sz="1050" dirty="0"/>
          </a:p>
        </p:txBody>
      </p:sp>
      <p:sp>
        <p:nvSpPr>
          <p:cNvPr id="7" name="Rounded Rectangle 6"/>
          <p:cNvSpPr/>
          <p:nvPr/>
        </p:nvSpPr>
        <p:spPr>
          <a:xfrm>
            <a:off x="548640" y="1417320"/>
            <a:ext cx="6858000" cy="4800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8D9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508760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8A5D48"/>
                </a:solidFill>
                <a:latin typeface="Cambria"/>
              </a:rPr>
              <a:t>SÁU GATE VÀ TIÊU CHÍ CRITICAL CHÍNH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77240" y="1920240"/>
          <a:ext cx="6400800" cy="392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0080"/>
                <a:gridCol w="1280160"/>
                <a:gridCol w="4480560"/>
              </a:tblGrid>
              <a:tr h="5600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mbria"/>
                        </a:rPr>
                        <a:t>Gate</a:t>
                      </a:r>
                    </a:p>
                  </a:txBody>
                  <a:tcPr anchor="ctr">
                    <a:solidFill>
                      <a:srgbClr val="622B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mbria"/>
                        </a:rPr>
                        <a:t>Phase</a:t>
                      </a:r>
                    </a:p>
                  </a:txBody>
                  <a:tcPr anchor="ctr">
                    <a:solidFill>
                      <a:srgbClr val="622B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mbria"/>
                        </a:rPr>
                        <a:t>Critical chính</a:t>
                      </a:r>
                    </a:p>
                  </a:txBody>
                  <a:tcPr anchor="ctr">
                    <a:solidFill>
                      <a:srgbClr val="622B14"/>
                    </a:solidFill>
                  </a:tcPr>
                </a:tc>
              </a:tr>
              <a:tr h="5600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622B14"/>
                          </a:solidFill>
                          <a:latin typeface="Cambria"/>
                        </a:rPr>
                        <a:t>G0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22B14"/>
                          </a:solidFill>
                          <a:latin typeface="Cambria"/>
                        </a:rPr>
                        <a:t>Ideas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22B14"/>
                          </a:solidFill>
                          <a:latin typeface="Cambria"/>
                        </a:rPr>
                        <a:t>Problem statement đủ 4 phần; giả định có nhãn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600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622B14"/>
                          </a:solidFill>
                          <a:latin typeface="Cambria"/>
                        </a:rPr>
                        <a:t>G1</a:t>
                      </a:r>
                    </a:p>
                  </a:txBody>
                  <a:tcPr anchor="ctr">
                    <a:solidFill>
                      <a:srgbClr val="FFF5E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22B14"/>
                          </a:solidFill>
                          <a:latin typeface="Cambria"/>
                        </a:rPr>
                        <a:t>Research</a:t>
                      </a:r>
                    </a:p>
                  </a:txBody>
                  <a:tcPr anchor="ctr">
                    <a:solidFill>
                      <a:srgbClr val="FFF5E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22B14"/>
                          </a:solidFill>
                          <a:latin typeface="Cambria"/>
                        </a:rPr>
                        <a:t>Dữ liệu người dùng thật; insight truy được về nguồn</a:t>
                      </a:r>
                    </a:p>
                  </a:txBody>
                  <a:tcPr anchor="ctr">
                    <a:solidFill>
                      <a:srgbClr val="FFF5E5"/>
                    </a:solidFill>
                  </a:tcPr>
                </a:tc>
              </a:tr>
              <a:tr h="5600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622B14"/>
                          </a:solidFill>
                          <a:latin typeface="Cambria"/>
                        </a:rPr>
                        <a:t>G2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22B14"/>
                          </a:solidFill>
                          <a:latin typeface="Cambria"/>
                        </a:rPr>
                        <a:t>UX Design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22B14"/>
                          </a:solidFill>
                          <a:latin typeface="Cambria"/>
                        </a:rPr>
                        <a:t>Flow đủ đầu, cuối, lỗi; IA và wireframe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600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622B14"/>
                          </a:solidFill>
                          <a:latin typeface="Cambria"/>
                        </a:rPr>
                        <a:t>G3</a:t>
                      </a:r>
                    </a:p>
                  </a:txBody>
                  <a:tcPr anchor="ctr">
                    <a:solidFill>
                      <a:srgbClr val="FFF5E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22B14"/>
                          </a:solidFill>
                          <a:latin typeface="Cambria"/>
                        </a:rPr>
                        <a:t>UI Concept</a:t>
                      </a:r>
                    </a:p>
                  </a:txBody>
                  <a:tcPr anchor="ctr">
                    <a:solidFill>
                      <a:srgbClr val="FFF5E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22B14"/>
                          </a:solidFill>
                          <a:latin typeface="Cambria"/>
                        </a:rPr>
                        <a:t>≥ 2 hướng; style guide; contrast, 48 dp, 14 sp</a:t>
                      </a:r>
                    </a:p>
                  </a:txBody>
                  <a:tcPr anchor="ctr">
                    <a:solidFill>
                      <a:srgbClr val="FFF5E5"/>
                    </a:solidFill>
                  </a:tcPr>
                </a:tc>
              </a:tr>
              <a:tr h="5600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622B14"/>
                          </a:solidFill>
                          <a:latin typeface="Cambria"/>
                        </a:rPr>
                        <a:t>G4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22B14"/>
                          </a:solidFill>
                          <a:latin typeface="Cambria"/>
                        </a:rPr>
                        <a:t>UI Design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22B14"/>
                          </a:solidFill>
                          <a:latin typeface="Cambria"/>
                        </a:rPr>
                        <a:t>Prototype đi hết tác vụ; đủ state; dùng style guide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600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622B14"/>
                          </a:solidFill>
                          <a:latin typeface="Cambria"/>
                        </a:rPr>
                        <a:t>G5</a:t>
                      </a:r>
                    </a:p>
                  </a:txBody>
                  <a:tcPr anchor="ctr">
                    <a:solidFill>
                      <a:srgbClr val="FFF5E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22B14"/>
                          </a:solidFill>
                          <a:latin typeface="Cambria"/>
                        </a:rPr>
                        <a:t>Validation</a:t>
                      </a:r>
                    </a:p>
                  </a:txBody>
                  <a:tcPr anchor="ctr">
                    <a:solidFill>
                      <a:srgbClr val="FFF5E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22B14"/>
                          </a:solidFill>
                          <a:latin typeface="Cambria"/>
                        </a:rPr>
                        <a:t>Usability test; không blocker; bàn giao đủ</a:t>
                      </a:r>
                    </a:p>
                  </a:txBody>
                  <a:tcPr anchor="ctr">
                    <a:solidFill>
                      <a:srgbClr val="FFF5E5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7589520" y="1417320"/>
            <a:ext cx="4069080" cy="4800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8D9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18120" y="1508760"/>
            <a:ext cx="3611880" cy="457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8A5D48"/>
                </a:solidFill>
                <a:latin typeface="Cambria"/>
              </a:rPr>
              <a:t>THANG ĐIỂM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622B14"/>
                </a:solidFill>
                <a:latin typeface="Cambria"/>
              </a:rPr>
              <a:t>≥ 80% và mọi Critical đạt: Đạt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622B14"/>
                </a:solidFill>
                <a:latin typeface="Cambria"/>
              </a:rPr>
              <a:t>70–79%: Cần cải thiện · &lt; 70%: Cần làm lại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622B14"/>
                </a:solidFill>
                <a:latin typeface="Cambria"/>
              </a:rPr>
              <a:t>Critical trượt: Chưa qua, dù tổng điểm cao</a:t>
            </a:r>
          </a:p>
          <a:p>
            <a:pPr algn="l">
              <a:spcAft>
                <a:spcPts val="400"/>
              </a:spcAft>
            </a:pPr>
            <a:r>
              <a:rPr sz="1300" b="1">
                <a:solidFill>
                  <a:srgbClr val="8A5D48"/>
                </a:solidFill>
                <a:latin typeface="Cambria"/>
              </a:rPr>
              <a:t>NGUỒN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622B14"/>
                </a:solidFill>
                <a:latin typeface="Cambria"/>
              </a:rPr>
              <a:t>Contrast, vùng chạm: WCAG 2.2, Material (chuẩn và hướng dẫn ngành)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622B14"/>
                </a:solidFill>
                <a:latin typeface="Cambria"/>
              </a:rPr>
              <a:t>Heuristic: Nielsen, quy tắc kinh nghiệm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622B14"/>
                </a:solidFill>
                <a:latin typeface="Cambria"/>
              </a:rPr>
              <a:t>Gate, ngưỡng 80%: rubric nội bộ của môn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8A5D48"/>
                </a:solidFill>
                <a:latin typeface="Cambria"/>
              </a:rPr>
              <a:t>Bộ 13 skill trong repo (thư mục skills/) chấm từng gate, UI Simplicity 20 tiêu chí, contrast, ma trận state.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38</Slides>
  <Notes>38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38</vt:i4>
      </vt:variant>
    </vt:vector>
  </HeadingPairs>
  <TitlesOfParts>
    <vt:vector size="4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BreakBite — PRM323 Lab 2</dc:title>
  <dc:subject>PptxGenJS Presentation</dc:subject>
  <dc:creator>PptxGenJS</dc:creator>
  <cp:lastModifiedBy>PptxGenJS</cp:lastModifiedBy>
  <cp:revision>1</cp:revision>
  <dcterms:created xsi:type="dcterms:W3CDTF">2026-10-20T06:13:54Z</dcterms:created>
  <dcterms:modified xsi:type="dcterms:W3CDTF">2026-10-20T06:13:54Z</dcterms:modified>
</cp:coreProperties>
</file>