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github.com/baonv0817/PRM323-Lab2-Group2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1.png"/><Relationship Id="rId8" Type="http://schemas.openxmlformats.org/officeDocument/2006/relationships/image" Target="../media/image20.png"/><Relationship Id="rId9" Type="http://schemas.openxmlformats.org/officeDocument/2006/relationships/image" Target="../media/image2.png"/><Relationship Id="rId10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Relationship Id="rId4" Type="http://schemas.openxmlformats.org/officeDocument/2006/relationships/image" Target="../media/image29.png"/><Relationship Id="rId5" Type="http://schemas.openxmlformats.org/officeDocument/2006/relationships/image" Target="../media/image1.png"/><Relationship Id="rId6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12280" y="685800"/>
            <a:ext cx="5577840" cy="5577840"/>
          </a:xfrm>
          <a:prstGeom prst="ellipse">
            <a:avLst/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31720"/>
            <a:ext cx="1522476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0584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331720"/>
            <a:ext cx="1522476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234440"/>
            <a:ext cx="1892807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234440"/>
            <a:ext cx="1892807" cy="42062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9164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200" b="1">
                <a:solidFill>
                  <a:srgbClr val="622B14"/>
                </a:solidFill>
                <a:latin typeface="Trebuchet MS"/>
              </a:rPr>
              <a:t>BreakBite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B45309"/>
                </a:solidFill>
                <a:latin typeface="Trebuchet MS"/>
              </a:rPr>
              <a:t>Đặt món trước, nhận tại quầy.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6B5F55"/>
                </a:solidFill>
                <a:latin typeface="Calibri"/>
              </a:rPr>
              <a:t>Ăn kịp trong 15 phút giữa hai slot, không phải xếp hàng.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khách · 30 màn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43434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43434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người bán · 15 màn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PRM323 · Lab 2 · Nhóm 2 · SE1919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Nguyễn Viết Bảo (SE183398) · Đỗ Hoàng Gia Bảo (SE193119) · Nguyễn Quốc Hoàng Pháp (SE190175) · Nguyễn Hoàng An (SE193905) · Nguyễn Thành Danh (SE193274)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B45309"/>
                </a:solidFill>
                <a:latin typeface="Calibri"/>
                <a:hlinkClick r:id="rId6"/>
              </a:rPr>
              <a:t>GitHub: github.com/baonv0817/PRM323-Lab2-Group2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Quy trình thiết kế P0 → 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phase có sản phẩm kiểm chứng được và một gate; trình bày theo đúng thứ tự này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docs/quy-trinh/QUY-TRINH-UIUX.md · prm393-material.web.app/quality-gates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Ideas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Vấn đề, hướng giải pháp, phạm vi MVP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G0 · Đạt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0604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Kế hoạch, khảo sát, insight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4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G1 · Có điều kiện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055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UX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Persona, story, IA, flow, wireframe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G2 · 5 / 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19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5507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UI 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Stitch, 3 hướng visual, style guide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7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G3 · Đạt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59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UI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Final UI, trạng thái, prototype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G4 · Có điều kiện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10411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1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Trebuchet MS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1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1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Kiểm thử, handoff Flutter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0411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0411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91C1C"/>
                </a:solidFill>
                <a:latin typeface="Calibri"/>
              </a:rPr>
              <a:t>G5 · Chưa test người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CÔNG CỤ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Google Stitch tạo UI; Gemini và Claude phản biện; Figma dựng, Playwright kiểm thử prototype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 TẮC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không thay phỏng vấn, usability test hay quyết định; phần chưa có bằng chứng ghi rõ là giả định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Vấn đề cần giải quyết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Ai gặp khó khăn gì, trong bối cảnh nào, hậu quả gì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652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622B14"/>
                </a:solidFill>
                <a:latin typeface="Calibri"/>
              </a:rPr>
              <a:t>Sinh viên ở ký túc xá có lịch học dày thường không mua kịp đồ ăn trong giờ nghỉ ngắn giữa hai slot, khi hàng chờ ở căn tin dồn đúng giờ nghỉ chung, nên họ bỏ bữa hoặc vào lớp trễ.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Làm sao để sinh viên có đồ ăn trong giờ nghỉ ngắn mà không phải xếp hàng?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Bỏ bữa hoặc vào lớp trễ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33832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Không biết trước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Quán mở hay đóng, còn món, bao lâu xong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338328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91655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Phí phát sinh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Tổng tiền chỉ hiện ở bước cuối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3" y="338328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98863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Lỗi thanh toán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Mất giỏ hàng khi mạng yếu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CHỈ SỐ THÀNH CÔNG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Đặt xong một đơn dưới 35 giây, tối đa 8 chạm (Flow 1)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Kết quả (giả thuyết): giảm số lần bỏ mua vì hàng chờ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AI PHẢN BIỆN (D18)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 statement cũ chứa giải pháp, nên chỉ mô tả vấn đề và thêm câu How might we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Quyết định: Modify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Các hướng đã cân nhắc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Chấm Impact × Feasibility rồi chọn có lý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4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45920"/>
          <a:ext cx="106527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914400"/>
                <a:gridCol w="1097280"/>
                <a:gridCol w="822960"/>
                <a:gridCol w="4434840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Hướng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Feasibility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Lý do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A · App đặt trước, nhận tại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Gỡ cả thời gian lẫn thông tin; khớp yêu cầu app mobile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B · Web đặt món qua QR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Không cần cài app nhưng không khớp yêu cầu app mobile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 · Hàng chờ ảo + màn hình gọi số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Bớt đứng xếp hàng nhưng không rút ngắn thời gian chờ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D · Chatbot Zalo / Messenger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Khó tuỳ chỉnh topping và hiện trạng thái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CHỌN 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Giữ B làm phương án dự phòng cho rủi ro sinh viên ngại cài app (R2).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D20 · REJECT chuyển sang web QR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đề xuất, nhóm từ chối vì đề bắt buộc app mobile 360 × 800 dp và handoff Flutter.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Giả định, rủi ro và phạm vi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Phân biệt dữ kiện, giả thuyết và điều chưa biết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3–5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5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60350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84048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Giả định cần kiểm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Kiểm bằng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Giờ nghỉ giữa hai slot ≤ 15 phút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Hàng chờ làm sinh viên bỏ mua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Biết trước trạng thái quán quyết định việc đặt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Sinh viên chấp nhận cài app riêng của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Khi thanh toán lỗi, muốn trả tiền mặt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Phỏng vấn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Quầy cần mã lớn và QR để trả món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nhân viên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Bếp làm kịp đơn dồn vào giờ nghỉ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chủ quán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4068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Rủi ro: R1 persona chưa kiểm chứng · R2 ngại cài app · R3 bếp quá tải · R4 thanh toán lỗi khi mạng yếu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TRONG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App khách S01–S30, app người bán K01–K15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Nhận tại quầy; QR, ví, tiền mặt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Light theme, 360 × 800 dp, kiểm 412 dp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22402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9525">
            <a:solidFill>
              <a:srgbClr val="FF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4114800"/>
            <a:ext cx="402336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NGOÀI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Giao hàng tận nơi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Đăng nhập tích điểm, dark mode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Thiết kế tablet, code Flutter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Kế hoạch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câu hỏi nghiên cứu và cách trả lời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ux/p1-research.md mục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6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06 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RQ1 · Giữa hai slot thật sự có bao nhiêu phút?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51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RQ2 · Hàng chờ dài bao lâu, có làm bỏ mua không?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91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RQ3 · Cần biết gì trước khi quyết định mua?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319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RQ4 · Có chịu cài app riêng của quán không?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72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RQ5 · Khi thanh toán lỗi, đã làm gì?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2120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RQ6 · Quầy có làm kịp đơn dồn giờ nghỉ không?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1463040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1600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Khảo sát Google Form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22 câu cho RQ1–RQ5, mục tiêu từ 30 sinh viên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64592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164592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Đang thu phản hồi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3090672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227832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Phỏng vấn mô phỏng AI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5 hồ sơ sinh viên để tạo giả thuyết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92640" y="3273552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0" y="3273552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Đã làm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4718304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4855464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Hỏi nhân viên quầy, chủ quán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RQ6: quầy, bếp, đơn dồn giờ nghỉ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9011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901184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Kế hoạch, chưa làm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Kết quả nghiên cứu hiện có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Toàn bộ là dữ liệu mô phỏng AI, dùng để thử form và tạo giả thuyết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ux/research.md · ai/ai-persona-interviews.md · ux/survey/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7 /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PHỎNG VẤN MÔ PHỎNG AI · 5 NHÂN VẬT (SIM-A1…A5)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Trebuchet MS"/>
              </a:rPr>
              <a:t>4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muốn biết trước trạng thái quán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199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Trebuchet MS"/>
              </a:rPr>
              <a:t>3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5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từng bỏ mua vì hàng chờ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Trebuchet MS"/>
              </a:rPr>
              <a:t>1 /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79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là nguồn duy nhất của insight lỗi thanh toán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KHẢO SÁT GOOGLE FORM · CHẠY THỬ 20 PHẢN HỒI MÔ PHỎNG (SIM-S01…S20)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4,5 /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mức quan trọng của thời gian chờ (H3)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0 /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biết trước phải chờ bao lâu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9 /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ngại cài vì phải đăng ký tài khoản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09960" cy="8229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52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dùng các số này làm bằng chứng hay khẳng định tỉ lệ. Khảo sát thật đang thu phản hồi và sẽ thay phần này.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Insight → quyết định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quyết định nối về một insight có mã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ux/p1-research.md mục 3 · ux/persona-mapping.xlsx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8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BẰNG CHỨNG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QUYẾT ĐỊNH THIẾT KẾ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92024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92024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Hàng chờ giờ nghỉ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A2, 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trước và hẹn giờ nhận (S05)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532888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Cần biết trước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A3, A4, 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532888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quán và thời gian chờ (S02)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145536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145536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Ngại phí ẩn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145536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nút, tổng ở giỏ (S04, S05)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758184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758184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muốn đăng ký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758184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Xem menu không cần tài khoản (D12, S26 không bắt buộc)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370832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370832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SIM-A5 (1 nguồn)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370832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phục hồi giữ giỏ hàng (S06-ERR)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98348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98348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Hành vi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Thao tác một tay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98348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Nút chính ở nửa dưới, vùng bấm từ 48 dp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806440"/>
            <a:ext cx="11109960" cy="4572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80644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Độ tin cậy thấp vì nguồn là mô phỏng; mỗi insight đã gắn nhãn Assumed trong tài liệu.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persona chính, hai persona phụ và một nhóm không nhắm tới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ux/persona.md (12 trường lõi)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9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Trebuchet MS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Nguyễn Minh Quân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20 tuổi · SV năm 2 · ở ký túc xá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3 slot mỗi ngày, nghỉ khoảng 15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Android, cầm máy một tay, mạng chập chờn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Đặt xong dưới 35 giây, tối đa 8 chạm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84448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Trebuchet MS"/>
              </a:rPr>
              <a:t>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Trần Mỹ Linh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19 tuổi · SV năm 1 Thiết kế · ở trọ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Ngân sách khoảng 40.000đ mỗi ngày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iPhone cũ, ví MoMo, dùng hai tay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Thấy tổng tiền thật trước khi trả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1655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5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Trebuchet MS"/>
              </a:rPr>
              <a:t>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3175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5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SUPPORTING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5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Cô Hạnh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Khoảng 40 tuổi · nhân viên quầy Kiosk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Vừa nấu vừa trả món, tay bận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dùng app khách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Trả một món đặt trước trong khoảng 30 giây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0263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98863" y="1691640"/>
            <a:ext cx="640080" cy="640080"/>
          </a:xfrm>
          <a:prstGeom prst="ellipse">
            <a:avLst/>
          </a:prstGeom>
          <a:solidFill>
            <a:srgbClr val="E4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3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Trebuchet MS"/>
              </a:rPr>
              <a:t>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0384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ANTI-PERSONA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Tuấn và Hà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SV năm 3–4 · ít lên trường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Mua ở trường rất ít, mang cơm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muốn tải thêm app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Không nhắm tới; ghi thành rủi ro R2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71500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Persona là proto-persona, dựng từ quan sát của nhóm và dữ liệu mô phỏng; mỗi trường gắn nhãn bằng chứng.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User story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12 story, mỗi story có tiêu chí chấp nhận đo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ux/p2-ux-design.md mục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10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44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914400"/>
                <a:gridCol w="3931920"/>
                <a:gridCol w="516636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Tôi muốn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Tiêu chí chấp nhận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Đặt và trả tiền trước khi xuống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Từ S02 tới mã nhận đồ ở S07 trong tối đa 8 chạm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quán mở hay tạm dừng nhận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Badge icon và chữ ở S02; quán đóng thì tắt nút đặt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Bấm mọi nút chính bằng ngón cái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Nút chính ở nửa dưới; vùng chạm từ 48 ×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Giữ giỏ hàng khi thanh toán lỗi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S06-ERR giữ giỏ; có Thử lại và Trả tiền mặt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giá cộng dồn và tổng tiền ở giỏ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Giá trên nút ở S04 cập nhật ngay; S05 hiện 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US10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Đọc nhanh mã nhận và trạng thái trả tiền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S07 có mã lớn, QR, badge Đã thanh toán / Trả tại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9788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Chuỗi truy vết: Insight → Need → User story → Flow → Screen → Test (ux/persona-mapping.xlsx).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Kiến trúc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Thanh dưới 4 tab cho app khách, 4 tab cho app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ux/user-flow.md mục 1 · design/screens-s09-s30.md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11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4173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S01 Onboarding · lần đầu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Trang chủ · S02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S05 Giỏ hàng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S06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S14 Đặt lại nhanh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S19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S21 Quán đóng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S25 Hẹn giờ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S27 Chọn kiosk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Thực đơn · S03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S22 Món hết, gợi ý thay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S29 Mã giảm giá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5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5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Đơn hàng · S08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S09 Sửa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S10 Đơn đã huỷ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S11 Lịch sử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S12 Chi tiết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S20 Nhận món (QR)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S23 Đánh giá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S24 Báo sự cố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0263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Cá nhân · S15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S16 Hồ sơ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S17 Phương thức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S18 Cài đặt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S13 Món yêu thích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S26 Đăng nhập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App người bán (K01–K15): Đơn · Quét mã · Món · Quán, gồm nhận đơn, làm món, giao món, quản lý món và quán, thống kê ca, xử lý sự cố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Ba flow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flow có đầu vào, đầu ra và nhánh lỗi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ux/user-flow.md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12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6459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Đặt nhanh, nhận tại quầy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286000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S02 chọn combo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852928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85292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S04 topping, giá tự cộng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419856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19856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S05 giỏ hàng, hẹn giờ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986783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986783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553712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537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S07 mã nhận #A-204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834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mã nhận đồ; dưới 35 giây, tối đa 8 chạm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79" y="146304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26279" y="164592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79" y="164592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9" y="16459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Tuỳ chỉnh món và mã giảm giá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79" y="2286000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2286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S03 thực đơn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26279" y="2852928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285292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S04 mức cay, topping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26279" y="3419856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63440" y="3419856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S05 nhập mã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79" y="3986783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3986783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Mã sai: báo lỗi, nhập lại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26279" y="4553712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63440" y="45537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79" y="49834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Thấy giảm giá và tổng tiền trước khi trả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19" y="146304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75319" y="164592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19" y="164592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19" y="16459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Lỗi thanh toán và phục hồi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75319" y="2286000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S06 thanh toán MoMo lỗi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75319" y="2852928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285292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S06-ERR: giỏ hàng vẫn được giữ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75319" y="3419856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12480" y="3419856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Thử lại VNPAY-QR hoặc tiền mặt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75319" y="3986783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80" y="3986783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S07 / S07-CASH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19" y="49834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Đơn được tạo, không phải đặt lại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5577840"/>
            <a:ext cx="11109960" cy="658368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" y="5577840"/>
            <a:ext cx="10652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Flow khác F4–F13: sửa và huỷ đơn, lịch sử, yêu thích, tài khoản, thông báo, quán đóng, đánh giá, hẹn giờ, mất mạng · Flow người bán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Wireframe và flow mở rộng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Chốt bố cục bằng khung xám trước khi chọn màu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ux/wireframe/ · Figma Page 01,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13 / 30</a:t>
            </a:r>
          </a:p>
        </p:txBody>
      </p:sp>
      <p:pic>
        <p:nvPicPr>
          <p:cNvPr id="10" name="Picture 9" descr="wireframes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949440" cy="38808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463040"/>
            <a:ext cx="3931920" cy="3886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600200"/>
            <a:ext cx="347472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WIREFRAME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Khung xám, không màu, dùng thứ bậc khối và một nút chính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Page 02 có wireframe cho mọi màn và biến thể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FLOW MỞ RỘNG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F4–F13 có đầu vào và đầu ra: sửa huỷ đơn, lịch sử, yêu thích, tài khoản, thông báo, quán đóng, đánh giá, hẹn giờ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7784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Walkthrough hiện do AI thực hiện; nhóm chưa đi thử luồng với người thật.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Tạo giao diện với Google Stitch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Brief có cấu trúc, không gõ prompt tự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design/DESIGN.md · ai/ai-design-log.md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14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DESIGN.md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Persona, màu, chữ, nguyên tắc thiết kế (DP1–DP8) viết trước khi mở Stitch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84448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Prompt gửi Stitch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Vai trò nhà thiết kế sản phẩm, app đặt món cho sinh viên chỉ có 15 phút, light theme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1655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Bốn màn ban đầu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Trang chủ, chi tiết món, giỏ hàng, theo dõi đơn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3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98863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8863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Nhật ký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Prompt nguyên văn và ảnh lưu trong ai-design-log.md và assets/stitch/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77639"/>
            <a:ext cx="1110996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14800"/>
            <a:ext cx="10652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VÌ SAO CÓ BRIEF TRƯỚC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Prompt nêu ràng buộc thật: người dùng một tay, giờ nghỉ 15 phút, chữ tối thiểu 14 sp, vùng chạm 48 dp, tương phản 4,5:1.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Kết quả của AI là bản nháp để phản biện, không phải thiết kế cuối.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Ba hướng visual cho màn Trang chủ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So sánh cùng nội dung, cùng khung 360 × 800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design/p3-ui-concept-style-guide.md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15 / 30</a:t>
            </a:r>
          </a:p>
        </p:txBody>
      </p:sp>
      <p:pic>
        <p:nvPicPr>
          <p:cNvPr id="10" name="Picture 9" descr="concept-board-breakb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7040880" cy="533933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18120" y="1463040"/>
            <a:ext cx="3840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55279" y="1600200"/>
          <a:ext cx="3566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12648"/>
                <a:gridCol w="612648"/>
                <a:gridCol w="603504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Tiêu chí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Đọc ngoài nắng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Quét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Chọn bằng ảnh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Trạng thái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Thương hiệu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Light theme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818120" y="4343400"/>
            <a:ext cx="3840480" cy="100584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4416552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D33 · MODIFY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Chọn A, mượn khối trạng thái quán và banner nhỏ của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7040880" cy="7772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D34 · REJECT concept C: nền tối đọc kém ngoài nắng, banner che món, đề bắt buộc light theme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4068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A là Stitch; B và C do AI dựng bằng HTML, ghi rõ nguồn (D35).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AI phản biện và ba vòng tinh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Đánh giá theo 10 heuristic của Nielsen, WCAG và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ai/ai-design-log.md mục 3–4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16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CTA khó đọc, bị chìm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Chữ trắng trên cam tương phản thấp, nút chính yếu về thị giác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Đổi chữ nút sang nâu; tăng phân cấp CTA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Thiếu giỏ trống, dễ xoá nhầm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Không có trạng thái rỗng, xoá món không có lối quay lại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giỏ trống và xác nhận khi xoá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Lỗi thanh toán là ngõ cụt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Báo lỗi nhưng không có đường đi tiếp, giỏ có thể mất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phục hồi: giữ giỏ, thử lại, trả tiền mặt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52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Gemini phản biện (tóm tắt), Claude phản biện (nguyên văn, Phụ lục A); nhóm tự đo lại số liệu AI nêu.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Chữ trắng trên cam đo thật 2,14:1, không phải mức AI nêu; chữ nút nâu đạt 5,23:1.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Quyết định Accept, Modify,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Mọi đề xuất của AI đều ghi quyết định và lý do trong nhật ký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ai/ai-design-log.md · design/design-decisions.md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17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 Thêm vào giỏ (S04)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D19 · thêm chỉ số kết quả vào P0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D21 · thêm giả định về năng lực bếp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MODIFY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nút đổi sang nâu #622B14, tương phản 5,23:1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D18 · bỏ giải pháp khỏi problem statement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D33 · chọn concept A, mượn khối trạng thái của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D20 · chuyển sang web QR (đề bắt buộc app mobile)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D34 · concept C nền tối (đề bắt buộc light theme)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Bắt buộc đăng nhập để tích điểm (D12)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Hơn 40 quyết định (D01–D43), mỗi quyết định có căn cứ: persona, heuristic hoặc ràng buộc của đề.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App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Token màu, chữ, khoảng cách và component dùng chung cho hai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design/DESIGN.md · Figma Page 04,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18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583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69D3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#F69D39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22B14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596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#622B14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chữ, trên 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#B45309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nhấn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#15803D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thành công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#B91C1C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lỗi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AF8F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#FAF8F5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nền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#FFFFFF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E4DFD8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#E4DFD8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viền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1DE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#FFF1DE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đang chọn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B5F5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#6B5F55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phụ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6126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Cam chỉ cho một nút chính mỗi màn và trạng thái đang chọn. Nền và thẻ là các tông trung tính ấm.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463040"/>
            <a:ext cx="4297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1600200"/>
            <a:ext cx="3840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CHỮ · Nunito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622B14"/>
                </a:solidFill>
                <a:latin typeface="Trebuchet MS"/>
              </a:rPr>
              <a:t>Display 24 sp · Bold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Headline 20 sp · Bold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Title 16 sp · SemiBold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Body 14 sp · Regular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Lưới 4 dp · lề 16 dp · bo góc 8, 12, 16,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38404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ICON · 27 icon vector một nét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206240"/>
            <a:ext cx="502920" cy="50292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206240"/>
            <a:ext cx="502920" cy="50292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4" y="4206240"/>
            <a:ext cx="502920" cy="50292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4206240"/>
            <a:ext cx="502920" cy="50292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6688" y="4206240"/>
            <a:ext cx="502920" cy="50292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0" y="420624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89520" y="49377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Component: Chip, NavBar, Card/Food, IconButton, Button, Dialog, có variant theo trạng thái.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Phản biện giao diện và bản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bản cũ, sửa, đo lại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ai/phan-bien-giao-dien/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19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91640"/>
          <a:ext cx="5943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cũ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v2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Cam đậm (trung bình S01–S08)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5,9%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Họ cam–be: nền, thẻ, chip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55,3%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4,4%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Emoji trong chữ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98 / 366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dưới 14 sp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86 dòng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0*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thiếu tương phản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 chỗ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Vùng bấm dưới 48 dp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20 / 39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 / 217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949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* trừ nhãn thanh dưới 12 sp. Nền v2 là #FAF8F5 nên không còn tính vào họ cam–be.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425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LỖI CHÍNH ĐÃ SỬA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 cam: nền kem trung tính, cam chỉ cho một nút chính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 lộn xộn: bỏ emoji, dùng một bộ 27 icon vector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Giỏ hàng và thanh toán lặp: tách S05 và S06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Vùng bấm 48 dp, chữ 14 sp, chữ cam đủ 4,5:1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Báo cáo đo do công cụ AI viết nên không độc lập; phản biện của AI khác chưa chạy.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Final UI: luồng đặt món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S01–S08 bản v2, một nút cam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20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08760"/>
            <a:ext cx="1296162" cy="2880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S01 Onboarding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508760"/>
            <a:ext cx="129616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S02 Trang chủ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1508760"/>
            <a:ext cx="1296162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1927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S03 Thực đơn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4024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024" y="1508760"/>
            <a:ext cx="1296162" cy="2880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18304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S04 Chi tiết món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08760"/>
            <a:ext cx="1296162" cy="2880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17336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S05 Giỏ hàng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88" y="1508760"/>
            <a:ext cx="1296162" cy="2880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19" y="1508760"/>
            <a:ext cx="1296162" cy="2880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915399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S07 Theo dõi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015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60152" y="1508760"/>
            <a:ext cx="1296162" cy="2880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1443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S08 Đơn hàng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Nền kem trung tính, thẻ trắng, một bộ icon vector, vùng bấm từ 48 dp, chữ từ 14 sp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Màn lõi của ba flow chính; mỗi màn có trạng thái rỗng, lỗi hoặc đang tải đi kèm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Trạng thái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Phản hồi rõ ràng và luôn có hướng xử lý tiếp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21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Trebuchet MS"/>
              </a:rPr>
              <a:t>EMPTY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S05-EMPTY · Giỏ hàng trống, gợi ý 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9848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14600"/>
            <a:ext cx="1584198" cy="3520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55848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Trebuchet MS"/>
              </a:rPr>
              <a:t>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S06-LOADING · Đang kết nối cổng thanh toán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056" y="2514600"/>
            <a:ext cx="1584198" cy="35204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63055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91C1C"/>
                </a:solidFill>
                <a:latin typeface="Trebuchet MS"/>
              </a:rPr>
              <a:t>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S06-ERR · Thanh toán lỗi, giỏ hàng vẫn được giữ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4264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2514600"/>
            <a:ext cx="1584198" cy="352044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970263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5803D"/>
                </a:solidFill>
                <a:latin typeface="Trebuchet MS"/>
              </a:rPr>
              <a:t>SUCCESS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S07 · Đã nhận đơn, mã QR và 4 bước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91472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1472" y="2514600"/>
            <a:ext cx="1584198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Final UI: vòng đời đơn và tài khoản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S09–S30 bản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design/screens-s09-s30.md · assets/figma/final-ui-v2/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22 / 30</a:t>
            </a:r>
          </a:p>
        </p:txBody>
      </p:sp>
      <p:pic>
        <p:nvPicPr>
          <p:cNvPr id="10" name="Picture 9" descr="contact-sheet-s09-s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31341" cy="4023360"/>
          </a:xfrm>
          <a:prstGeom prst="rect">
            <a:avLst/>
          </a:prstGeom>
        </p:spPr>
      </p:pic>
      <p:pic>
        <p:nvPicPr>
          <p:cNvPr id="11" name="Picture 10" descr="contact-sheet-s26-s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463040"/>
            <a:ext cx="3732514" cy="4023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412480" y="1463040"/>
            <a:ext cx="32461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29260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S09–S14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Sửa và huỷ đơn, lịch sử, yêu thích, đặt lại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S15–S20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Tài khoản, thông báo, nhận món bằng QR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S21–S25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Quán đóng, món hết, đánh giá, báo sự cố, hẹn giờ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S26–S30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Đăng nhập, chọn kiosk, tìm kiếm, mã giảm giá, mất mạng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Tìm kiếm trống, mã hết hạn, lỗi mạng và trạng thái tải đều có màn riêng; đăng nhập không bắt buộc.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App người bán: BreakBite Kiosk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15 màn K01–K15 cho nhân viên quầy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design/kitchen-app.md · assets/figma/final-ui-v2/kitchen/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23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3093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8521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KHÁCH ĐÃ HỨA, QUẦY PHẢI THỰC HIỆN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Đã nhận, Đang làm, Sẵn sàng: nhận đơn, làm món, báo sẵn sàng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Mã QR: quét mã, xác nhận giao; trả tại quầy thì thu tiền rồi giao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Tạm hết: đánh dấu hết món, thêm và sửa món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Quán đóng: bật hoặc tắt nhận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Huỷ đơn, sự cố: từ chối đơn, hoàn tiền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6309360" cy="1783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852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Một nút cam mỗi màn; thanh toán luôn hiện trên thẻ đơn để biết đơn nào thu tiền mặt.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Bốn tab: Đơn, Quét mã, Món, Quán. Thống kê ca nằm trong tab Quán, xử lý sự cố mở từ tab Đơn.</a:t>
            </a:r>
          </a:p>
        </p:txBody>
      </p:sp>
      <p:pic>
        <p:nvPicPr>
          <p:cNvPr id="14" name="Picture 13" descr="contact-sheet-kitch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463040"/>
            <a:ext cx="415535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Component và responsive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thư viện component, bản 360 dp và 412 dp cho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05 · assets/figma/final-ui-v2/412/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24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42062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3749039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COMPONENT CÓ VARIANT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Button: mặc định, nhấn, vô hiệu, đang tải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Chip: mặc định,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Card/Food: món, đồ uống, hết hàng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NavBar: 4 tab, tab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IconButton 48 × 48, Dialog, TextField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Màn dùng instance và token, không hard-code 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463040"/>
            <a:ext cx="667512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60020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360 DP VÀ 412 DP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11680"/>
            <a:ext cx="14401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25996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2011680"/>
            <a:ext cx="1648206" cy="32004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02217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2217" y="2011680"/>
            <a:ext cx="1440180" cy="3200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170413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0413" y="2011680"/>
            <a:ext cx="1648206" cy="3200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0" y="534924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S02 và S05 ở 360 dp rồi 412 dp. Bản 412 dp dựng bằng constraints nên nội dung co giãn, không cuộn ngang.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Prototype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Nối cả hai app, chạy được từng flow bằng Present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03 · tests/figma-proto/hotspots-v2.json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25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PROTOTYPE BẢN V2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217 vùng bấm trên 58 khung, 12 điểm bắt đầu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Dialog huỷ đơn và từ chối đơn dạng overlay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đang tải tự chuyển sau 1,2 giây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Back đúng, không màn cụt, không màn mồ côi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ĐIỂM BẮT ĐẦU KHI DEMO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F1 · S01 đặt nhanh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F2 · S03 tuỳ chỉnh và mã giảm giá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F3 · S06-ERR lỗi thanh toán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F4 · S07 sửa và huỷ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 · K01 người bán nhận đơn, làm món, giao món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1109960" cy="7315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52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Demo: bấm combo → thêm vào giỏ → thanh toán → đang tải → mã nhận #A-204; rồi mở app người bán nhận đơn đó.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Thử link Figma bằng cửa sổ chưa đăng nhập trước khi trình bày.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bằng công cụ, không ước lượng bằng mắt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design/design-decisions.md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26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5,23:1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nút nâu trên cam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ngưỡng WCAG 4,5:1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48 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vùng bấm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0 / 217 vùng dưới 48 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5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14 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nội dung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nhãn thanh dưới 12 sp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3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8863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Trebuchet M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3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emoji trong giao diện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một bộ 27 icon vector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0440"/>
            <a:ext cx="676656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57600"/>
            <a:ext cx="630936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CÁCH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Tương phản tính bằng công thức WCAG 2.2 trên giá trị màu thật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luôn có chữ hoặc icon đi kèm màu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và vùng bấm kiểm trên 114 khung bằng Figma Plugin API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Không có chữ nào thiếu tương phản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520440"/>
            <a:ext cx="4114800" cy="2697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657600"/>
            <a:ext cx="36576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CHƯA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Trình đọc màn hình, cỡ chữ hệ thống lớn, người dùng thật khiếm thị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Playwright cho prototype; usability test với người thật đã có kế hoạch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tests/ · docs/test-reports/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27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KIỂM THỬ TỰ ĐỘNG · PLAYWRIGHT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Bản cũ: 13 / 13 test đạt, bấm theo toạ độ vùng bấm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Đồ thị flow bản v2: 7 / 7 test đạt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đơn từ Trang chủ tới Theo dõi đơn: 3 chạm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Flow 3 có lối phục hồi về giỏ hàng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USABILITY TEST · KẾ HOẠCH (CHƯA CHẠY)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T1 Đặt Combo Tacos, lấy sau 10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T2 Chọn cay, topping, nhập mã giảm giá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T3 Thanh toán MoMo lỗi, hoàn tất bằng cách khác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T4 Tìm lại đơn cũ và đặt lại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T5 Đổi giờ nhận của đơn đang làm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4632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Đo: tỉ lệ hoàn thành, thời gian, số chạm, lỗi, điểm dễ dùng; 3–5 sinh viên, không hướng dẫn từng bước.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Kiểm thử tự động chỉ chứng minh prototype đi đúng đường đã thiết kế; không thay usability test.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Bàn giao cho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Đặc tả đủ để lập trình viên dựng giao diện, không viết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handoff/flutter-handoff.md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28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TOKEN VÀ COMPONENT → FLUTTER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965960"/>
          <a:ext cx="4937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6517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Figma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Flutter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ColorScheme.primary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color/v2-selected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secondaryContainer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ChoiceChip,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NavBar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NavigationBar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Card/Food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Card + ListTile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IconButton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IconButton 48 × 48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463040"/>
            <a:ext cx="548640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0292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SÁU MỤC CHO MỖI MÀN (S01–S30, K01–K15)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Layout · Components · States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Tương tác · Điều hướng · Ràng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480560"/>
            <a:ext cx="5486400" cy="1737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61772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HÀNH VI MÀN RỘNG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 600 dp: NavigationRail, lưới 2–3 cột; từ 412 dp: Fill container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Tự chấm theo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gate của môn; kết quả tự chấm, chờ reviewer duyệt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docs/quy-chuan-ux-ui.md · skills/ · docs/tien-do/TIEN-DO.md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29 / 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70408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764792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764792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 6/6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64592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Problem statement, giả định, kế hoạch kiểm chứng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9572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39572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251460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2514600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95728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có phản hồi khảo sát thật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4553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4553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326440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3264408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5 /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145536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walkthrough với người thật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9534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89534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Concept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014215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4014215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895344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Có 3 hướng, style guide, bản 412 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645152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Design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6402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4764024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4515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Prototype v2 chưa chạy Present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5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Trebuchet MS"/>
              </a:rPr>
              <a:t>G5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394959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Validation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513831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5513831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Chưa test người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394959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Cần usability test và xác nhận của dev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146304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1600200"/>
            <a:ext cx="3383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THANG ĐIỂM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80% trở lên và mọi Critical đạt: Đạt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70–79%: Cần cải thiện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Dưới 70%: Cần làm lại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Critical trượt: chưa qua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023360"/>
            <a:ext cx="384048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4160520"/>
            <a:ext cx="3383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LƯU Ý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Gate và ngưỡng 80% là rubric nội bộ của môn, không phải chuẩn quốc tế. Contrast dựa trên WCAG 2.2. Bộ 13 skill trong thư mục skills/ chấm từng gate.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Trebuchet MS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Ăn kịp giờ nghỉ, không phải xếp hàng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README.md · docs/tien-do/TIEN-DO.md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30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Trebuchet MS"/>
              </a:rPr>
              <a:t>AI giúp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Sinh UI ban đầu nhanh (Stitch)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Mô phỏng phỏng vấn để tạo giả thuyết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theo Nielsen và WCAG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Ghi log, tổng hợp, soạn tài liệu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Trebuchet MS"/>
              </a:rPr>
              <a:t>Nhóm vẫn phải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Xác định vấn đề, chọn persona có lý do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Tự đo lại số liệu AI nêu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Quyết định Accept, Modify, Reject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Nói rõ phần nào là dữ liệu mô phỏng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Trebuchet MS"/>
              </a:rPr>
              <a:t>Còn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độc lập bằng AI khác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Khảo sát thật từ 30 sinh viên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Usability test 3–5 người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Chạy Present trên prototype v2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1099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22B14"/>
                </a:solidFill>
                <a:latin typeface="Trebuchet MS"/>
              </a:rPr>
              <a:t>Cảm ơn thầy và các bạn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622B14"/>
                </a:solidFill>
                <a:latin typeface="Calibri"/>
              </a:rPr>
              <a:t>Hỏi đáp · Demo Figma Present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