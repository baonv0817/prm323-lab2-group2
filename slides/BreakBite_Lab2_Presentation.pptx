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5B52"/>
                </a:solidFill>
                <a:latin typeface="Calibri"/>
              </a:rPr>
              <a:t>Impact × Feasibility (tối đa 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 I × F</c:v>
                </c:pt>
              </c:strCache>
            </c:strRef>
          </c:tx>
          <c:spPr>
            <a:solidFill>
              <a:srgbClr val="F69D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· App đặt trước</c:v>
                  </c:pt>
                  <c:pt idx="1">
                    <c:v>B · Web QR</c:v>
                  </c:pt>
                  <c:pt idx="2">
                    <c:v>C · Hàng chờ ảo</c:v>
                  </c:pt>
                  <c:pt idx="3">
                    <c:v>D · Chatbot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12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nhân vật nhắc (/5)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Muốn biết trước thời gian, trạng thái quán</c:v>
                  </c:pt>
                  <c:pt idx="1">
                    <c:v>Hàng chờ giờ nghỉ → bỏ bữa, trễ lớp</c:v>
                  </c:pt>
                  <c:pt idx="2">
                    <c:v>Cầm máy một tay, ghét nút trên cao</c:v>
                  </c:pt>
                  <c:pt idx="3">
                    <c:v>App giao không vào được tòa nhà/lab</c:v>
                  </c:pt>
                  <c:pt idx="4">
                    <c:v>Ngại phí ẩn, muốn thấy tổng sớm</c:v>
                  </c:pt>
                  <c:pt idx="5">
                    <c:v>Không muốn đăng ký trước</c:v>
                  </c:pt>
                  <c:pt idx="6">
                    <c:v>Muốn trả tiền mặt khi lấy</c:v>
                  </c:pt>
                  <c:pt idx="7">
                    <c:v>Lỗi thanh toán mất giỏ hàng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 thử (%)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H1 · Nghỉ ≤ 15 phút (Q5)</c:v>
                  </c:pt>
                  <c:pt idx="1">
                    <c:v>H2 · Bỏ mua ≥ 1 lần/tuần (Q10)</c:v>
                  </c:pt>
                  <c:pt idx="2">
                    <c:v>H2 · Chờ ≥ 6 phút (Q9)</c:v>
                  </c:pt>
                  <c:pt idx="3">
                    <c:v>H4 · Sẵn sàng cài app 4–5 (Q16)</c:v>
                  </c:pt>
                  <c:pt idx="4">
                    <c:v>H5 · Lỗi → tiền mặt / đổi cách trả (Q20)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61</c:v>
                </c:pt>
                <c:pt idx="2">
                  <c:v>61</c:v>
                </c:pt>
                <c:pt idx="3">
                  <c:v>55</c:v>
                </c:pt>
                <c:pt idx="4">
                  <c:v>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Ngưỡng (%)</c:v>
                </c:pt>
              </c:strCache>
            </c:strRef>
          </c:tx>
          <c:spPr>
            <a:solidFill>
              <a:srgbClr val="D6CF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H1 · Nghỉ ≤ 15 phút (Q5)</c:v>
                  </c:pt>
                  <c:pt idx="1">
                    <c:v>H2 · Bỏ mua ≥ 1 lần/tuần (Q10)</c:v>
                  </c:pt>
                  <c:pt idx="2">
                    <c:v>H2 · Chờ ≥ 6 phút (Q9)</c:v>
                  </c:pt>
                  <c:pt idx="3">
                    <c:v>H4 · Sẵn sàng cài app 4–5 (Q16)</c:v>
                  </c:pt>
                  <c:pt idx="4">
                    <c:v>H5 · Lỗi → tiền mặt / đổi cách trả (Q20)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5B52"/>
                </a:solidFill>
                <a:latin typeface="Calibri"/>
              </a:rPr>
              <a:t>Số phát hiện theo vòng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Phát hiện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R0 · Phản biện P0</c:v>
                  </c:pt>
                  <c:pt idx="1">
                    <c:v>R5 · Phản biện P1</c:v>
                  </c:pt>
                  <c:pt idx="2">
                    <c:v>R1 · Critique đầu (Gemini)</c:v>
                  </c:pt>
                  <c:pt idx="3">
                    <c:v>R2 · Đo lại WCAG</c:v>
                  </c:pt>
                  <c:pt idx="4">
                    <c:v>R3 · Phản biện persona</c:v>
                  </c:pt>
                  <c:pt idx="5">
                    <c:v>R4 · Critique bổ sung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3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tên, MSSV, đề tài. Một câu về vấn đề: sinh viên ở KTX có giờ nghỉ ngắn, hàng chờ căn tin làm bỏ bữa hoặc trễ lớp.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nhanh qua 12 phần.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ý tưởng, ai dùng, và khác gì so với cách mua hiện tại ở căn 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problem statement. Nhấn mạnh đã bỏ phần giải pháp ra khỏi câu vấn đề (quyết định D18).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4 hướng. Chọn app (20 điểm). Từ chối chuyển sang web QR vì đề bắt buộc app mobile — giữ web làm dự phòng.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Phương pháp chính: khảo sát Google Form 22 câu cho RQ1–RQ5, mỗi câu hỏi về lần gần nhất. Form và sheet phân tích đã chạy thử bằng 20 phản hồi mô phỏng; đang thu phản hồi thật. Giả thuyết ban đầu lấy từ phỏng vấn mô phỏng AI, nhãn Assumed. RQ6 hỏi trực tiếp nhân viên quầy.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thanh là số nhân vật nhắc tới ý đó. Nhấn mạnh: đây là giả thuyết; theo NN/g người dùng giả lập dễ đồng thuận hơn người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chạy thử form và sheet phân tích bằng 20 phản hồi mô phỏng, không phải kết quả thật. Mỗi giả định có ngưỡng đặt trước; khi có phản hồi thật chỉ cần đổi nguồn ở sheet PhanTich là ra kết quả.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insight đi kèm nguồn và mức tin cậy, rồi ra một quy tắc thiết kế cụ thể.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Nguyễn Minh Quân: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Trần Mỹ Linh: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 Hạnh: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vì sao Quân là Primary: nhóm đau nhất và mua ở trường thường xuyên nhất. Anti-persona giúp giới hạn phạm 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Entry: Onboarding chỉ hiện lần đầu. Primary: 4 tab dưới đáy. Secondary: Chi tiết, Giỏ, Checkout. Biến thể không tính là màn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luồng chính và cũng là luồng dùng để đo chỉ số &lt; 35 giây, ≤ 8 chạm.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của persona P02 nhạy cảm về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lỗi bắt buộc. Nói thật: insight của luồng này chỉ có 1 nguồn mô phỏng.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có đủ 5 phần. Ảnh bên phải là bản Stitch đầu tiên.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1. Kể thêm việc tự đo lại và phát hiện AI nói 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6 phát hiện tiêu biểu. Có cả phát hiện mức Cao về tương phản và ảnh giữ chỗ.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đếm từ file Excel. Nhấn mạnh có 2 lần từ chối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ví dụ. Phần Reject: đăng nhập tích điểm bị từ chối vì persona không muốn đăng ký và mục tiêu &lt; 35 giây.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màn đã áp quyết định trong Figma.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bố cục khung xám và bản cuối; mỗi màn một hành động chính. Page 02 mới có wireframe cho S01, S02, S04, S06-ERR.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bố cục khung xám và bản cuối; mỗi màn một hành động chính. Page 02 mới có wireframe cho S01, S02, S04, S06-ERR.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trạng thái đều lấy từ Figma. Loading tự chuyển sang S07 sau 1,2 giây trong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màu đã sửa sau khi đo tương phản. Nói rõ token nào đổi và vì sao.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Figma Page 05 để cho thấy Component Set, thuộc tính State và biến màu gắn sẵn. Nói rõ: màn hình chưa thay bằng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Lần đo đầu bị sai (ghi 3,08:1). Đã đo lại bằng công thức WCAG và đổi token. Chữ 14sp đậm không phải chữ lớn.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thật: màn 412 dp chưa dựng vì màn import là vector phẳng, cần dựng lại bằng Auto Layout. Quy tắc: lề giữ 16 dp, nội dung Fill container, không cuộn ngang. ≥ 600 dp chỉ mô tả trong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sang Figma Present và chạy lần lượt F1, F2, F3.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từng nhánh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bảng ánh xạ toàn cục.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lập trình viên chưa biết dự án có thể dựng màn hình chỉ từ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một câu giá trị, AI giúp gì, mình làm gì. Mời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kan382/prm393-lab2" TargetMode="External"/><Relationship Id="rId3" Type="http://schemas.openxmlformats.org/officeDocument/2006/relationships/hyperlink" Target="https://www.figma.com/design/JeWtr0nQ6pD2cPzjUMqU6A/Untitled?node-id=1-6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4754880" cy="4754880"/>
          </a:xfrm>
          <a:prstGeom prst="ellipse">
            <a:avLst/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pic>
        <p:nvPicPr>
          <p:cNvPr id="3" name="Image 0" descr="D:\Study\FPTU\Sem8\PRM323\prm393-lab2\assets\stitch\01_initial_stitch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874520"/>
            <a:ext cx="3539843" cy="2834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914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PRM323 · Lab 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BreakBite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3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món trước, nhận tại quầy — cho sinh viên chỉ có 15 phút giữa hai slot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UI/UX có hỗ trợ AI · Google Stitch → Figma → Flutter handoff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8056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bày: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[Họ tên] — [MSSV]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l"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github.com/Mikan382/prm393-lab2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</a:t>
            </a:r>
            <a:pPr algn="l"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file thiết kế (quyền xem)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651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phần theo hướng dẫn trình bày Lab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868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868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UI Generation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 &amp; Critique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868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868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/ Responsive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&amp; Summary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FTACODE MOBILE — APP ĐẶT TRƯỚC, NHẬN TẠI QUẦY TRONG TRƯỜNG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README.md · ux/p0-problem-framing.md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276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đặt món cho quán BreakBite (mì trộn, tacos, nước). Sinh viên đặt và trả tiền trước, hẹn giờ, tới quầy lấy theo mã — không xếp hàng.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0906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 chính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547872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ở ký túc xá, lịch học dày, chỉ có khoảng 15 phút giữa hai slot (persona P01).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38912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Lab 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010912"/>
            <a:ext cx="5120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màn hình 360 × 800 dp · 3 user flow có nhánh lỗi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system: Variables + 5 component set có variant · prototype Figma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Flutter (không viết code)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 gì cách mua hiện tại?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48840"/>
          <a:ext cx="4892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965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Căn tin hôm nay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BreakBite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Gọi món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Xếp hàng đúng giờ nghỉ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Đặt trước từ lớp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trước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 tới nơi mới biết đông / hết món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 quán, còn món, thời gian chờ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 tiền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Chờ quầy kiểm chuyển khoản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 trong app, lỗi vẫn giữ giỏ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Nhận món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Nghe gọi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Lấy theo mã, giờ hẹn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6537960" y="5440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ux/p1-research.md mục 4 · hành trình hiện tại (Assumed)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CỐT LÕI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ux/p0-problem-framing.md mục 1 · ux/p1-research.md mục 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622B14"/>
          </a:solidFill>
          <a:ln w="9525">
            <a:solidFill>
              <a:srgbClr val="622B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54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ở ký túc xá có lịch học dày thường không mua kịp đồ ăn trong giờ nghỉ ngắn giữa hai slot, khi hàng chờ ở căn tin dồn đúng giờ nghỉ chung, nên họ bỏ bữa hoặc vào lớp trễ.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ĐIỂM ĐAU CỐT LÕI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Hàng chờ đúng giờ nghỉ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bữa hoặc vào lớp trễ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8328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6616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5196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biết trước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mở/đóng, còn món, bao lâu xong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Phí phát sinh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chỉ hiện ở bước cuối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05256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35440" y="3429000"/>
            <a:ext cx="548640" cy="5486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354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92124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thanh toán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23544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giỏ hàng khi mạng yếu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5303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we… </a:t>
            </a:r>
            <a:pPr algn="l" indent="0" marL="0">
              <a:buNone/>
            </a:pPr>
            <a:r>
              <a:rPr lang="en-US" sz="1700" dirty="0">
                <a:solidFill>
                  <a:srgbClr val="2E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sao để sinh viên có đồ ăn trong giờ nghỉ ngắn mà không phải xếp hàng?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CÁC HƯỚNG ĐÃ CÂN NHẮC — IMPACT × FEASIBILITY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ux/p0-problem-framing.md mục 2 · quyết định D20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675120" y="146304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0" y="16276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0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20116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A · App đặt trước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2468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Gỡ được cả hai pain point chính (thời gian + thông tin) và khớp phạm vi Lab 2 (app mobile, handoff Flutter).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75120" y="320040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0" y="3364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3364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37490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B · Web QR làm dự phòng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4206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mô phỏng A3 ngại cài thêm app → rủi ro R2.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675120" y="4937760"/>
            <a:ext cx="4983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0" y="5102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0" y="5102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0" y="54864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D20 · Từ chối chuyển sang B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594360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thật: đề yêu cầu app mobile 360 × 800 dp.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RESEARCH — PHƯƠNG PHÁP &amp; CÂU HỎI NGHIÊN CỨU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ux/p1-research.md mục 1–2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CÂU HỎI NGHIÊN CỨU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01168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 hai slot thật sự có bao nhiêu phút?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2670048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670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2670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dài bao lâu, có làm bỏ mua không?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77240" y="3328416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328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3284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biết gì trước khi quyết định mua?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77240" y="3986784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986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39867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chịu cài app riêng của quán không?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77240" y="4645152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6451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46451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thanh toán lỗi, đã làm gì?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77240" y="530352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5303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60020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 có làm kịp đơn dồn giờ nghỉ không?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492240" y="1463040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Khảo sát Google Form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1965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câu · RQ1–RQ5 · mục tiêu ≥ 30 SV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646920" y="1810512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46920" y="18105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thu phản hồi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92240" y="2670048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75120" y="2779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thử form + sheet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31729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phản hồi mô phỏng, kiểm ngưỡng H1–H5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646920" y="30175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46920" y="3017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· SIM-S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92240" y="3877056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75120" y="3986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Phỏng vấn mô phỏng AI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675120" y="43799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hồ sơ SV — tạo giả thuyết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646920" y="422452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646920" y="4224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· SIM-A1…A5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492240" y="5084064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7512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Hỏi nhân viên quầy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6675120" y="55869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 — quầy, bếp, đơn dồn giờ nghỉ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9646920" y="543153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646920" y="54315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· chưa làm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PHỎNG VẤN MÔ PHỎNG AI · N = 5 NHÂN VẬT (CHƯA PHẢI DỮ LIỆU THẬT)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ux/research.md mục 3 · ai/ai-persona-interviews.md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321040" y="146304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15544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9829800" y="1554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biết trước trạng thái quán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0" y="288036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0" y="29718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9829800" y="2971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bỏ mua vì hàng chờ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429768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03920" y="43891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1/5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9829800" y="4389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duy nhất của insight lỗi thanh toán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57607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phỏng, nhãn Assumed — không dùng để khẳng định tỉ lệ.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GOOGLE FORM · CHẠY THỬ N = 20 (DỮ LIỆU MÔ PHỎNG)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ux/survey/khao-sat-cau-hoi.md · ux/survey/ket-qua-khao-sat.xlsx · ux/p1-research.md mục 2.1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4980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321040" y="146304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15544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4,5/5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9966960" y="15544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quan trọng của thời gian chờ (H3)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321040" y="283464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0" y="29260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0/20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9966960" y="29260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trước phải chờ bao lâu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4206240"/>
            <a:ext cx="3337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03920" y="42976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9/20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9966960" y="42976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ngại cài vì phải đăng ký tài khoản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5806440"/>
            <a:ext cx="11109960" cy="457200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9525">
            <a:solidFill>
              <a:srgbClr val="FDEC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 (SIM-S01…S20) để kiểm form và sheet — nhãn Assumed, không dùng làm bằng chứng. Đang thu phản hồi thật.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→ QUYẾT ĐỊNH THIẾT KẾ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ux/p1-research.md mục 3 · ux/persona-mapping.xlsx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INS-01 · Hàng chờ giờ nghỉ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A2, A5 · tin cậy thấp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23042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304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trước + hẹn giờ nhận (S05)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INS-02 · Cần biết trước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A3, A4, A5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23042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37960" y="2304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trạng thái Kiosk + thời gian ước tính (S02)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0632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INS-04 · Ngại phí ẩn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A2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39044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cộng dồn trên nút CTA, tổng ở giỏ (S04, S05)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172200" y="30632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INS-05 · Không muốn đăng ký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A3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0" y="39044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3796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menu không cần tài khoản; từ chối đăng nhập tích điểm (D12)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INS-06 · Lỗi thanh toán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SIM-A5 (1 nguồn)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77240" y="55046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phục hồi giữ giỏ, Thử lại / Tiền mặt (S06-ERR)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17220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một tay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A5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0" y="55046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3796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ở đáy, vùng chạm ≥ 48 dp (DESIGN.md)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PERSONA CHÍNH (PRIMARY)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Nguyễn Minh Quân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tuổi · SV năm 2 KTPM · ở ký túc xá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3 slot/ngày, nghỉ ~15 phút, ~5 phút đi bộ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tầm trung, 360–412 dp, cầm máy một tay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bằng QR ngân hàng; mạng trong tòa nhà chập chờn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đặt xong &lt; 35 giây, ≤ 8 chạm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đúng giờ nghỉ → bỏ bữa, trễ lớp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quán mở, còn món, bao lâu xong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nhỏ hoặc ở trên cao, khó bấm khi đi bộ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muốn đăng ký chỉ để xem menu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“Thấy hàng dài là bỏ luôn, nhịn tới trưa.”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nói đại diện — Phỏng vấn mô phỏng AI (SIM-A1)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PERSONA PHỤ (SECONDARY)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Mỹ Linh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tuổi · SV năm 1 Thiết kế · ở trọ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~40.000đ/ngày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cũ, ví MoMo, dùng hai tay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dùng app giao hàng vì phí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thấy tổng tiền thật trước khi trả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ship + phí dịch vụ cao hơn cả 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chỉ hiện ở bước cuối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nhỏ phải phóng to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“Mình thích thấy trước tổng tiền, đừng tới bước cuối mới hiện thêm phí.”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nói đại diện — Phỏng vấn mô phỏng AI (SIM-A2)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PERSONA HỖ TRỢ (SUPPORTING)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 Hạnh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tuổi · nhân viên quầy Kiosk BreakBite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Đứng quầy giờ nghỉ, vừa nấu vừa trả 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app khách, nhưng quyết định món có xong đúng giờ không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trả một món đặt trước trong ~30 giây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đứng chờ kiểm tra chuyển khoản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huỷ khi món đã nấu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 bận, ít thời gian nhìn điện thoại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ANTI-PERSONA (NHÓM KHÔNG NHẮM TỚI) &amp; CƠ SỞ CHỌN PERSONA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mục 0 · ux/research.md mục 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8A7A70"/>
          </a:solidFill>
          <a:ln w="12700">
            <a:solidFill>
              <a:srgbClr val="8A7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Tuấn &amp; Hà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năm 3–4 · ít lên trường hoặc mang cơm từ nhà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880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ở trường rất ít, không bị áp lực giờ nghỉ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muốn tải thêm app (Tuấn)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trả tiền mặt (Hà)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“Phải tải thêm một app nữa chỉ để mua đồ ở trường thì mình không tải.”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mô phỏng AI (SIM-A3) · ghi thành rủi ro R2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Quân là persona chính?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65960"/>
          <a:ext cx="5440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777240"/>
                <a:gridCol w="7772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Nhu cầu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Đặt nhanh trong giờ nghỉ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trạng thái quán, thời gian chờ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Thấy tổng tiền sớm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Phục hồi khi thanh toán lỗi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nhận đồ dễ đối chiếu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217920" y="4800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nhu cầu chính · ○ nhu cầu phụ — Coverage Matrix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521208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0" y="5212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đau nhất (bỏ bữa, trễ lớp) và mua ở trường thường xuyên nhất → quyết định layout và luồng chính.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ĐIỀU HƯỚNG — 8 MÀN HÌNH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1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Entry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Onboarding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hiện lần mở đầu, có nút Bỏ qua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Primary — Bottom navigation (4 tab)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Trang chủ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quán, gợi ý nhanh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5935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Thực đơn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3593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 đơn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063240" y="4123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trình 4 bước, mã nhận đồ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654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S08 Lịch sử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46542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lại đơn cũ 1 chạm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Secondary — màn con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309360" y="1920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 món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1920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Topping, số lượng, giá cộng dồn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09360" y="24505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9360" y="2450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23960" y="2450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giảm giá, hẹn giờ nhận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09360" y="2980944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0" y="2980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23960" y="29809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ví / tiền mặt, dialog xác nhận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Biến thể trạng thái &amp; dialog (không tính màn)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6309360" y="41148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S05-EMPTY · S05-VOUCHER-ERR (mã sai)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S06-LOADING · S06-ERR (lỗi &amp; phục hồi)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S07-CASH (trả tại quầy) · S07-DIALOG (huỷ đơn)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S08-EMPTY (chưa có đơn)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548640" y="539496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1520" y="5394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bottom nav? Persona thao tác bằng ngón cái khi đi bộ (DP3).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 — ĐẶT NHANH, NHẬN TẠI QUẦY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2.1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NGƯỜI DÙNG CẦN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có khoảng 15 phút giữa hai slot, cần có món ăn mà không phải xếp hàng.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NGƯỜI DÙNG NHẬN ĐƯỢC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mã nhận đồ #A-204 và giờ hẹn; ra quầy quét mã là nhận món. Đo: &lt; 35 giây, ≤ 8 chạm.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Home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combo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921546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77578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50730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Topping, giá tự cộng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50485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06517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79669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Hẹn giờ nhận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79423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35455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08607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mặt / QR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08361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64393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37545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đặt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437299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93331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66483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đơn tới bếp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066238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22270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395422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#A-204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8640" y="3429000"/>
            <a:ext cx="11109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TRONG FIGMA · PAGE 01</a:t>
            </a:r>
            <a:endParaRPr lang="en-US" sz="1100" dirty="0"/>
          </a:p>
        </p:txBody>
      </p:sp>
      <p:pic>
        <p:nvPicPr>
          <p:cNvPr id="37" name="Image 0" descr="D:\Study\FPTU\Sem8\PRM323\prm393-lab2\assets\figma\flo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150" y="3749040"/>
            <a:ext cx="8658939" cy="141732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7724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" y="565099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đang đóng → badge + không cho đặt (S02)  ·  Back ở mọi bước quay về màn trước, giỏ hàng được giữ  ·  Đơn cũ: S08 Lịch sử → Đặt lại → S05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— TUỲ CHỈNH MÓN &amp; MÃ GIẢM GIÁ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2.2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NGƯỜI DÙNG CẦN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chọn mức cay, topping và dùng mã giảm giá sinh viên (BBSTUDENT).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NGƯỜI DÙNG NHẬN ĐƯỢC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đúng tuỳ chọn, thấy giảm 10.000đ và tổng tiền trước khi trả. Mã sai: biết lý do, nhập lại.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Thực đơn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Mì trộn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921546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77578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50730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cay + 2 topping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50485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06517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79669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BB20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79423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35455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BE3E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508607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sai?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+ lý do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08361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64393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37545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đúng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hiển thị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437299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93331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66483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ngân hàng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066238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22270" y="2377440"/>
            <a:ext cx="1336330" cy="914400"/>
          </a:xfrm>
          <a:prstGeom prst="roundRect">
            <a:avLst>
              <a:gd name="adj" fmla="val 8000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395422" y="2432304"/>
            <a:ext cx="119002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làm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8640" y="3429000"/>
            <a:ext cx="11109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TRONG FIGMA · PAGE 01</a:t>
            </a:r>
            <a:endParaRPr lang="en-US" sz="1100" dirty="0"/>
          </a:p>
        </p:txBody>
      </p:sp>
      <p:pic>
        <p:nvPicPr>
          <p:cNvPr id="37" name="Image 0" descr="D:\Study\FPTU\Sem8\PRM323\prm393-lab2\assets\figma\flow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912" y="3749040"/>
            <a:ext cx="8333415" cy="141732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7724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" y="565099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sai/hết hạn: icon + câu lý do cụ thể, nhập lại (D03)  ·  Tổng tiền luôn hiện trước bước chọn phương thức (P02)  ·  Bỏ mã: tổng quay về giá gốc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 — LỖI THANH TOÁN &amp; PHỤC HỒI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2.3 · quyết định D24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NGƯỜI DÙNG CẦN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MoMo bị từ chối (mạng yếu, ví hết tiền) nhưng không muốn mất giỏ hàng.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6F4EA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NGƯỜI DÙNG NHẬN ĐƯỢC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664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vẫn được giữ; đổi sang VNPAY-QR hoặc trả tiền mặt tại quầy; đơn được tạo, không đặt lại.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MoMo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193036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49068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522220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cổng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93464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49496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BE3E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22648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yếu / hết hạn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93892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49924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23076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vẫn giữ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894320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50352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3504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lại / Tiền mặt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794748" y="274320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50780" y="2377440"/>
            <a:ext cx="1607820" cy="914400"/>
          </a:xfrm>
          <a:prstGeom prst="roundRect">
            <a:avLst>
              <a:gd name="adj" fmla="val 8000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123932" y="2432304"/>
            <a:ext cx="14615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S07-CASH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tại quầy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TRONG FIGMA · PAGE 01</a:t>
            </a:r>
            <a:endParaRPr lang="en-US" sz="1100" dirty="0"/>
          </a:p>
        </p:txBody>
      </p:sp>
      <p:pic>
        <p:nvPicPr>
          <p:cNvPr id="34" name="Image 0" descr="D:\Study\FPTU\Sem8\PRM323\prm393-lab2\assets\figma\flow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139" y="3749040"/>
            <a:ext cx="7388962" cy="141732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7724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5099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lại thanh toán → quay về bước loading  ·  Trả tiền mặt tại quầy → tạo đơn ngay, badge "Trả tại quầy" (D31)  ·  Không bao giờ xoá giỏ hàng khi lỗi (DP5)  ·  Insight chỉ có 1 nguồn mô phỏng — giữ vì đề bắt buộc flow lỗi (D24)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UI Generation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— PROMPT DỰA TRÊN DESIGN.MD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design/DESIGN.md · ai/ai-design-log.md mục 2 · assets/stitch/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— 5 YẾU TỐ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2011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SV, giờ nghỉ 15 phút, thao tác một tay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334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2633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màn: Home, Chi tiết, Giỏ hàng, Theo dõi đơn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2552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3255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360 × 800 dp, Material Design 3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770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38770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 ≥ 48 × 48 dp, CTA ở vùng ngón cái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498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cách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44988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 #FFF5E5, cam #F69D39, nâu #622B14, Nunito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77240" y="52120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5212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ghi "chữ trắng trên #F69D39 đạt WCAG" — đo lại chỉ 2,14:1. Phải tự kiểm số AI đưa ra.</a:t>
            </a:r>
            <a:endParaRPr lang="en-US" sz="1250" dirty="0"/>
          </a:p>
        </p:txBody>
      </p:sp>
      <p:pic>
        <p:nvPicPr>
          <p:cNvPr id="22" name="Image 0" descr="D:\Study\FPTU\Sem8\PRM323\prm393-lab2\assets\stitch\02_initial_stitch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1112818" cy="42519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675120" y="5760720"/>
            <a:ext cx="111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</a:t>
            </a:r>
            <a:endParaRPr lang="en-US" sz="1100" dirty="0"/>
          </a:p>
        </p:txBody>
      </p:sp>
      <p:pic>
        <p:nvPicPr>
          <p:cNvPr id="24" name="Image 1" descr="D:\Study\FPTU\Sem8\PRM323\prm393-lab2\assets\stitch\03_initial_stitch_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538" y="1463040"/>
            <a:ext cx="1287214" cy="42519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016538" y="5760720"/>
            <a:ext cx="1287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</a:t>
            </a:r>
            <a:endParaRPr lang="en-US" sz="1100" dirty="0"/>
          </a:p>
        </p:txBody>
      </p:sp>
      <p:pic>
        <p:nvPicPr>
          <p:cNvPr id="26" name="Image 2" descr="D:\Study\FPTU\Sem8\PRM323\prm393-lab2\assets\stitch\04_initial_stitch_track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352" y="1463040"/>
            <a:ext cx="1229082" cy="42519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532352" y="5760720"/>
            <a:ext cx="122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675120" y="6035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gốc từ Google Stitch — assets/stitch/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I01 · CTA KHÓ ĐỌC &amp; BỊ CHÌM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Nút "Thêm vào giỏ", "Thanh toán" chữ trắng trên cam nhạt; CTA trôi theo nội dung cuộn.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Ghim CTA xuống đáy, hiện giá động trên nút.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CTA rõ hơn, nhưng đo lại chữ trắng/#F69D39 chỉ 2,14:1 → sửa tiếp ở D06 (chữ nâu, 5,23:1).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I02 · THIẾU GIỎ TRỐNG &amp; DỄ XOÁ NHẦM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Xoá hết món thì màn trắng trơn; giảm số lượng về 0 là món biến mất ngay.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Thêm empty state có thông điệp + 1 hành động; dialog xác nhận khi xoá.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Giỏ hàng không còn ngõ cụt; giảm xoá nhầm khi vừa đi vừa bấm.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I03 · LỖI THANH TOÁN LÀ NGÕ CỤT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Timeout chỉ báo toast đỏ rồi về Home, xoá sạch giỏ hàng.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Màn S06-ERR: giải thích bằng ngôn ngữ thường, giữ giỏ, 2 lối: Thử lại / Tiền mặt.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Flow 3 có phục hồi; nhãn nút được thống nhất ở D16.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UX Critique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UX GẮN MÀN HÌNH — NIELSEN · WCAG · PERSONA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4 + Phụ lục A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383280"/>
                <a:gridCol w="3200400"/>
                <a:gridCol w="822960"/>
                <a:gridCol w="777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 đề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thấy quầy mở / tạm dừng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trạng thái Kiosk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topping không cộng dồn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động trên 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1.4.3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trắng / cam = 2,14:1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nút nâu #622B14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#2, #6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món là ô giữ chỗ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ảnh món thật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Nút +/- ~24–28 dp, sát 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Vùng chạm 48 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Vừa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S06-ERR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Lộ mã lỗi #PAY_402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Đưa vào "Mã tham chiếu"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28 phát hiện qua 6 vòng đánh giá (Gemini + Claude + đo WCAG), 0 phát hiện chưa có quyết định.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UX Critique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CÁC VÒNG AI ĐÁNH GIÁ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ai/ai-evaluation-log.xlsx (sheet Summary)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06640" y="146304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35240" y="1554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9052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406640" y="301752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9052560" y="31089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406640" y="457200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35240" y="4663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4663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MODIFY · REJECT — LÝ DO GẮN PERSONA, HEURISTIC, RÀNG BUỘC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5 · design/design-decisions.md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topping cộng dồn trên nút CTA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Gemini (C02)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Nielsen #6 — không bắt nhẩm; P02 có ngân sách giới hạn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dụng: S04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nền cam, đổi chữ nút sang nâu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chữ trắng trên #F69D39 (I01)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WCAG 1.4.3 — đo lại 2,14:1; dùng ngoài nắng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#622B14 trên #F69D39 = 5,23:1 (D06)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4672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thêm đăng nhập tích điểm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Claude (Phụ lục A #9)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A1, A3 bỏ app nếu bắt đăng ký; mục tiêu &lt; 35 giây, ≤ 8 chạm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 Lab 2 (D12)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53212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Còn: chỉ huỷ đơn trong 60 giây (D04 Modify, ràng buộc bếp) · không chuyển sang web QR (D20 Reject, ràng buộc đề bài).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— Evidence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NHÌN THẤY TRÊN MÀN HÌNH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Giá động trên CTA (S04)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pic>
        <p:nvPicPr>
          <p:cNvPr id="10" name="Image 0" descr="D:\Study\FPTU\Sem8\PRM323\prm393-lab2\assets\figma\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092" y="1965960"/>
            <a:ext cx="1638975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35092" y="1965960"/>
            <a:ext cx="1638975" cy="36576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5669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"Thêm vào giỏ • 44.000đ" cộng cả topping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· Chữ nút nâu 5,23:1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pic>
        <p:nvPicPr>
          <p:cNvPr id="15" name="Image 1" descr="D:\Study\FPTU\Sem8\PRM323\prm393-lab2\assets\figma\S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60" y="1965960"/>
            <a:ext cx="1645920" cy="3657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280660" y="1965960"/>
            <a:ext cx="1645920" cy="36576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434840" y="5669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cam giữ nguyên, chữ #622B14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· Không có màn đăng nhập (S02)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04672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pic>
        <p:nvPicPr>
          <p:cNvPr id="20" name="Image 2" descr="D:\Study\FPTU\Sem8\PRM323\prm393-lab2\assets\figma\S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1965960"/>
            <a:ext cx="1645920" cy="3657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029700" y="1965960"/>
            <a:ext cx="1645920" cy="36576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183880" y="5669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app là thấy menu và trạng thái quán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CỤC &amp; PHÂN CẤP — 4/8 MÀN CHÍNH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02 ·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S02 Trang chủ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quán, gợi ý nhanh, giỏ trên app bar</a:t>
            </a:r>
            <a:endParaRPr lang="en-US" sz="1250" dirty="0"/>
          </a:p>
        </p:txBody>
      </p:sp>
      <p:pic>
        <p:nvPicPr>
          <p:cNvPr id="11" name="Image 0" descr="D:\Study\FPTU\Sem8\PRM323\prm393-lab2\assets\figma\WF-S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243" y="1554480"/>
            <a:ext cx="838434" cy="1828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61243" y="1554480"/>
            <a:ext cx="838434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13" name="Image 1" descr="D:\Study\FPTU\Sem8\PRM323\prm393-lab2\assets\figma\S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554480"/>
            <a:ext cx="822960" cy="1828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77740" y="1554480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97180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355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S04 Chi tiết món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checkbox 48 dp, CTA ghim đáy kèm giá</a:t>
            </a:r>
            <a:endParaRPr lang="en-US" sz="1250" dirty="0"/>
          </a:p>
        </p:txBody>
      </p:sp>
      <p:pic>
        <p:nvPicPr>
          <p:cNvPr id="20" name="Image 2" descr="D:\Study\FPTU\Sem8\PRM323\prm393-lab2\assets\figma\WF-S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558" y="1554480"/>
            <a:ext cx="842924" cy="18288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882558" y="1554480"/>
            <a:ext cx="842924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22" name="Image 3" descr="D:\Study\FPTU\Sem8\PRM323\prm393-lab2\assets\figma\S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036" y="1554480"/>
            <a:ext cx="819488" cy="18288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403036" y="1554480"/>
            <a:ext cx="819488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59536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010412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4864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3152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S05 Giỏ hàng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giảm giá, hẹn giờ nhận, tổng tiền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2971800" y="4005072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3063240" y="4005072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31" name="Image 4" descr="D:\Study\FPTU\Sem8\PRM323\prm393-lab2\assets\figma\S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005072"/>
            <a:ext cx="822960" cy="18288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777740" y="4005072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297180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48056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7220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35508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S06 Thanh toán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635508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thức, dialog xác nhận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8595360" y="4005072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9" name="Text 31"/>
          <p:cNvSpPr txBox="1"/>
          <p:nvPr/>
        </p:nvSpPr>
        <p:spPr>
          <a:xfrm>
            <a:off x="8686800" y="4005072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40" name="Image 5" descr="D:\Study\FPTU\Sem8\PRM323\prm393-lab2\assets\figma\S0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4005072"/>
            <a:ext cx="822960" cy="18288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10401300" y="4005072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859536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1010412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 QUÁN CÁC MÀN CHỨC NĂNG — 4/8 MÀN CÒN LẠI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02 ·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S01 Onboarding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cốt lõi, nút Bắt đầu + Bỏ qua</a:t>
            </a:r>
            <a:endParaRPr lang="en-US" sz="1250" dirty="0"/>
          </a:p>
        </p:txBody>
      </p:sp>
      <p:pic>
        <p:nvPicPr>
          <p:cNvPr id="11" name="Image 0" descr="D:\Study\FPTU\Sem8\PRM323\prm393-lab2\assets\figma\WF-S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243" y="1554480"/>
            <a:ext cx="838434" cy="1828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61243" y="1554480"/>
            <a:ext cx="838434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13" name="Image 1" descr="D:\Study\FPTU\Sem8\PRM323\prm393-lab2\assets\figma\S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554480"/>
            <a:ext cx="822960" cy="1828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77740" y="1554480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97180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355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S03 Thực đơn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kiếm, thẻ món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595360" y="155448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1" name="Text 16"/>
          <p:cNvSpPr txBox="1"/>
          <p:nvPr/>
        </p:nvSpPr>
        <p:spPr>
          <a:xfrm>
            <a:off x="868680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22" name="Image 2" descr="D:\Study\FPTU\Sem8\PRM323\prm393-lab2\assets\figma\S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1554480"/>
            <a:ext cx="822960" cy="18288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401300" y="1554480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59536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104120" y="3383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3152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S07 Theo dõi đơn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73152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#A-204 + QR, tiến trình 4 bước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2971800" y="4005072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0" name="Text 24"/>
          <p:cNvSpPr txBox="1"/>
          <p:nvPr/>
        </p:nvSpPr>
        <p:spPr>
          <a:xfrm>
            <a:off x="3063240" y="4005072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31" name="Image 3" descr="D:\Study\FPTU\Sem8\PRM323\prm393-lab2\assets\figma\S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4005072"/>
            <a:ext cx="822960" cy="182880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777740" y="4005072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297180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448056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7220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35508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S08 Lịch sử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635508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cũ, Đặt lại 1 chạm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8595360" y="4005072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9" name="Text 32"/>
          <p:cNvSpPr txBox="1"/>
          <p:nvPr/>
        </p:nvSpPr>
        <p:spPr>
          <a:xfrm>
            <a:off x="8686800" y="4005072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pic>
        <p:nvPicPr>
          <p:cNvPr id="40" name="Image 4" descr="D:\Study\FPTU\Sem8\PRM323\prm393-lab2\assets\figma\S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5072"/>
            <a:ext cx="822960" cy="182880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0401300" y="4005072"/>
            <a:ext cx="822960" cy="1828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859536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10104120" y="5833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States &amp;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HỆ THỐNG — PHẢN HỒI RÕ RÀNG VÀ CÓ HƯỚNG XỬ LÝ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(biến thể)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· Giỏ hàng trống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S06-LOADING · Kết nối cổng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 · Lỗi thanh toán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5256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· Đã nhận đơn</a:t>
            </a:r>
            <a:endParaRPr lang="en-US" sz="1200" dirty="0"/>
          </a:p>
        </p:txBody>
      </p:sp>
      <p:pic>
        <p:nvPicPr>
          <p:cNvPr id="20" name="Image 0" descr="D:\Study\FPTU\Sem8\PRM323\prm393-lab2\assets\figma\S05-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162" y="2331720"/>
            <a:ext cx="1700437" cy="37947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047162" y="2331720"/>
            <a:ext cx="1700437" cy="379476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22" name="Image 1" descr="D:\Study\FPTU\Sem8\PRM323\prm393-lab2\assets\figma\S06-LOA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199" y="2331720"/>
            <a:ext cx="1707642" cy="3794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878199" y="2331720"/>
            <a:ext cx="1707642" cy="379476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24" name="Image 2" descr="D:\Study\FPTU\Sem8\PRM323\prm393-lab2\assets\figma\S06-ER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42" y="2331720"/>
            <a:ext cx="1700437" cy="37947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716442" y="2331720"/>
            <a:ext cx="1700437" cy="379476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pic>
        <p:nvPicPr>
          <p:cNvPr id="26" name="Image 3" descr="D:\Study\FPTU\Sem8\PRM323\prm393-lab2\assets\figma\S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479" y="2331720"/>
            <a:ext cx="1707642" cy="37947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547479" y="2331720"/>
            <a:ext cx="1707642" cy="379476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Foundations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THIẾT KẾ · FIGMA PAGE 04 (VARIABLES)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design/DESIGN.md mục 2 · 2.5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6583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TOKENS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F69D39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#F69D39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673352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622B14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00200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on-primary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#622B14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69464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B45309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96312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primary-text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496312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#B45309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65576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FFF5E5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92424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392424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#FFF5E5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1688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8A5D48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88536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text-secondary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288536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#8A5D48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257800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B91C1C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84648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184648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#B91C1C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53912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5803D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80760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080760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#15803D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360920" y="1417320"/>
            <a:ext cx="4297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895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· Nunito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94640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sp · Bold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58952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46404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sp · Bold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589520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464040" y="2871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sp · SemiBold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58952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464040" y="3346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 sp · Regular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8640" y="41148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· lưới 4 dp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77240" y="4983480"/>
            <a:ext cx="137160" cy="13716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325880" y="4937760"/>
            <a:ext cx="182880" cy="18288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23444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874520" y="4892040"/>
            <a:ext cx="228600" cy="2286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78308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423160" y="4846320"/>
            <a:ext cx="274320" cy="27432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33172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971800" y="4754880"/>
            <a:ext cx="365760" cy="36576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88036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520440" y="4663440"/>
            <a:ext cx="457200" cy="4572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2900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77724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Lề màn hình 16 dp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389120" y="41148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61772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617720" y="47091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57200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dp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40680" y="47091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39496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dp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6263640" y="4709160"/>
            <a:ext cx="685800" cy="685800"/>
          </a:xfrm>
          <a:prstGeom prst="roundRect">
            <a:avLst>
              <a:gd name="adj" fmla="val 26667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21792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dp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7086600" y="4709160"/>
            <a:ext cx="685800" cy="685800"/>
          </a:xfrm>
          <a:prstGeom prst="roundRect">
            <a:avLst>
              <a:gd name="adj" fmla="val 40000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704088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dp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8229600" y="4114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45820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&amp; SIZE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8458200" y="4617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1 · card, app bar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2 · CTA ghim, bottom nav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3 · dialog, toast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 ≥ 48 dp · CTA 52 dp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Components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COMPONENT SET CÓ VARIANT + MẪU TRẠNG THÁI · FIGMA PAGE 05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05 · handoff/flutter-handoff.md mục 1.2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Button/Primary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Default · Pressed · Disabled · Loading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94767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94767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19476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Default · Focused · Filled · Error · Disabled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478024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4780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Card/Food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0" y="24780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Default · OutOfStock · nút + 48 dp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008376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0083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377440" y="30083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Home · Menu · Orders · Profile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538728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538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37744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Confirm · Destructive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06908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069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377440" y="40690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ở bảng tham khảo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59943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5994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377440" y="45994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S06-LOADING · skeleton mẫu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5129784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1297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377440" y="5129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S05-EMPTY · S08-EMPTY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660136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56601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377440" y="56601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 · S05-VOUCHER-ERR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943600" y="1417320"/>
            <a:ext cx="57150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pic>
        <p:nvPicPr>
          <p:cNvPr id="36" name="Image 0" descr="D:\Study\FPTU\Sem8\PRM323\prm393-lab2\assets\figma\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1311" y="1508760"/>
            <a:ext cx="5059577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· READABILITY · TOUCH TARGET — WCAG 2.2 AA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design/design-decisions.md mục 2.1 · design/DESIGN.md mục 2.5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63093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— đo bằng công thức WCAG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65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10,37:1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19659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chính #622B14 / nền #FFF5E5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990088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99008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5,23:1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9900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nút #622B14 / cam #F69D39 (trước: trắng 2,14:1)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4014216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01421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5,2:1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401421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phụ #8A5D48 (trước: #966A55 4,33:1)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5038344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503834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3,93:1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503834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Viền ô nhập #8A7A70 / #FFF9F0 (ngưỡng 3:1)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86600" y="1417320"/>
            <a:ext cx="4572000" cy="4800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&amp; TOUCH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0" y="1965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9659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14 sp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1965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nội dung (D15 nâng chữ phụ)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315200" y="2990088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52360" y="299008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48 dp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29900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chạm; nút +/- sửa ở D13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315200" y="4014216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52360" y="4014216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+ chữ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401421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không chỉ dùng màu (WCAG 1.4.1)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315200" y="5038344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52360" y="5038344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503834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14–15 sp đậm vẫn cần 4,5:1 — chữ lớn phải ≥ 18,7 px đậm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— 360 dp vs 412 dp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 ĐÃ CÓ · 412 DP CHƯA DỰNG (MÀN HIỆN LÀ VECTOR PHẲNG)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S02 Trang chủ</a:t>
            </a:r>
            <a:endParaRPr lang="en-US" sz="1500" dirty="0"/>
          </a:p>
        </p:txBody>
      </p:sp>
      <p:pic>
        <p:nvPicPr>
          <p:cNvPr id="10" name="Image 0" descr="D:\Study\FPTU\Sem8\PRM323\prm393-lab2\assets\figma\S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26920"/>
            <a:ext cx="1508760" cy="3352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2026920"/>
            <a:ext cx="1508760" cy="3352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23160" y="201168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514600" y="2011680"/>
            <a:ext cx="1371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dựng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S04 Chi tiết món</a:t>
            </a:r>
            <a:endParaRPr lang="en-US" sz="1500" dirty="0"/>
          </a:p>
        </p:txBody>
      </p:sp>
      <p:pic>
        <p:nvPicPr>
          <p:cNvPr id="17" name="Image 1" descr="D:\Study\FPTU\Sem8\PRM323\prm393-lab2\assets\figma\S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9817"/>
            <a:ext cx="1508760" cy="336700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480560" y="2019817"/>
            <a:ext cx="1508760" cy="3367007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72200" y="201168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6263640" y="2011680"/>
            <a:ext cx="1371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dựng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48056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04672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S05 Giỏ hàng</a:t>
            </a:r>
            <a:endParaRPr lang="en-US" sz="1500" dirty="0"/>
          </a:p>
        </p:txBody>
      </p:sp>
      <p:pic>
        <p:nvPicPr>
          <p:cNvPr id="24" name="Image 2" descr="D:\Study\FPTU\Sem8\PRM323\prm393-lab2\assets\figma\S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026920"/>
            <a:ext cx="1508760" cy="33528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229600" y="2026920"/>
            <a:ext cx="1508760" cy="335280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921240" y="201168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7" name="Text 21"/>
          <p:cNvSpPr txBox="1"/>
          <p:nvPr/>
        </p:nvSpPr>
        <p:spPr>
          <a:xfrm>
            <a:off x="10012680" y="2011680"/>
            <a:ext cx="1371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dựng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0" y="54864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— 3 Main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PAGE 06 · ĐIỂM BẮT ĐẦU + HÀNH ĐỘNG + KẾT QUẢ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nhanh, nhận tại quầy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→ S02 → S04 → S05 → S06 → S06-LOADING → S07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combo, thêm vào giỏ, trả MoMo, loading 1,2 giây, nhận mã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Tuỳ chỉnh &amp; mã giảm giá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→ S04 → S05 → S05-VOUCHER-ERR → S05 → S06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cay, topping, nhập BB20 hết hạn rồi nhập lại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4672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thanh toán &amp; phục hồi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→ S06-ERR → Thử lại / Tiền mặt → S07-CASH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được giữ, đơn tiền mặt có badge "Trả tại quầy"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51663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thấy khi demo  </a:t>
            </a:r>
            <a:pPr algn="l" indent="0" marL="0">
              <a:buNone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starting point riêng · loading tự chuyển 1,2 giây · dialog huỷ dạng overlay · Back đúng · không ngõ cụt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— Error &amp;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NHÁNH CẦN DEMO THẬT, KHÔNG CHỈ TRÌNH ẢNH TĨNH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2 · Mã giảm giá sai</a:t>
            </a:r>
            <a:endParaRPr lang="en-US" sz="1500" dirty="0"/>
          </a:p>
        </p:txBody>
      </p:sp>
      <p:pic>
        <p:nvPicPr>
          <p:cNvPr id="10" name="Image 0" descr="D:\Study\FPTU\Sem8\PRM323\prm393-lab2\assets\figma\S05-VOUCHER-E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786" y="2148840"/>
            <a:ext cx="1275588" cy="2834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16786" y="2148840"/>
            <a:ext cx="1275588" cy="283464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S05-VOUCHER-ERR: BB20 hết hạn — viền đỏ + chữ, tổng không giảm → bấm ô mã để nhập lại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8056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3 · Thanh toán lỗi</a:t>
            </a:r>
            <a:endParaRPr lang="en-US" sz="1500" dirty="0"/>
          </a:p>
        </p:txBody>
      </p:sp>
      <p:pic>
        <p:nvPicPr>
          <p:cNvPr id="15" name="Image 1" descr="D:\Study\FPTU\Sem8\PRM323\prm393-lab2\assets\figma\S06-E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17" y="2148840"/>
            <a:ext cx="1270206" cy="2834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68517" y="2148840"/>
            <a:ext cx="1270206" cy="2834640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48056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S06-ERR: "Đơn hàng của bạn vẫn được giữ" → đổi cách trả hoặc trả tiền mặt → S07-CASH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4672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Huỷ đơn</a:t>
            </a:r>
            <a:endParaRPr lang="en-US" sz="1500" dirty="0"/>
          </a:p>
        </p:txBody>
      </p:sp>
      <p:pic>
        <p:nvPicPr>
          <p:cNvPr id="20" name="Image 2" descr="D:\Study\FPTU\Sem8\PRM323\prm393-lab2\assets\figma\S07-DIA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756059"/>
            <a:ext cx="2880360" cy="1620203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412480" y="2756059"/>
            <a:ext cx="2880360" cy="1620203"/>
          </a:xfrm>
          <a:prstGeom prst="rect">
            <a:avLst/>
          </a:prstGeom>
          <a:ln w="9525">
            <a:solidFill>
              <a:srgbClr val="E8D9C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22960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S07: dialog overlay; "Giữ đơn" đóng overlay. Ẩn nút sau 60 giây (D04) chưa làm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— Token → Widget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DESIGN/DESIGN.MD + FIGMA 04/05 → HANDOFF/FLUTTER-HANDOFF.MD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handoff/flutter-handoff.md mục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DESIGN TOKENS → THEME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color-primary #F69D39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color-on-primary #622B14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ColorScheme.onPrimary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color-error #B91C1C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type-body-medium 14 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TextTheme.bodyMedium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spacing-md 16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EdgeInsets.all(16)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radius-lg 16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BorderRadius.circular(16)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263640" y="141732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FIGMA COMPONENT → FLUTTER WIDGET</a:t>
            </a:r>
            <a:endParaRPr lang="en-US" sz="12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FilledButton / OutlinedButton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TextFormField + 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InkWell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NavigationBar (&lt; 600 dp) / 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AlertDialog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 / Empty /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Shimmer + state widgets + retry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— Đặc tả &amp; giới hạn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MÀN × 6 MỤC · PHẠM VI THIẾT KẾ, KHÔNG VIẾT CODE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handoff/flutter-handoff.md mục 2–3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7607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MỖI MÀN — 6 MỤC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65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1965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1965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· AppBar · phần cuộn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26517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2651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26517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Figma → widget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33375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337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3375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2926080" y="3337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Loading · Empty · Error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7240" y="40233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023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0233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2926080" y="40233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snackbar, giá động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77240" y="47091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09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709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2926080" y="47091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từ đâu, Back về đâu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77240" y="53949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5394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2926080" y="5394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dp, bàn phím, chữ dài, ≥ 600 dp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537960" y="141732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20840" y="15819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Sẵn sàng bàn giao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720840" y="2039112"/>
            <a:ext cx="47548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+ 2 bảng mapping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mục cho cả 8 màn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vi màn ≥ 600 dp: NavigationRail, lưới 2–3 cột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537960" y="3794760"/>
            <a:ext cx="51206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20840" y="3959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Tồn tại / cần làm tiếp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720840" y="4416552"/>
            <a:ext cx="4754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phản hồi khảo sát thật — persona là proto-persona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usability test Flow 1 (&lt; 35 giây)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nút −/+ 48 dp, chữ ≥ 14 sp, màn 412 dp, thay bằng instance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622B14"/>
          </a:solidFill>
          <a:ln w="9525">
            <a:solidFill>
              <a:srgbClr val="622B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Ăn kịp giờ nghỉ — không phải xếp hàng.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BreakBite giúp sinh viên đặt trước và lấy món tại quầy trong 15 phút giữa hai slot.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giúp mình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93592"/>
            <a:ext cx="50749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UI ban đầu nhanh (Stitch)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phỏng vấn để tạo giả thuyết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biện theo Nielsen, WCAG, persona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log, tổng hợp đánh giá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9718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Mình vẫn phải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593592"/>
            <a:ext cx="50749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vấn đề, chọn persona có lý do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đo lại — AI nói sai tương phản 2,14:1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Accept / Modify / Reject (2 lần Reject)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rõ giới hạn: chưa có người dùng thật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62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và các bạn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· Demo Figma Present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BreakBite — PRM323 Lab 2</dc:title>
  <dc:subject>PptxGenJS Presentation</dc:subject>
  <dc:creator>PptxGenJS</dc:creator>
  <cp:lastModifiedBy>PptxGenJS</cp:lastModifiedBy>
  <cp:revision>1</cp:revision>
  <dcterms:created xsi:type="dcterms:W3CDTF">2026-10-20T06:13:54Z</dcterms:created>
  <dcterms:modified xsi:type="dcterms:W3CDTF">2026-10-20T06:13:54Z</dcterms:modified>
</cp:coreProperties>
</file>