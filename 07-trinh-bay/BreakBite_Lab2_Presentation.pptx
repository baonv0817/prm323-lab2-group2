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github.com/baonv0817/PRM323-Lab2-Group2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11.png"/><Relationship Id="rId6" Type="http://schemas.openxmlformats.org/officeDocument/2006/relationships/image" Target="../media/image32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3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14.png"/><Relationship Id="rId9" Type="http://schemas.openxmlformats.org/officeDocument/2006/relationships/image" Target="../media/image2.png"/><Relationship Id="rId10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2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1.png"/><Relationship Id="rId10" Type="http://schemas.openxmlformats.org/officeDocument/2006/relationships/image" Target="../media/image44.png"/><Relationship Id="rId11" Type="http://schemas.openxmlformats.org/officeDocument/2006/relationships/image" Target="../media/image13.png"/><Relationship Id="rId12" Type="http://schemas.openxmlformats.org/officeDocument/2006/relationships/image" Target="../media/image16.png"/><Relationship Id="rId1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45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3.png"/><Relationship Id="rId9" Type="http://schemas.openxmlformats.org/officeDocument/2006/relationships/image" Target="../media/image34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3.png"/><Relationship Id="rId4" Type="http://schemas.openxmlformats.org/officeDocument/2006/relationships/image" Target="../media/image57.png"/><Relationship Id="rId5" Type="http://schemas.openxmlformats.org/officeDocument/2006/relationships/image" Target="../media/image1.png"/><Relationship Id="rId6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12280" y="685800"/>
            <a:ext cx="5577840" cy="5577840"/>
          </a:xfrm>
          <a:prstGeom prst="ellipse">
            <a:avLst/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86600" y="2331720"/>
            <a:ext cx="152247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331720"/>
            <a:ext cx="1522476" cy="3383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058400" y="2331720"/>
            <a:ext cx="1522476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331720"/>
            <a:ext cx="1522476" cy="3383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234440"/>
            <a:ext cx="1892807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234440"/>
            <a:ext cx="1892807" cy="42062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691640"/>
            <a:ext cx="6035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200" b="1">
                <a:solidFill>
                  <a:srgbClr val="622B14"/>
                </a:solidFill>
                <a:latin typeface="Segoe UI"/>
              </a:rPr>
              <a:t>BreakBite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B45309"/>
                </a:solidFill>
                <a:latin typeface="Segoe UI"/>
              </a:rPr>
              <a:t>Đặt món trước, nhận tại quầy.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6B5F55"/>
                </a:solidFill>
                <a:latin typeface="Calibri"/>
              </a:rPr>
              <a:t>Ăn kịp trong 15 phút giữa hai tiết, không phải xếp hàng.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App khách · 30 màn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34340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43434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App người bán · 15 màn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PRM323 · Lab 2 · Nhóm 2 · SE1919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Nguyễn Viết Bảo (SE183398) · Đỗ Hoàng Gia Bảo (SE193119) · Nguyễn Quốc Hoàng Pháp (SE190175) · Nguyễn Hoàng An (SE193905) · Nguyễn Thành Danh (SE193274)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B45309"/>
                </a:solidFill>
                <a:latin typeface="Calibri"/>
                <a:hlinkClick r:id="rId6"/>
              </a:rPr>
              <a:t>GitHub: github.com/baonv0817/PRM323-Lab2-Group2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Quy trình thiết kế P0 → P5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Mỗi phase có sản phẩm kiểm chứng được và một gate; trình bày theo đúng thứ tự này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00-quy-trinh/01-QUY-TRINH-UIUX.md · prm393-material.web.app/quality-gates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1783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737360"/>
            <a:ext cx="685800" cy="68580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22B14"/>
                </a:solidFill>
                <a:latin typeface="Segoe UI"/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Ideas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Vấn đề, hướng giải pháp, phạm vi MVP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803D"/>
                </a:solidFill>
                <a:latin typeface="Calibri"/>
              </a:rPr>
              <a:t>G0 · Đạt 6/6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1554480"/>
            <a:ext cx="1783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06040" y="1737360"/>
            <a:ext cx="685800" cy="68580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1737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22B14"/>
                </a:solidFill>
                <a:latin typeface="Segoe UI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926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Kế hoạch, khảo sát, insight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0690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069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G1 · Có điều kiện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1554480"/>
            <a:ext cx="1783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0559" y="1737360"/>
            <a:ext cx="685800" cy="68580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1737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22B14"/>
                </a:solidFill>
                <a:latin typeface="Segoe UI"/>
              </a:rPr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UX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926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Persona, story, IA, flow, wireframe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0690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4069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G2 · 5 / 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199" y="1554480"/>
            <a:ext cx="1783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79" y="1737360"/>
            <a:ext cx="685800" cy="68580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1737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22B14"/>
                </a:solidFill>
                <a:latin typeface="Segoe UI"/>
              </a:rP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UI Concept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2926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Stitch, 3 hướng visual, style guide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0690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79" y="4069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5803D"/>
                </a:solidFill>
                <a:latin typeface="Calibri"/>
              </a:rPr>
              <a:t>G3 · Đạt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1554480"/>
            <a:ext cx="1783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599" y="1737360"/>
            <a:ext cx="685800" cy="68580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9" y="1737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22B14"/>
                </a:solidFill>
                <a:latin typeface="Segoe UI"/>
              </a:rPr>
              <a:t>P4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UI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2926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Final UI, trạng thái, prototype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9" y="40690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599" y="4069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G4 · Có điều kiện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1554480"/>
            <a:ext cx="178308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104119" y="1737360"/>
            <a:ext cx="685800" cy="68580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4119" y="17373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622B14"/>
                </a:solidFill>
                <a:latin typeface="Segoe UI"/>
              </a:rPr>
              <a:t>P5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19" y="2560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19" y="29260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Kiểm thử, handoff Flutter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4119" y="406908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CE8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04119" y="40690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91C1C"/>
                </a:solidFill>
                <a:latin typeface="Calibri"/>
              </a:rPr>
              <a:t>G5 · Chưa test người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475488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48920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CÔNG CỤ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Google Stitch tạo UI; Gemini và Claude phản biện; Figma dựng, Playwright kiểm thử prototype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475488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89204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QUY TẮC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AI không thay phỏng vấn, usability test hay quyết định; phần chưa có bằng chứng ghi rõ là giả định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Vấn đề cần giải quyết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Ai gặp khó khăn gì, trong bối cảnh nào, hậu quả gì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P0 ·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01-P0-y-tuong/01-p0-problem-framing.md mục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3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11099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10652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PROBLEM STATEMENT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22B14"/>
                </a:solidFill>
                <a:latin typeface="Calibri"/>
              </a:rPr>
              <a:t>Sinh viên học trên campus có lịch học dày thường không mua kịp đồ ăn trong 15 phút nghỉ giữa hai tiết, vì xếp hàng ở căn tin dồn đúng giờ nghỉ chung và tốn gần hết thời gian, nên họ bỏ bữa hoặc vào lớp trễ.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Làm sao để sinh viên có đồ ăn trong giờ nghỉ ngắn mà không phải xếp hàng?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0233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Hàng chờ đúng giờ nghỉ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Xếp hàng gần hết 15 phút nghỉ, bỏ bữa hoặc vào lớp trễ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32004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338328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4448" y="40233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Không biết trước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Quán mở hay đóng, còn món, bao lâu xong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32004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5" y="3383280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91655" y="40233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Phí phát sinh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Tổng tiền chỉ hiện ở bước cuối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320040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3" y="3383280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98863" y="40233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Lỗi thanh toán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Mất giỏ hàng khi mạng yếu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CHỈ SỐ THÀNH CÔNG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Đặt xong một đơn dưới 35 giây, tối đa 8 chạm (Flow 1)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Kết quả (giả thuyết): giảm số lần bỏ mua vì hàng chờ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37760"/>
            <a:ext cx="5440680" cy="12801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02920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AI PHẢN BIỆN (D18)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Problem statement cũ chứa giải pháp, nên chỉ mô tả vấn đề và thêm câu How might we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Quyết định: Modify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Các hướng đã cân nhắc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Chấm Impact × Feasibility rồi chọn có lý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P0 ·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01-P0-y-tuong/01-p0-problem-framing.md mục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4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110996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645920"/>
          <a:ext cx="106527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914400"/>
                <a:gridCol w="1097280"/>
                <a:gridCol w="822960"/>
                <a:gridCol w="443484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Hướng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Feasibility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Điểm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Lý do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A · App đặt trước, nhận tại quầy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Gỡ cả thời gian lẫn thông tin; khớp yêu cầu app mobile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B · Web đặt món qua QR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Không cần cài app nhưng không khớp yêu cầu app mobile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C · Hàng chờ ảo + màn hình gọi số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Bớt đứng xếp hàng nhưng không rút ngắn thời gian chờ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D · Chatbot Zalo / Messenger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Khó tuỳ chỉnh topping và hiện trạng thái đơn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4892040"/>
            <a:ext cx="5440680" cy="1325880"/>
          </a:xfrm>
          <a:prstGeom prst="roundRect">
            <a:avLst>
              <a:gd name="adj" fmla="val 4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CHỌN A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Giữ B làm phương án dự phòng cho rủi ro sinh viên ngại cài app (R2).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92040"/>
            <a:ext cx="5440680" cy="1325880"/>
          </a:xfrm>
          <a:prstGeom prst="roundRect">
            <a:avLst>
              <a:gd name="adj" fmla="val 4000"/>
            </a:avLst>
          </a:prstGeom>
          <a:solidFill>
            <a:srgbClr val="FCE8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8348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D20 · REJECT chuyển sang web QR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AI đề xuất, nhóm từ chối vì đề bắt buộc app mobile 360 × 800 dp và handoff Flutter.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Giả định, rủi ro và phạm vi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Phân biệt dữ kiện, giả thuyết và điều chưa biết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P0 ·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01-P0-y-tuong/01-p0-problem-framing.md mục 3–5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5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6400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00200"/>
          <a:ext cx="60350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840480"/>
                <a:gridCol w="16459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Giả định cần kiểm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Kiểm bằng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Giờ nghỉ giữa hai tiết ≤ 15 phút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Khảo sát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Hàng chờ làm sinh viên bỏ mua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Khảo sát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Biết trước trạng thái quán quyết định việc đặt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Khảo sát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H4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Sinh viên chấp nhận cài app riêng của quán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Khảo sát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Khi thanh toán lỗi, muốn trả tiền mặt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Phỏng vấn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Quầy cần mã lớn và QR để trả món nhanh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Hỏi nhân viên quầy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H7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Bếp làm kịp đơn dồn vào giờ nghỉ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Hỏi chủ quán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544068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Rủi ro: R1 persona chưa kiểm chứng · R2 ngại cài app · R3 bếp quá tải · R4 thanh toán lỗi khi mạng yếu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63040"/>
            <a:ext cx="448056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00200"/>
            <a:ext cx="402336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TRONG PHẠM VI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App khách S01–S30, app người bán K01–K15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Nhận tại quầy; QR, ví, tiền mặt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Light theme, 360 × 800 dp, kiểm 412 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977639"/>
            <a:ext cx="4480560" cy="22402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 w="9525">
            <a:solidFill>
              <a:srgbClr val="FFF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114800"/>
            <a:ext cx="4023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NGOÀI PHẠM VI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Giao hàng tận nơi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Đăng nhập tích điểm, dark mode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Thiết kế tablet, code Flutter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Kế hoạch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Sáu câu hỏi nghiên cứu và cách trả lời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P1 ·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02-P1-nghien-cuu/01-p1-research.md mục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6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06 CÂU HỎI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0116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116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RQ1 · Giữa hai tiết thật sự có bao nhiêu phút?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5176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5176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RQ2 · Hàng chờ dài bao lâu, có làm bỏ mua không?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9184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RQ3 · Cần biết gì trước khi quyết định mua?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RQ4 · Có chịu cài app riêng của quán không?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7200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RQ5 · Khi thanh toán lỗi, đã làm gì?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12080"/>
            <a:ext cx="5394960" cy="548640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120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RQ6 · Quầy có làm kịp đơn dồn giờ nghỉ không?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463040"/>
            <a:ext cx="5029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60020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Khảo sát Google Form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22 câu cho RQ1–RQ5, mục tiêu từ 30 sinh viên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6459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645920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Đang thu phản hồi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3090672"/>
            <a:ext cx="5029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227832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Phỏng vấn mô phỏng AI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5 hồ sơ sinh viên để tạo giả thuyết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3273552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3273552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803D"/>
                </a:solidFill>
                <a:latin typeface="Calibri"/>
              </a:rPr>
              <a:t>Đã làm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4718304"/>
            <a:ext cx="502920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855464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Hỏi nhân viên quầy, chủ quán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RQ6: quầy, bếp, đơn dồn giờ nghỉ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901184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CE8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4901184"/>
            <a:ext cx="17830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91C1C"/>
                </a:solidFill>
                <a:latin typeface="Calibri"/>
              </a:rPr>
              <a:t>Kế hoạch, chưa làm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Kết quả nghiên cứu hiện có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Toàn bộ là dữ liệu mô phỏng AI, dùng để thử form và tạo giả thuyết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P1 ·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02-P1-nghien-cuu/02-research.md · 02-P1-nghien-cuu/04-ai-persona-interviews.md · 02-P1-nghien-cuu/khao-sat/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7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PHỎNG VẤN MÔ PHỎNG AI · 5 NHÂN VẬT (SIM-A1…A5)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3736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288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B45309"/>
                </a:solidFill>
                <a:latin typeface="Segoe UI"/>
              </a:rPr>
              <a:t>4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muốn biết trước trạng thái quán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73736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1999" y="18288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B45309"/>
                </a:solidFill>
                <a:latin typeface="Segoe UI"/>
              </a:rPr>
              <a:t>3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từng bỏ mua vì hàng chờ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73736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2880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B45309"/>
                </a:solidFill>
                <a:latin typeface="Segoe UI"/>
              </a:rPr>
              <a:t>1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799" y="182880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là nguồn duy nhất của insight lỗi thanh toán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KHẢO SÁT GOOGLE FORM · CHẠY THỬ 20 PHẢN HỒI MÔ PHỎNG (SIM-S01…S20)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0332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7947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4,5 /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79476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mức quan trọng của thời gian chờ (H3)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70332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1999" y="37947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0 /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79476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biết trước phải chờ bao lâu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70332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79476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9 /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79476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ngại cài vì phải đăng ký tài khoản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49240"/>
            <a:ext cx="11109960" cy="8229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0652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Không dùng các số này làm bằng chứng hay khẳng định tỉ lệ. Khảo sát thật đang thu phản hồi và sẽ thay phần này.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Insight → quyết định thiết kế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Mỗi quyết định nối về một insight có mã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P1 ·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02-P1-nghien-cuu/01-p1-research.md mục 3 · 03-P2-ux-design/02-persona-mapping.xlsx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8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11099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00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BẰNG CHỨNG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00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QUYẾT ĐỊNH THIẾT KẾ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920240"/>
            <a:ext cx="10652760" cy="530352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920240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INS-01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92024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Hàng chờ giờ nghỉ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2024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SIM-A1, A2, 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920240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Đặt trước và hẹn giờ nhận (S05)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532888"/>
            <a:ext cx="10652760" cy="530352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532888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INS-02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532888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Cần biết trước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532888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SIM-A1, A3, A4, A5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532888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Trạng thái quán và thời gian chờ (S02)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45536"/>
            <a:ext cx="10652760" cy="530352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45536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INS-04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145536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Ngại phí ẩn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145536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SIM-A1, A2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145536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Giá cộng dồn trên nút, tổng ở giỏ (S04, S05)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758184"/>
            <a:ext cx="10652760" cy="530352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5818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INS-05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758184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Không muốn đăng ký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758184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SIM-A1, A3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758184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Xem menu không cần tài khoản (D12, S26 không bắt buộc)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370832"/>
            <a:ext cx="10652760" cy="530352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370832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INS-06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4370832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Lỗi thanh toán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370832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SIM-A5 (1 nguồn)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370832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Màn phục hồi giữ giỏ hàng (S06-ERR)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983480"/>
            <a:ext cx="10652760" cy="530352"/>
          </a:xfrm>
          <a:prstGeom prst="roundRect">
            <a:avLst>
              <a:gd name="adj" fmla="val 3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983480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Hành 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98348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Thao tác một tay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8348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SIM-A1, A5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983480"/>
            <a:ext cx="5852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Nút chính ở nửa dưới, vùng bấm từ 48 dp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Độ tin cậy thấp vì nguồn là mô phỏng; mỗi insight đã gắn nhãn Assumed trong tài liệu.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Một persona chính, hai persona phụ và một nhóm không nhắm tới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P2 · 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03-P2-ux-design/01-persona.md (12 trường lõi)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9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26974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622B14"/>
                </a:solidFill>
                <a:latin typeface="Segoe UI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18288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828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2860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22B14"/>
                </a:solidFill>
                <a:latin typeface="Calibri"/>
              </a:rPr>
              <a:t>Nguyễn Minh Quân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20 tuổi · SV năm 2 · học trên campus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Học nhiều tiết liền, nghỉ 15 phút giữa hai tiết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Android, cầm máy một tay, mạng chập chờn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Mục tiêu: Đặt xong dưới 35 giây, tối đa 8 chạm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463040"/>
            <a:ext cx="26974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84448" y="1691640"/>
            <a:ext cx="640080" cy="64008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1691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622B14"/>
                </a:solidFill>
                <a:latin typeface="Segoe UI"/>
              </a:rPr>
              <a:t>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18288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SECONDARY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2514600"/>
            <a:ext cx="22860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22B14"/>
                </a:solidFill>
                <a:latin typeface="Calibri"/>
              </a:rPr>
              <a:t>Trần Mỹ Linh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19 tuổi · SV năm 1 Thiết kế · đi xe buýt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Ngân sách khoảng 40.000đ mỗi ngày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iPhone cũ, ví MoMo, dùng hai tay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Mục tiêu: Thấy tổng tiền thật trước khi trả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1463040"/>
            <a:ext cx="26974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91655" y="1691640"/>
            <a:ext cx="640080" cy="640080"/>
          </a:xfrm>
          <a:prstGeom prst="ellipse">
            <a:avLst/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1691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622B14"/>
                </a:solidFill>
                <a:latin typeface="Segoe UI"/>
              </a:rPr>
              <a:t>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23175" y="18288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5" y="1828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SUPPORTING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2514600"/>
            <a:ext cx="22860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22B14"/>
                </a:solidFill>
                <a:latin typeface="Calibri"/>
              </a:rPr>
              <a:t>Cô Hạnh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Khoảng 40 tuổi · nhân viên quầy Kiosk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Vừa nấu vừa trả món, tay bận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Không dùng app khách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Mục tiêu: Trả một món đặt trước trong khoảng 30 giây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3" y="1463040"/>
            <a:ext cx="26974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98863" y="1691640"/>
            <a:ext cx="640080" cy="640080"/>
          </a:xfrm>
          <a:prstGeom prst="ellipse">
            <a:avLst/>
          </a:prstGeom>
          <a:solidFill>
            <a:srgbClr val="E4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3" y="16916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622B14"/>
                </a:solidFill>
                <a:latin typeface="Segoe UI"/>
              </a:rPr>
              <a:t>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0384" y="18288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0384" y="1828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ANTI-PERSONA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3" y="2514600"/>
            <a:ext cx="22860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622B14"/>
                </a:solidFill>
                <a:latin typeface="Calibri"/>
              </a:rPr>
              <a:t>Tuấn và Hà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SV năm 3–4 · ít lên trường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Mua ở trường rất ít, mang cơm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Không muốn tải thêm app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Mục tiêu: Không nhắm tới; ghi thành rủi ro R2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15000"/>
            <a:ext cx="11109960" cy="54864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Persona là proto-persona, dựng từ quan sát của nhóm và dữ liệu mô phỏng; mỗi trường gắn nhãn bằng chứng.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User story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12 story, mỗi story có tiêu chí chấp nhận đo được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P2 · 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03-P2-ux-design/03-p2-ux-design.md mục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10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1109960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00200"/>
          <a:ext cx="107442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3931920"/>
                <a:gridCol w="516636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Persona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Tôi muốn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Tiêu chí chấp nhận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US01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Đặt và trả tiền trước khi xuống quầy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Từ S02 tới mã nhận đồ ở S07 trong tối đa 8 chạm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US03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Thấy quán mở hay tạm dừng nhận đơn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Badge icon và chữ ở S02; quán đóng thì tắt nút đặt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US05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Bấm mọi nút chính bằng ngón cái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Nút chính ở nửa dưới; vùng chạm từ 48 × 48 dp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US06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Giữ giỏ hàng khi thanh toán lỗi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S06-ERR giữ giỏ; có Thử lại và Trả tiền mặt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US08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Thấy giá cộng dồn và tổng tiền ở giỏ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Giá trên nút ở S04 cập nhật ngay; S05 hiện tổng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22B14"/>
                          </a:solidFill>
                          <a:latin typeface="Calibri"/>
                        </a:rPr>
                        <a:t>US10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P03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Đọc nhanh mã nhận và trạng thái trả tiền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22B14"/>
                          </a:solidFill>
                          <a:latin typeface="Calibri"/>
                        </a:rPr>
                        <a:t>S07 có mã lớn, QR, badge Đã thanh toán / Trả tại quầy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5897880"/>
            <a:ext cx="11109960" cy="4114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89788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Chuỗi truy vết: Insight → Need → User story → Flow → Screen → Test (03-P2-ux-design/02-persona-mapping.xlsx).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Kiến trúc thông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Thanh dưới 4 tab cho app khách, 4 tab cho app người bán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P2 · 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03-P2-ux-design/04-user-flow.md mục 1 · 05-P4-ui-design/02-screens-s09-s30.md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11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4173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S01 Onboarding · lần đầu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269748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2697480" cy="5029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Trang chủ · S02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S04 Chi tiết món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S05 Giỏ hàng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S06 Thanh toán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S07 Theo dõi đơn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S14 Đặt lại nhanh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S19 Thông báo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S21 Quán đóng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S25 Hẹn giờ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S27 Chọn kiosk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S28 Tìm kiếm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2103120"/>
            <a:ext cx="269748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5848" y="2103120"/>
            <a:ext cx="2697480" cy="5029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Thực đơn · S03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274320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S04 Chi tiết món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S22 Món hết, gợi ý thay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S28 Tìm kiếm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S29 Mã giảm giá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103120"/>
            <a:ext cx="269748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63055" y="2103120"/>
            <a:ext cx="2697480" cy="5029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5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Đơn hàng · S08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74320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S07 Theo dõi đơn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S09 Sửa đơn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S10 Đơn đã huỷ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S11 Lịch sử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S12 Chi tiết đơn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S20 Nhận món (QR)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S23 Đánh giá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S24 Báo sự cố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3" y="2103120"/>
            <a:ext cx="2697480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70263" y="2103120"/>
            <a:ext cx="2697480" cy="5029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0263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622B14"/>
                </a:solidFill>
                <a:latin typeface="Calibri"/>
              </a:rPr>
              <a:t>Cá nhân · S15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3" y="2743200"/>
            <a:ext cx="23774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S16 Hồ sơ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S17 Phương thức thanh toán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S18 Cài đặt thông báo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S13 Món yêu thích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S26 Đăng nhập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109960" cy="6400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7784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App người bán (K01–K15): Đơn · Quét mã · Món · Quán, gồm nhận đơn, làm món, giao món, quản lý món và quán, thống kê ca, xử lý sự cố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Ba flow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Mỗi flow có đầu vào, đầu ra và nhánh lỗi; ảnh là màn Figma thật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P2 · 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03-P2-ux-design/04-user-flow.md mục 2 · Figma Page 01 (UF · F1–F3)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12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10996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554480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Đặt nhanh, nhận tại quầy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Dưới 35 giây, tối đa 8 chạm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481328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481328"/>
            <a:ext cx="526694" cy="1170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72814" y="168249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Chạm combo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2814" y="18836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1534" y="1481328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534" y="1481328"/>
            <a:ext cx="526694" cy="11704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8228" y="168249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Thêm vào giỏ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8228" y="18836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6948" y="1481328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948" y="1481328"/>
            <a:ext cx="526694" cy="11704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03643" y="168249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Thanh toán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3643" y="18836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2363" y="1481328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363" y="1481328"/>
            <a:ext cx="526694" cy="11704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19057" y="168249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Xác nhận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9057" y="188366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7777" y="1481328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7777" y="1481328"/>
            <a:ext cx="526694" cy="117043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48640" y="2807208"/>
            <a:ext cx="1110996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" y="2944368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294436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F2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3101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Tuỳ chỉnh món và mã giảm giá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7216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Mã sai báo lỗi ngay tại giỏ hàng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2871216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2871216"/>
            <a:ext cx="526694" cy="11704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72814" y="3072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Chọn món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2814" y="3273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61534" y="2871216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534" y="2871216"/>
            <a:ext cx="526694" cy="11704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88228" y="3072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Thêm vào giỏ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8228" y="3273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6948" y="2871216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948" y="2871216"/>
            <a:ext cx="526694" cy="117043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03643" y="3072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Nhập mã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3643" y="3273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2363" y="2871216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2363" y="2871216"/>
            <a:ext cx="526694" cy="11704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919057" y="3072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91C1C"/>
                </a:solidFill>
                <a:latin typeface="Calibri"/>
              </a:rPr>
              <a:t>Mã hết hạn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9057" y="327355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B91C1C"/>
                </a:solidFill>
                <a:latin typeface="Calibri"/>
              </a:rP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07777" y="2871216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7777" y="2871216"/>
            <a:ext cx="526694" cy="117043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48640" y="4197096"/>
            <a:ext cx="1110996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31520" y="4334256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334256"/>
            <a:ext cx="548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F3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470001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Lỗi thanh toán và phục hồi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11149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Giỏ hàng được giữ, đơn vẫn được tạo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46120" y="4261104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6120" y="4261104"/>
            <a:ext cx="526694" cy="11704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772814" y="44622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91C1C"/>
                </a:solidFill>
                <a:latin typeface="Calibri"/>
              </a:rPr>
              <a:t>Tiền mặt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72814" y="4663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B91C1C"/>
                </a:solidFill>
                <a:latin typeface="Calibri"/>
              </a:rP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61534" y="4261104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1534" y="4261104"/>
            <a:ext cx="526694" cy="11704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488228" y="44622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Huỷ đơn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8228" y="4663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76948" y="4261104"/>
            <a:ext cx="180066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6948" y="4261104"/>
            <a:ext cx="1800664" cy="11704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477613" y="44622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B45309"/>
                </a:solidFill>
                <a:latin typeface="Calibri"/>
              </a:rPr>
              <a:t>Xác nhận huỷ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77613" y="4663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66333" y="4261104"/>
            <a:ext cx="526694" cy="11704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6333" y="4261104"/>
            <a:ext cx="526694" cy="117043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548640" y="5669280"/>
            <a:ext cx="11109960" cy="54864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66928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Flow F4–F13, đăng nhập và ba flow người bán nằm ở Figma Page 01, mỗi flow có điểm chạm, nhánh lỗi, đầu vào và đầu 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Wireframe và flow mở rộng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Chốt bố cục bằng khung xám trước khi chọn màu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P2 · 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Figma Page 02 · Figma Page 02 (WF v2)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13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1234440" cy="2743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9280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1417320"/>
            <a:ext cx="1234440" cy="27432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21868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417320"/>
            <a:ext cx="1234440" cy="2743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4456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1417320"/>
            <a:ext cx="1234440" cy="2743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87044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1417320"/>
            <a:ext cx="1234440" cy="2743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19632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1417320"/>
            <a:ext cx="1234440" cy="2743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52220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08" y="1417320"/>
            <a:ext cx="1234440" cy="27432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848088" y="1417320"/>
            <a:ext cx="1234440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48088" y="1417320"/>
            <a:ext cx="1234440" cy="2743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48640" y="434340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3484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WIREFRAME · FIGMA PAGE 02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Khung xám cho cả S01–S30 và app người bán, không màu, chỉ thứ bậc khối và một nút chính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34340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3484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FLOW MỞ RỘNG · FIGMA PAGE 01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F4–F13: sửa và huỷ đơn, lịch sử, yêu thích, hồ sơ, thông báo, quán đóng, món hết, đánh giá, mất mạng, đang tải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9280"/>
            <a:ext cx="11109960" cy="54864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Walkthrough hiện do AI thực hiện; nhóm chưa đi thử luồng với người thật.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Tạo giao diện với Google Stitch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Brief có cấu trúc, không gõ prompt tự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P3 · UI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04-P3-ui-concept/01-DESIGN.md · 08-ai-log/01-ai-design-log.md mục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14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2697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DESIGN.md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Persona, màu, chữ, nguyên tắc thiết kế (DP1–DP8) viết trước khi mở Stitch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1554480"/>
            <a:ext cx="2697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84448" y="173736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73736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19456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Prompt gửi Stitch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Vai trò nhà thiết kế sản phẩm, app đặt món cho sinh viên chỉ có 15 phút, light theme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554480"/>
            <a:ext cx="2697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91655" y="173736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173736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219456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Bốn màn ban đầu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Trang chủ, chi tiết món, giỏ hàng, theo dõi đơn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0263" y="1554480"/>
            <a:ext cx="26974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98863" y="1737360"/>
            <a:ext cx="45720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98863" y="173736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219456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Nhật ký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Prompt nguyên văn và ảnh lưu trong ai-design-log.md và assets/stitch/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39"/>
            <a:ext cx="11109960" cy="21945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14800"/>
            <a:ext cx="10652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VÌ SAO CÓ BRIEF TRƯỚC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622B14"/>
                </a:solidFill>
                <a:latin typeface="Calibri"/>
              </a:rPr>
              <a:t>Prompt nêu ràng buộc thật: người dùng một tay, giờ nghỉ 15 phút, chữ tối thiểu 14 sp, vùng chạm 48 dp, tương phản 4,5:1.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B45309"/>
                </a:solidFill>
                <a:latin typeface="Calibri"/>
              </a:rPr>
              <a:t>Kết quả của AI là bản nháp để phản biện, không phải thiết kế cuối.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Ba hướng visual cho màn Trang chủ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So sánh cùng nội dung, cùng khung 360 × 800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P3 · UI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04-P3-ui-concept/02-p3-ui-concept-style-guide.md mục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15 / 33</a:t>
            </a:r>
          </a:p>
        </p:txBody>
      </p:sp>
      <p:pic>
        <p:nvPicPr>
          <p:cNvPr id="10" name="Picture 9" descr="concept-board-breakb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040880" cy="53393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18120" y="146304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55279" y="1600200"/>
          <a:ext cx="35661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12648"/>
                <a:gridCol w="612648"/>
                <a:gridCol w="603504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Tiêu chí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Đọc ngoài nắng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Quét nhanh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Chọn bằng ảnh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Trạng thái quán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Thương hiệu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Light theme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22B14"/>
                          </a:solidFill>
                          <a:latin typeface="Calibri"/>
                        </a:rPr>
                        <a:t>Tổng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22B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818120" y="4343400"/>
            <a:ext cx="3840480" cy="1005840"/>
          </a:xfrm>
          <a:prstGeom prst="roundRect">
            <a:avLst>
              <a:gd name="adj" fmla="val 4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416552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5803D"/>
                </a:solidFill>
                <a:latin typeface="Calibri"/>
              </a:rPr>
              <a:t>D33 · MODIFY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Chọn A, mượn khối trạng thái quán và banner nhỏ của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80"/>
            <a:ext cx="7040880" cy="777240"/>
          </a:xfrm>
          <a:prstGeom prst="roundRect">
            <a:avLst>
              <a:gd name="adj" fmla="val 4000"/>
            </a:avLst>
          </a:prstGeom>
          <a:solidFill>
            <a:srgbClr val="FCE8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40680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D34 · REJECT concept C: nền tối đọc kém ngoài nắng, banner che món, đề bắt buộc light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44068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A là Stitch; B và C do AI dựng bằng HTML, ghi rõ nguồn (D35).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AI phản biện và ba vòng tinh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Đánh giá theo 10 heuristic của Nielsen, WCAG và persona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P3 · UI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08-ai-log/01-ai-design-log.md mục 3–4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16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6118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31546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CTA khó đọc, bị chìm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Vấn đề: Chữ trắng trên cam tương phản thấp, nút chính yếu về thị giác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Sửa: Đổi chữ nút sang nâu; tăng phân cấp CTA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463040"/>
            <a:ext cx="36118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79" y="16459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6459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103120"/>
            <a:ext cx="31546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Thiếu giỏ trống, dễ xoá nhầm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Vấn đề: Không có trạng thái rỗng, xoá món không có lối quay lại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Sửa: Thêm màn giỏ trống và xác nhận khi xoá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463040"/>
            <a:ext cx="361188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16459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645920"/>
            <a:ext cx="640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103120"/>
            <a:ext cx="31546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Lỗi thanh toán là ngõ cụt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Vấn đề: Báo lỗi nhưng không có đường đi tiếp, giỏ có thể mất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Sửa: Thêm màn phục hồi: giữ giỏ, thử lại, trả tiền mặt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60"/>
            <a:ext cx="11109960" cy="5943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52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Gemini phản biện (tóm tắt), Claude phản biện (nguyên văn, Phụ lục A); nhóm tự đo lại số liệu AI nêu.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52160"/>
            <a:ext cx="11109960" cy="411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852160"/>
            <a:ext cx="10652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Chữ trắng trên cam đo thật 2,14:1, không phải mức AI nêu; chữ nút nâu đạt 5,23:1.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Quyết định Accept, Modify,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Mọi đề xuất của AI đều ghi quyết định và lý do trong nhật ký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P3 · UI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08-ai-log/01-ai-design-log.md · 05-P4-ui-design/05-design-decisions.md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17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5803D"/>
                </a:solidFill>
                <a:latin typeface="Calibri"/>
              </a:rPr>
              <a:t>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Giá cộng dồn trên nút Thêm vào giỏ (S04)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D19 · thêm chỉ số kết quả vào P0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D21 · thêm giả định về năng lực bếp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46304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79" y="16459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6459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MODIFY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19456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Chữ nút đổi sang nâu #622B14, tương phản 5,23:1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D18 · bỏ giải pháp khỏi problem statement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D33 · chọn concept A, mượn khối trạng thái của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463040"/>
            <a:ext cx="36118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19" y="16459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CE8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6459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194560"/>
            <a:ext cx="3154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D20 · chuyển sang web QR (đề bắt buộc app mobile)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D34 · concept C nền tối (đề bắt buộc light theme)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Bắt buộc đăng nhập để tích điểm (D12)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77840"/>
            <a:ext cx="11109960" cy="6400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Hơn 40 quyết định (D01–D43), mỗi quyết định có căn cứ: persona, heuristic hoặc ràng buộc của đề.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App 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Token màu, chữ, khoảng cách và component dùng chung cho hai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P3 · UI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04-P3-ui-concept/01-DESIGN.md · Figma Page 04,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18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65836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MÀU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0116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F69D39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#F69D39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primary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0116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622B14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28529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#622B14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chữ, trên cam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20116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8529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#B45309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chữ nhấn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0116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15803D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8529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#15803D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thành công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201168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28529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#B91C1C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lỗi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747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FAF8F5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159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#FAF8F5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nền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34747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60" y="43159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#FFFFFF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thẻ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34747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E4DFD8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54680" y="43159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#E4DFD8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viền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4747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FFF1DE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3159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#FFF1DE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đang chọn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474720"/>
            <a:ext cx="1051560" cy="777240"/>
          </a:xfrm>
          <a:prstGeom prst="roundRect">
            <a:avLst>
              <a:gd name="adj" fmla="val 15000"/>
            </a:avLst>
          </a:prstGeom>
          <a:solidFill>
            <a:srgbClr val="6B5F55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3159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#6B5F55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chữ phụ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074920"/>
            <a:ext cx="6126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Cam chỉ cho một nút chính mỗi màn và trạng thái đang chọn. Nền và thẻ là các tông trung tính ấm.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1463040"/>
            <a:ext cx="42976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160020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CHỮ · Nunito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622B14"/>
                </a:solidFill>
                <a:latin typeface="Segoe UI"/>
              </a:rPr>
              <a:t>Display 24 sp · Bold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Headline 20 sp · Bold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Title 16 sp · SemiBold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Body 14 sp · Regular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Lưới 4 dp · lề 16 dp · bo góc 8, 12, 16,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8404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ICON · 27 icon vector một nét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206240"/>
            <a:ext cx="502920" cy="50292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206240"/>
            <a:ext cx="502920" cy="50292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4206240"/>
            <a:ext cx="502920" cy="50292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896" y="4206240"/>
            <a:ext cx="502920" cy="50292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6688" y="4206240"/>
            <a:ext cx="502920" cy="50292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8480" y="4206240"/>
            <a:ext cx="502920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589520" y="493776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Component: Chip, NavBar, Card/Food, IconButton, Button, Dialog, có variant theo trạng thái.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Phản biện giao diện và bản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Đo bản cũ, sửa, đo lại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05-P4-ui-design/06-phan-bien-giao-dien/ · tests/audit/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19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64008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691640"/>
          <a:ext cx="5943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Chỉ số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Bản cũ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Bản v2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22B14"/>
                          </a:solidFill>
                          <a:latin typeface="Calibri"/>
                        </a:rPr>
                        <a:t>Cam đậm (trung bình S01–S08)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5,9%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4,3%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22B14"/>
                          </a:solidFill>
                          <a:latin typeface="Calibri"/>
                        </a:rPr>
                        <a:t>Họ cam–be: nền, thẻ, chip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55,3%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4,4%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22B14"/>
                          </a:solidFill>
                          <a:latin typeface="Calibri"/>
                        </a:rPr>
                        <a:t>Emoji trong chữ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98 / 366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22B14"/>
                          </a:solidFill>
                          <a:latin typeface="Calibri"/>
                        </a:rPr>
                        <a:t>Chữ dưới 14 sp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86 dòng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0*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22B14"/>
                          </a:solidFill>
                          <a:latin typeface="Calibri"/>
                        </a:rPr>
                        <a:t>Chữ thiếu tương phản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8 chỗ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622B14"/>
                          </a:solidFill>
                          <a:latin typeface="Calibri"/>
                        </a:rPr>
                        <a:t>Vùng bấm dưới 48 dp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20 / 39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622B14"/>
                          </a:solidFill>
                          <a:latin typeface="Calibri"/>
                        </a:rPr>
                        <a:t>0 / 217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3949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* trừ nhãn thanh dưới 12 sp. Nền v2 là #FAF8F5 nên không còn tính vào họ cam–be.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463040"/>
            <a:ext cx="448056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00200"/>
            <a:ext cx="4023360" cy="4251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LỖI CHÍNH ĐÃ SỬA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Quá cam: nền kem trung tính, cam chỉ cho một nút chính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Icon lộn xộn: bỏ emoji, dùng một bộ 27 icon vector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Giỏ hàng và thanh toán lặp: tách S05 và S06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Vùng bấm 48 dp, chữ 14 sp, chữ cam đủ 4,5:1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Báo cáo đo do công cụ AI viết nên không độc lập; phản biện của AI khác chưa chạy.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Final UI: luồng đặt món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S01–S08 bản v2, một nút cam mỗi màn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assets/figma/final-ui-v2/ · Figma Page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20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08760"/>
            <a:ext cx="1296162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7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S01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1508760"/>
            <a:ext cx="1296162" cy="2880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S02 Trang chủ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2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1508760"/>
            <a:ext cx="1296162" cy="2880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19272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S03 Thực đơn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1508760"/>
            <a:ext cx="1296162" cy="2880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18304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S04 Chi tiết món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1508760"/>
            <a:ext cx="1296162" cy="2880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17336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S05 Giỏ hàng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62088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1508760"/>
            <a:ext cx="1296162" cy="2880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16367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S06 Thanh toán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19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19" y="1508760"/>
            <a:ext cx="1296162" cy="2880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15399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S07 Theo dõi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60152" y="1508760"/>
            <a:ext cx="1296162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0152" y="1508760"/>
            <a:ext cx="1296162" cy="2880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314432" y="44805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22B14"/>
                </a:solidFill>
                <a:latin typeface="Calibri"/>
              </a:rPr>
              <a:t>S08 Đơn hàng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Nền kem trung tính, thẻ trắng, một bộ icon vector, vùng bấm từ 48 dp, chữ từ 14 sp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Màn lõi của ba flow chính; mỗi màn có trạng thái rỗng, lỗi hoặc đang tải đi kèm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Trạng thái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Phản hồi rõ ràng và luôn có hướng xử lý tiếp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assets/figma/final-ui-v2/ · Figma Page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21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S05-EMPTY · Giỏ hàng trống, gợi ý món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9848" y="2514600"/>
            <a:ext cx="1584198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514600"/>
            <a:ext cx="1584198" cy="35204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55848" y="146304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622B14"/>
                </a:solidFill>
                <a:latin typeface="Segoe UI"/>
              </a:rPr>
              <a:t>LOADING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920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S06-LOADING · Đang kết nối cổng thanh toán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7056" y="2514600"/>
            <a:ext cx="1584198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2514600"/>
            <a:ext cx="1584198" cy="35204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163055" y="146304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B91C1C"/>
                </a:solidFill>
                <a:latin typeface="Segoe UI"/>
              </a:rPr>
              <a:t>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920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S06-ERR · Thanh toán lỗi, giỏ hàng vẫn được giữ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84264" y="2514600"/>
            <a:ext cx="1584198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514600"/>
            <a:ext cx="1584198" cy="35204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970263" y="146304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0263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5803D"/>
                </a:solidFill>
                <a:latin typeface="Segoe UI"/>
              </a:rPr>
              <a:t>SUCCESS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192024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S07 · Đã nhận đơn, mã QR và 4 bước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91472" y="2514600"/>
            <a:ext cx="1584198" cy="3520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514600"/>
            <a:ext cx="1584198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Final UI: vòng đời đơn và tài khoản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S09–S30 bản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05-P4-ui-design/02-screens-s09-s30.md · assets/figma/final-ui-v2/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22 / 33</a:t>
            </a:r>
          </a:p>
        </p:txBody>
      </p:sp>
      <p:pic>
        <p:nvPicPr>
          <p:cNvPr id="10" name="Picture 9" descr="contact-sheet-s09-s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731341" cy="4023360"/>
          </a:xfrm>
          <a:prstGeom prst="rect">
            <a:avLst/>
          </a:prstGeom>
        </p:spPr>
      </p:pic>
      <p:pic>
        <p:nvPicPr>
          <p:cNvPr id="11" name="Picture 10" descr="contact-sheet-s26-s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63040"/>
            <a:ext cx="3732514" cy="4023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463040"/>
            <a:ext cx="324612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600200"/>
            <a:ext cx="29260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S09–S14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Sửa và huỷ đơn, lịch sử, yêu thích, đặt lại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S15–S20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Tài khoản, thông báo, nhận món bằng QR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S21–S25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Quán đóng, món hết, đánh giá, báo sự cố, hẹn giờ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S26–S30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Đăng nhập, chọn kiosk, tìm kiếm, mã giảm giá, mất mạng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Tìm kiếm trống, mã hết hạn, lỗi mạng và trạng thái tải đều có màn riêng; đăng nhập không bắt buộc.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App người bán: BreakBite 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15 màn K01–K15 cho nhân viên quầy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05-P4-ui-design/03-kitchen-app.md · assets/figma/final-ui-v2/kitchen/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23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6309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8521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MÀN KHÁCH ĐÃ HỨA, QUẦY PHẢI THỰC HIỆN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Đã nhận, Đang làm, Sẵn sàng: nhận đơn, làm món, báo sẵn sàng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Mã QR: quét mã, xác nhận giao; trả tại quầy thì thu tiền rồi giao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Tạm hết: đánh dấu hết món, thêm và sửa món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Quán đóng: bật hoặc tắt nhận đơn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Huỷ đơn, sự cố: từ chối đơn, hoàn tiền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6309360" cy="17830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5852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Một nút cam mỗi màn; thanh toán luôn hiện trên thẻ đơn để biết đơn nào thu tiền mặt.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Bốn tab: Đơn, Quét mã, Món, Quán. Thống kê ca nằm trong tab Quán, xử lý sự cố mở từ tab Đơn.</a:t>
            </a:r>
          </a:p>
        </p:txBody>
      </p:sp>
      <p:pic>
        <p:nvPicPr>
          <p:cNvPr id="14" name="Picture 13" descr="contact-sheet-kitch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415535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Ánh xạ pain point → màn hình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Pain point của khách và màn hình xử lý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03-P2-ux-design/05-anh-xa-painpoint-man-hinh.md · Figma Page 01 (MAP)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24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GIẢI PHÁP THIẾT KẾ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MÀN HÌNH GIẢI QUYẾT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11109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73736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81051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105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121408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Hàng chờ đúng giờ nghỉ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73736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Đặt từ lớp, hẹn giờ nhận, nhận bằng mã QR, không xếp hàng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05740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452628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49440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5028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1691640"/>
            <a:ext cx="452628" cy="1005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87868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6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1691640"/>
            <a:ext cx="452628" cy="1005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26296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01884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1884" y="1691640"/>
            <a:ext cx="452628" cy="10058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64724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063240"/>
            <a:ext cx="11109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315468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322783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2278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538728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Không biết quán còn mở, còn món, bao lâu xong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15468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Trạng thái quán và món hiện ngay, gợi ý món thay, giờ dự kiến sẵn sàng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4747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108960"/>
            <a:ext cx="452628" cy="10058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49440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S21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5028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028" y="3108960"/>
            <a:ext cx="452628" cy="10058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087868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3456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3108960"/>
            <a:ext cx="452628" cy="10058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26296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01884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1884" y="3108960"/>
            <a:ext cx="452628" cy="10058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364724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S19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480560"/>
            <a:ext cx="11109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800" y="457200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464515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6451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4956048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Ngại phí ẩn, tổng tiền chỉ hiện ở bước cuối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57200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Giá cộng dồn trên nút, tổng chi tiết từ giỏ, mã giảm giá rõ ràng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489204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86600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4526280"/>
            <a:ext cx="452628" cy="10058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949440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5028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028" y="4526280"/>
            <a:ext cx="452628" cy="100584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87868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63456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3456" y="4526280"/>
            <a:ext cx="452628" cy="10058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226296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S29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01884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1884" y="4526280"/>
            <a:ext cx="452628" cy="10058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0364724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Ánh xạ pain point → màn hình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Lỗi thanh toán, thao tác một tay và phía người bán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03-P2-ux-design/05-anh-xa-painpoint-man-hinh.md · Figma Page 01 (MAP)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25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GIẢI PHÁP THIẾT KẾ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71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MÀN HÌNH GIẢI QUYẾT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11109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73736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181051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1051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121408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Lỗi thanh toán làm mất giỏ hàng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73736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Giữ giỏ hàng, thử lại hoặc trả tiền mặt tại Kiosk, báo mất kết nối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05740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452628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49440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S06-ERR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5028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1691640"/>
            <a:ext cx="452628" cy="10058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87868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S07-CASH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456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1691640"/>
            <a:ext cx="452628" cy="10058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26296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01884" y="169164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1884" y="1691640"/>
            <a:ext cx="452628" cy="10058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64724" y="271576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063240"/>
            <a:ext cx="11109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315468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322783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2278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538728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Nút nhỏ, khó bấm một tay khi đi bộ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15468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Vùng bấm từ 48 dp, nút chính ở đáy màn, một nút cam mỗi màn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47472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86600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108960"/>
            <a:ext cx="452628" cy="10058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49440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5028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5028" y="3108960"/>
            <a:ext cx="452628" cy="10058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087868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3456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3108960"/>
            <a:ext cx="452628" cy="10058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26296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01884" y="310896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1884" y="3108960"/>
            <a:ext cx="452628" cy="10058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364724" y="4133087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S08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480560"/>
            <a:ext cx="111099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800" y="4572000"/>
            <a:ext cx="2971800" cy="1143000"/>
          </a:xfrm>
          <a:prstGeom prst="roundRect">
            <a:avLst>
              <a:gd name="adj" fmla="val 10000"/>
            </a:avLst>
          </a:prstGeom>
          <a:solidFill>
            <a:srgbClr val="62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22960" y="464515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64515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4956048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Người bán: khách đứng chờ kiểm tra chuyển khoản, huỷ khi món đã nấu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57200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Đơn đã thanh toán hiện sẵn, quét QR giao món, hộp thoại từ chối đơn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4892040"/>
            <a:ext cx="320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69D39"/>
                </a:solidFill>
                <a:latin typeface="Calibri"/>
              </a:rPr>
              <a:t>→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86600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526280"/>
            <a:ext cx="452628" cy="10058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949440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K02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5028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5028" y="4526280"/>
            <a:ext cx="452628" cy="100584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087868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K03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63456" y="4526280"/>
            <a:ext cx="4526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3456" y="4526280"/>
            <a:ext cx="452628" cy="10058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226296" y="5550408"/>
            <a:ext cx="7269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K05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501884" y="4526280"/>
            <a:ext cx="1045028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1884" y="4526280"/>
            <a:ext cx="1045028" cy="10058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0364724" y="5550408"/>
            <a:ext cx="13193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6B5F55"/>
                </a:solidFill>
                <a:latin typeface="Calibri"/>
              </a:rPr>
              <a:t>K12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5943600"/>
            <a:ext cx="11109960" cy="347472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" y="594360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22B14"/>
                </a:solidFill>
                <a:latin typeface="Calibri"/>
              </a:rPr>
              <a:t>Nguồn pain point: 03-P2-ux-design/01-persona.md và 02-P1-nghien-cuu/02-research.md; dữ liệu persona là giả định, chờ khảo sát thật.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Bản vẽ trong Figma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Sáu page, từ user flow tới prototype chạy được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Figma PRM323 (bản copy) · assets/figma/boards/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26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36118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61188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32461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Page 01 · User flow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Storyboard F1–F13, đăng nhập, người bán, bảng ánh xạ pain 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417320"/>
            <a:ext cx="36118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9" y="1417320"/>
            <a:ext cx="3611880" cy="1783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79" y="32461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Page 02 · Wireframe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Khung xám cho S01–S30 và K01–K15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6118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19" y="1417320"/>
            <a:ext cx="3611880" cy="1783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19" y="324612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Page 03 · Final UI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58 màn v2, bản 360 và 412 dp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13048"/>
            <a:ext cx="36118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13048"/>
            <a:ext cx="361188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5641848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Page 04 · Design system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Token màu, chữ, khoảng cách, bo góc, 27 icon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813048"/>
            <a:ext cx="36118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79" y="3813048"/>
            <a:ext cx="3611880" cy="1783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97679" y="5641848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Page 05 · Component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Chip, NavBar, Card, nút; mọi variant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813048"/>
            <a:ext cx="361188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19" y="3813048"/>
            <a:ext cx="3611880" cy="1783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46719" y="5641848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Page 06 · Prototype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58 màn nối liên kết, 17 điểm bắt đầu để Present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Component và responsive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Một thư viện component, bản 360 dp và 412 dp cho mỗi màn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Figma Page 05 · assets/figma/final-ui-v2/412/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27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42062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374903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COMPONENT CÓ VARIANT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Button: mặc định, nhấn, vô hiệu, đang tải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Chip: mặc định, đang chọn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Card/Food: món, đồ uống, hết hàng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NavBar: 4 tab, tab đang chọn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IconButton 48 × 48, Dialog, TextField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Màn dùng instance và token, không hard-code màu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463040"/>
            <a:ext cx="66751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60020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360 DP VÀ 412 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011680"/>
            <a:ext cx="144018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011680"/>
            <a:ext cx="1440180" cy="3200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825996" y="2011680"/>
            <a:ext cx="164820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2011680"/>
            <a:ext cx="1648206" cy="3200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02217" y="2011680"/>
            <a:ext cx="144018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217" y="2011680"/>
            <a:ext cx="1440180" cy="32004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0170413" y="2011680"/>
            <a:ext cx="1648206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413" y="2011680"/>
            <a:ext cx="1648206" cy="3200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12080" y="534924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5F55"/>
                </a:solidFill>
                <a:latin typeface="Calibri"/>
              </a:rPr>
              <a:t>S02 và S05 ở 360 dp rồi 412 dp. Bản 412 dp dựng bằng constraints nên nội dung co giãn, không cuộn ngang.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Prototype Figma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Nối cả hai app, chạy từng flow bằng Present trên Page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P4 · UI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Figma Page 03, 06 · tests/figma-proto/hotspots-v2.json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28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39496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PROTOTYPE BẢN V2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220 liên kết trên 58 khung, 17 điểm bắt đầu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Dialog huỷ đơn và từ chối đơn dạng overlay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Màn đang tải tự chuyển sau 1,2 giây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Back đúng, không màn cụt, không màn mồ côi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4864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ĐIỂM BẮT ĐẦU KHI DEMO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F1 · S02 đặt nhanh từ Trang chủ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F2 · S03 tuỳ chỉnh và mã giảm giá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F3 · S06-ERR lỗi thanh toán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F4 · S08 sửa và huỷ đơn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K1 · K01 người bán nhận đơn và chuẩn bị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11109960" cy="73152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Demo: bấm combo → thêm vào giỏ → thanh toán → đang tải → mã nhận #A-204; rồi mở app người bán nhận đơn đó.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532120"/>
            <a:ext cx="1110996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Thử link Figma bằng cửa sổ chưa đăng nhập trước khi trình bày.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Đo bằng công cụ, không ước lượng bằng mắt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P5 ·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05-P4-ui-design/05-design-decisions.md · tests/audit/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29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5,23:1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chữ nút nâu trên cam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ngưỡng WCAG 4,5:1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4630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6002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48 dp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4231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vùng bấm nhỏ nhất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0 / 217 vùng dưới 48 dp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14630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5" y="16002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14 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4231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chữ nội dung nhỏ nhất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nhãn thanh dưới 12 sp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3" y="14630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3" y="160020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3" y="24231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emoji trong giao diện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một bộ 27 icon vector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20440"/>
            <a:ext cx="676656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57600"/>
            <a:ext cx="630936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CÁCH KIỂM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Tương phản tính bằng công thức WCAG 2.2 trên giá trị màu thật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Trạng thái luôn có chữ hoặc icon đi kèm màu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Chữ và vùng bấm kiểm trên 114 khung bằng Figma Plugin API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Không có chữ nào thiếu tương phản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520440"/>
            <a:ext cx="4114800" cy="26974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365760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CHƯA KIỂM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Trình đọc màn hình, cỡ chữ hệ thống lớn, người dùng thật khiếm thị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Playwright cho prototype; usability test với người thật đã có kế hoạch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P5 ·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tests/ · 06-P5-kiem-thu-ban-giao/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30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KIỂM THỬ TỰ ĐỘNG · PLAYWRIGHT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Bản cũ: 13 / 13 test đạt, bấm theo toạ độ vùng bấm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Đồ thị flow bản v2: 7 / 7 test đạt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Đặt đơn từ Trang chủ tới Theo dõi đơn: 3 chạm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Flow 3 có lối phục hồi về giỏ hàng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4864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029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USABILITY TEST · KẾ HOẠCH (CHƯA CHẠY)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T1 Đặt Combo Tacos, lấy sau 10 phút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T2 Chọn cay, topping, nhập mã giảm giá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T3 Thanh toán MoMo lỗi, hoàn tất bằng cách khác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T4 Tìm lại đơn cũ và đặt lại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T5 Đổi giờ nhận của đơn đang làm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46320"/>
            <a:ext cx="11109960" cy="6400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Đo: tỉ lệ hoàn thành, thời gian, số chạm, lỗi, điểm dễ dùng; 3–5 sinh viên, không hướng dẫn từng bước.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4000"/>
            </a:avLst>
          </a:prstGeom>
          <a:solidFill>
            <a:srgbClr val="FC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622B14"/>
                </a:solidFill>
                <a:latin typeface="Calibri"/>
              </a:rPr>
              <a:t>Kiểm thử tự động chỉ chứng minh prototype đi đúng đường đã thiết kế; không thay usability test.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Bàn giao cho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Đặc tả đủ để lập trình viên dựng giao diện, không viết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P5 ·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06-P5-kiem-thu-ban-giao/03-flutter-handoff.md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31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TOKEN VÀ COMPONENT → FLUTTER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965960"/>
          <a:ext cx="4937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65176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Figma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Flutter</a:t>
                      </a:r>
                    </a:p>
                  </a:txBody>
                  <a:tcPr anchor="ctr" marL="91440" marR="91440">
                    <a:solidFill>
                      <a:srgbClr val="622B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color/primary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ColorScheme.primary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color/v2-selected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secondaryContainer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Chip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ChoiceChip, 48 dp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NavBar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NavigationBar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Card/Food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Card + ListTile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622B14"/>
                          </a:solidFill>
                          <a:latin typeface="Calibri"/>
                        </a:rPr>
                        <a:t>IconButton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22B14"/>
                          </a:solidFill>
                          <a:latin typeface="Calibri"/>
                        </a:rPr>
                        <a:t>IconButton 48 × 48</a:t>
                      </a:r>
                    </a:p>
                  </a:txBody>
                  <a:tcPr anchor="ctr" marL="91440" marR="91440">
                    <a:solidFill>
                      <a:srgbClr val="FFF1DE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1463040"/>
            <a:ext cx="5486400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0292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SÁU MỤC CHO MỖI MÀN (S01–S30, K01–K15)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22B14"/>
                </a:solidFill>
                <a:latin typeface="Calibri"/>
              </a:rPr>
              <a:t>Layout · Components · States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622B14"/>
                </a:solidFill>
                <a:latin typeface="Calibri"/>
              </a:rPr>
              <a:t>Tương tác · Điều hướng · Ràng buộc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480560"/>
            <a:ext cx="5486400" cy="17373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617720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HÀNH VI MÀN RỘNG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Từ 600 dp: NavigationRail, lưới 2–3 cột; từ 412 dp: Fill container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Tự chấm theo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Sáu gate của môn; kết quả tự chấm, chờ reviewer duyệt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4572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F69D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457200"/>
            <a:ext cx="1828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P5 ·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00-quy-trinh/04-quy-chuan-ux-ui.md · skills/ · 00-quy-trinh/05-TIEN-DO.md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32 / 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70408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G0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76479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764792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803D"/>
                </a:solidFill>
                <a:latin typeface="Calibri"/>
              </a:rPr>
              <a:t>Đạt 6/6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Problem statement, giả định, kế hoạch kiểm chứng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957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G1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9572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Research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514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514600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Có điều kiện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9572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Chưa có phản hồi khảo sát thật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455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G2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14553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UX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26440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264408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5 /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45536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Chưa walkthrough với người thật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9534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G3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895344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UI Concept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014215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8F5EC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4014215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5803D"/>
                </a:solidFill>
                <a:latin typeface="Calibri"/>
              </a:rPr>
              <a:t>Đạt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895344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Có 3 hướng, style guide, bản 412 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6451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G4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64515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UI Design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76402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FF1DE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764024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Có điều kiện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645152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Prototype v2 chưa chạy 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39495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22B14"/>
                </a:solidFill>
                <a:latin typeface="Segoe UI"/>
              </a:rPr>
              <a:t>G5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394959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22B14"/>
                </a:solidFill>
                <a:latin typeface="Calibri"/>
              </a:rPr>
              <a:t>Validation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513831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CE8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5513831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B91C1C"/>
                </a:solidFill>
                <a:latin typeface="Calibri"/>
              </a:rPr>
              <a:t>Chưa test người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39495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5F55"/>
                </a:solidFill>
                <a:latin typeface="Calibri"/>
              </a:rPr>
              <a:t>Cần usability test và xác nhận của 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1463040"/>
            <a:ext cx="38404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1600200"/>
            <a:ext cx="3383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THANG ĐIỂM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80% trở lên và mọi Critical đạt: Đạt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70–79%: Cần cải thiện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Dưới 70%: Cần làm lại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Critical trượt: chưa qua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023360"/>
            <a:ext cx="3840480" cy="219456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4160520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6B5F55"/>
                </a:solidFill>
                <a:latin typeface="Calibri"/>
              </a:rPr>
              <a:t>LƯU Ý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22B14"/>
                </a:solidFill>
                <a:latin typeface="Calibri"/>
              </a:rPr>
              <a:t>Gate và ngưỡng 80% là rubric nội bộ của môn, không phải chuẩn quốc tế. Contrast dựa trên WCAG 2.2. Bộ 13 skill trong thư mục skills/ chấm từng gate.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32918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622B14"/>
                </a:solidFill>
                <a:latin typeface="Segoe UI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6B5F55"/>
                </a:solidFill>
                <a:latin typeface="Calibri"/>
              </a:rPr>
              <a:t>Ăn kịp giờ nghỉ, không phải xếp hàng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207008"/>
            <a:ext cx="822960" cy="45720"/>
          </a:xfrm>
          <a:prstGeom prst="roundRect">
            <a:avLst>
              <a:gd name="adj" fmla="val 5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2823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Minh chứng: README.md · 00-quy-trinh/05-TIEN-DO.md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2823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6B5F55"/>
                </a:solidFill>
                <a:latin typeface="Calibri"/>
              </a:rPr>
              <a:t>BreakBite · 33 /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61188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622B14"/>
                </a:solidFill>
                <a:latin typeface="Segoe UI"/>
              </a:rPr>
              <a:t>AI giúp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Sinh UI ban đầu nhanh (Stitch)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Mô phỏng phỏng vấn để tạo giả thuyết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Phản biện theo Nielsen và WCAG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Ghi log, tổng hợp, soạn tài liệu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361188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622B14"/>
                </a:solidFill>
                <a:latin typeface="Segoe UI"/>
              </a:rPr>
              <a:t>Nhóm vẫn phải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10312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Xác định vấn đề, chọn persona có lý do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Tự đo lại số liệu AI nêu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Quyết định Accept, Modify, Reject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Nói rõ phần nào là dữ liệu mô phỏng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463040"/>
            <a:ext cx="361188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Còn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10312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Phản biện độc lập bằng AI khác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Khảo sát thật từ 30 sinh viên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Usability test 3–5 người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622B14"/>
                </a:solidFill>
                <a:latin typeface="Calibri"/>
              </a:rPr>
              <a:t>Chạy Present trên prototype v2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109960" cy="1188720"/>
          </a:xfrm>
          <a:prstGeom prst="roundRect">
            <a:avLst>
              <a:gd name="adj" fmla="val 10000"/>
            </a:avLst>
          </a:prstGeom>
          <a:solidFill>
            <a:srgbClr val="F6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1109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622B14"/>
                </a:solidFill>
                <a:latin typeface="Segoe UI"/>
              </a:rPr>
              <a:t>Cảm ơn thầy và các bạn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622B14"/>
                </a:solidFill>
                <a:latin typeface="Calibri"/>
              </a:rPr>
              <a:t>Hỏi đáp · Demo Figma Present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