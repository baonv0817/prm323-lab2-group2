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thoại (khoảng 60 giây): 'Trước khi làm persona, em khảo sát thị trường. Theo Momentum Works, năm 2025 người Việt chi khoảng 2,1 tỷ USD cho app giao đồ ăn, và hai app ShopeeFood, GrabFood chiếm phần lớn. Nhưng cả hai tối ưu cho giao tận nơi. Em so sánh 4 lựa chọn mà sinh viên trong trường đang có. Khoảng trống em thấy là: chưa có cách đặt trước rồi ghé quầy lấy ngay trong giờ nghỉ ngắn.'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thoại (khoảng 70 giây): 'Để ra persona, em phỏng vấn 5 sinh viên giả lập bằng AI, mỗi người khác nhau về năm học, nơi ở, ngân sách, và có cả người không thích dùng app. Mỗi người một phiên riêng, có câu hỏi buộc AI nói lý do sẽ không dùng app. Gom lại được 11 ý. Nhóm đau nhất là sinh viên ở KTX có giờ nghỉ ngắn, đó là persona chính. Mỗi insight truy được sang một yêu cầu thiết kế và một màn hình, như bảng bên phải. Hạn chế: em chưa hỏi người thật, nên đây là proto-persona; theo NN/g người dùng giả lập thường dễ đồng thuận hơn người thật. Bước tiếp là hỏi 3–5 bạn thật và bấm giờ hàng chờ.' Toàn văn phỏng vấn: ai/ai-persona-interviews.md.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vir.com.vn/vietnamese-spend-2-1-billion-on-food-delivery-apps-in-2025-145787.html"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radar.zurb.com/article/nielsen-norman-synthetic-users-were-too-shallow-to-be-useful-against-three-real-studies"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5"/>
        </a:solidFill>
      </p:bgPr>
    </p:bg>
    <p:spTree>
      <p:nvGrpSpPr>
        <p:cNvPr id="1" name=""/>
        <p:cNvGrpSpPr/>
        <p:nvPr/>
      </p:nvGrpSpPr>
      <p:grpSpPr>
        <a:xfrm>
          <a:off x="0" y="0"/>
          <a:ext cx="0" cy="0"/>
          <a:chOff x="0" y="0"/>
          <a:chExt cx="0" cy="0"/>
        </a:xfrm>
      </p:grpSpPr>
      <p:sp>
        <p:nvSpPr>
          <p:cNvPr id="2" name="Text 0"/>
          <p:cNvSpPr txBox="1"/>
          <p:nvPr/>
        </p:nvSpPr>
        <p:spPr>
          <a:xfrm>
            <a:off x="612648" y="411480"/>
            <a:ext cx="10972800" cy="274320"/>
          </a:xfrm>
          <a:prstGeom prst="rect">
            <a:avLst/>
          </a:prstGeom>
          <a:noFill/>
          <a:ln/>
        </p:spPr>
        <p:txBody>
          <a:bodyPr wrap="square" lIns="0" tIns="0" rIns="0" bIns="0" rtlCol="0" anchor="ctr"/>
          <a:lstStyle/>
          <a:p>
            <a:pPr indent="0" marL="0">
              <a:buNone/>
            </a:pPr>
            <a:r>
              <a:rPr lang="en-US" sz="1050" b="1" dirty="0">
                <a:solidFill>
                  <a:srgbClr val="D94E28"/>
                </a:solidFill>
                <a:latin typeface="Plus Jakarta Sans" pitchFamily="34" charset="0"/>
                <a:ea typeface="Plus Jakarta Sans" pitchFamily="34" charset="-122"/>
                <a:cs typeface="Plus Jakarta Sans" pitchFamily="34" charset="-120"/>
              </a:rPr>
              <a:t>R1 • MINH CHỨNG: ux/research.md mục 1</a:t>
            </a:r>
            <a:endParaRPr lang="en-US" sz="1050" dirty="0"/>
          </a:p>
        </p:txBody>
      </p:sp>
      <p:sp>
        <p:nvSpPr>
          <p:cNvPr id="3" name="Text 1"/>
          <p:cNvSpPr txBox="1"/>
          <p:nvPr/>
        </p:nvSpPr>
        <p:spPr>
          <a:xfrm>
            <a:off x="612648" y="713232"/>
            <a:ext cx="10972800" cy="502920"/>
          </a:xfrm>
          <a:prstGeom prst="rect">
            <a:avLst/>
          </a:prstGeom>
          <a:noFill/>
          <a:ln/>
        </p:spPr>
        <p:txBody>
          <a:bodyPr wrap="square" lIns="0" tIns="0" rIns="0" bIns="0" rtlCol="0" anchor="ctr"/>
          <a:lstStyle/>
          <a:p>
            <a:pPr indent="0" marL="0">
              <a:buNone/>
            </a:pPr>
            <a:r>
              <a:rPr lang="en-US" sz="2550" b="1" dirty="0">
                <a:solidFill>
                  <a:srgbClr val="18181B"/>
                </a:solidFill>
                <a:latin typeface="Plus Jakarta Sans" pitchFamily="34" charset="0"/>
                <a:ea typeface="Plus Jakarta Sans" pitchFamily="34" charset="-122"/>
                <a:cs typeface="Plus Jakarta Sans" pitchFamily="34" charset="-120"/>
              </a:rPr>
              <a:t>Khảo Sát Thị Trường &amp; Đối Thủ</a:t>
            </a:r>
            <a:endParaRPr lang="en-US" sz="2550" dirty="0"/>
          </a:p>
        </p:txBody>
      </p:sp>
      <p:sp>
        <p:nvSpPr>
          <p:cNvPr id="5" name="Shape 2"/>
          <p:cNvSpPr/>
          <p:nvPr/>
        </p:nvSpPr>
        <p:spPr>
          <a:xfrm>
            <a:off x="612648" y="1508760"/>
            <a:ext cx="3291840" cy="2148840"/>
          </a:xfrm>
          <a:prstGeom prst="roundRect">
            <a:avLst>
              <a:gd name="adj" fmla="val 3404"/>
            </a:avLst>
          </a:prstGeom>
          <a:solidFill>
            <a:srgbClr val="FFFFFF"/>
          </a:solidFill>
          <a:ln w="9525">
            <a:solidFill>
              <a:srgbClr val="E7E2DA"/>
            </a:solidFill>
            <a:prstDash val="solid"/>
          </a:ln>
        </p:spPr>
      </p:sp>
      <p:sp>
        <p:nvSpPr>
          <p:cNvPr id="6" name="Text 3"/>
          <p:cNvSpPr txBox="1"/>
          <p:nvPr/>
        </p:nvSpPr>
        <p:spPr>
          <a:xfrm>
            <a:off x="822960" y="1691640"/>
            <a:ext cx="2926080" cy="731520"/>
          </a:xfrm>
          <a:prstGeom prst="rect">
            <a:avLst/>
          </a:prstGeom>
          <a:noFill/>
          <a:ln/>
        </p:spPr>
        <p:txBody>
          <a:bodyPr wrap="square" lIns="0" tIns="0" rIns="0" bIns="0" rtlCol="0" anchor="ctr"/>
          <a:lstStyle/>
          <a:p>
            <a:pPr indent="0" marL="0">
              <a:buNone/>
            </a:pPr>
            <a:r>
              <a:rPr lang="en-US" sz="4000" b="1" dirty="0">
                <a:solidFill>
                  <a:srgbClr val="D94E28"/>
                </a:solidFill>
                <a:latin typeface="Plus Jakarta Sans" pitchFamily="34" charset="0"/>
                <a:ea typeface="Plus Jakarta Sans" pitchFamily="34" charset="-122"/>
                <a:cs typeface="Plus Jakarta Sans" pitchFamily="34" charset="-120"/>
              </a:rPr>
              <a:t>2,1 tỷ USD</a:t>
            </a:r>
            <a:endParaRPr lang="en-US" sz="4000" dirty="0"/>
          </a:p>
        </p:txBody>
      </p:sp>
      <p:sp>
        <p:nvSpPr>
          <p:cNvPr id="7" name="Text 4"/>
          <p:cNvSpPr txBox="1"/>
          <p:nvPr/>
        </p:nvSpPr>
        <p:spPr>
          <a:xfrm>
            <a:off x="822960" y="2468880"/>
            <a:ext cx="2926080" cy="868680"/>
          </a:xfrm>
          <a:prstGeom prst="rect">
            <a:avLst/>
          </a:prstGeom>
          <a:noFill/>
          <a:ln/>
        </p:spPr>
        <p:txBody>
          <a:bodyPr wrap="square" lIns="0" tIns="0" rIns="0" bIns="0" rtlCol="0" anchor="t"/>
          <a:lstStyle/>
          <a:p>
            <a:pPr indent="0" marL="0">
              <a:buNone/>
            </a:pPr>
            <a:r>
              <a:rPr lang="en-US" sz="1300" dirty="0">
                <a:solidFill>
                  <a:srgbClr val="3F3F46"/>
                </a:solidFill>
                <a:latin typeface="Plus Jakarta Sans" pitchFamily="34" charset="0"/>
                <a:ea typeface="Plus Jakarta Sans" pitchFamily="34" charset="-122"/>
                <a:cs typeface="Plus Jakarta Sans" pitchFamily="34" charset="-120"/>
              </a:rPr>
              <a:t>chi cho giao đồ ăn qua app tại Việt Nam năm 2025 (+19%). ShopeeFood và GrabFood mỗi bên khoảng 48%.</a:t>
            </a:r>
            <a:endParaRPr lang="en-US" sz="1300" dirty="0"/>
          </a:p>
        </p:txBody>
      </p:sp>
      <p:sp>
        <p:nvSpPr>
          <p:cNvPr id="8" name="Text 5">
            <a:hlinkClick r:id="rId1" tooltip=""/>
          </p:cNvPr>
          <p:cNvSpPr txBox="1"/>
          <p:nvPr/>
        </p:nvSpPr>
        <p:spPr>
          <a:xfrm>
            <a:off x="822960" y="3310128"/>
            <a:ext cx="2926080" cy="274320"/>
          </a:xfrm>
          <a:prstGeom prst="rect">
            <a:avLst/>
          </a:prstGeom>
          <a:noFill/>
          <a:ln/>
        </p:spPr>
        <p:txBody>
          <a:bodyPr wrap="square" lIns="0" tIns="0" rIns="0" bIns="0" rtlCol="0" anchor="ctr"/>
          <a:lstStyle/>
          <a:p>
            <a:pPr indent="0" marL="0">
              <a:buNone/>
            </a:pPr>
            <a:r>
              <a:rPr lang="en-US" sz="900" u="sng" dirty="0">
                <a:solidFill>
                  <a:srgbClr val="0F766E"/>
                </a:solidFill>
                <a:latin typeface="JetBrains Mono" pitchFamily="34" charset="0"/>
                <a:ea typeface="JetBrains Mono" pitchFamily="34" charset="-122"/>
                <a:cs typeface="JetBrains Mono" pitchFamily="34" charset="-120"/>
                <a:hlinkClick r:id="rId1" invalidUrl="" action="" tgtFrame="" tooltip="" history="1" highlightClick="0" endSnd="0">
                  <a:extLst>
                    <a:ext uri="{A12FA001-AC4F-418D-AE19-62706E023703}">
                      <ahyp:hlinkClr xmlns:ahyp="http://schemas.microsoft.com/office/drawing/2018/hyperlinkcolor" val="tx"/>
                    </a:ext>
                  </a:extLst>
                </a:hlinkClick>
              </a:rPr>
              <a:t>Nguồn: Momentum Works qua VIR, 01/2026</a:t>
            </a:r>
            <a:endParaRPr lang="en-US" sz="900" dirty="0"/>
          </a:p>
        </p:txBody>
      </p:sp>
      <p:sp>
        <p:nvSpPr>
          <p:cNvPr id="9" name="Shape 6"/>
          <p:cNvSpPr/>
          <p:nvPr/>
        </p:nvSpPr>
        <p:spPr>
          <a:xfrm>
            <a:off x="612648" y="3840480"/>
            <a:ext cx="3291840" cy="2331720"/>
          </a:xfrm>
          <a:prstGeom prst="roundRect">
            <a:avLst>
              <a:gd name="adj" fmla="val 3137"/>
            </a:avLst>
          </a:prstGeom>
          <a:solidFill>
            <a:srgbClr val="FFFFFF"/>
          </a:solidFill>
          <a:ln w="9525">
            <a:solidFill>
              <a:srgbClr val="E7E2DA"/>
            </a:solidFill>
            <a:prstDash val="solid"/>
          </a:ln>
        </p:spPr>
      </p:sp>
      <p:sp>
        <p:nvSpPr>
          <p:cNvPr id="10" name="Text 7"/>
          <p:cNvSpPr txBox="1"/>
          <p:nvPr/>
        </p:nvSpPr>
        <p:spPr>
          <a:xfrm>
            <a:off x="822960" y="4005072"/>
            <a:ext cx="2926080" cy="320040"/>
          </a:xfrm>
          <a:prstGeom prst="rect">
            <a:avLst/>
          </a:prstGeom>
          <a:noFill/>
          <a:ln/>
        </p:spPr>
        <p:txBody>
          <a:bodyPr wrap="square" lIns="0" tIns="0" rIns="0" bIns="0" rtlCol="0" anchor="ctr"/>
          <a:lstStyle/>
          <a:p>
            <a:pPr indent="0" marL="0">
              <a:buNone/>
            </a:pPr>
            <a:r>
              <a:rPr lang="en-US" sz="1500" b="1" dirty="0">
                <a:solidFill>
                  <a:srgbClr val="0F766E"/>
                </a:solidFill>
                <a:latin typeface="Plus Jakarta Sans" pitchFamily="34" charset="0"/>
                <a:ea typeface="Plus Jakarta Sans" pitchFamily="34" charset="-122"/>
                <a:cs typeface="Plus Jakarta Sans" pitchFamily="34" charset="-120"/>
              </a:rPr>
              <a:t>Khoảng trống thị trường</a:t>
            </a:r>
            <a:endParaRPr lang="en-US" sz="1500" dirty="0"/>
          </a:p>
        </p:txBody>
      </p:sp>
      <p:sp>
        <p:nvSpPr>
          <p:cNvPr id="11" name="Text 8"/>
          <p:cNvSpPr txBox="1"/>
          <p:nvPr/>
        </p:nvSpPr>
        <p:spPr>
          <a:xfrm>
            <a:off x="822960" y="4370832"/>
            <a:ext cx="2926080" cy="1097280"/>
          </a:xfrm>
          <a:prstGeom prst="rect">
            <a:avLst/>
          </a:prstGeom>
          <a:noFill/>
          <a:ln/>
        </p:spPr>
        <p:txBody>
          <a:bodyPr wrap="square" lIns="0" tIns="0" rIns="0" bIns="0" rtlCol="0" anchor="t"/>
          <a:lstStyle/>
          <a:p>
            <a:pPr indent="0" marL="0">
              <a:buNone/>
            </a:pPr>
            <a:r>
              <a:rPr lang="en-US" sz="1300" dirty="0">
                <a:solidFill>
                  <a:srgbClr val="3F3F46"/>
                </a:solidFill>
                <a:latin typeface="Plus Jakarta Sans" pitchFamily="34" charset="0"/>
                <a:ea typeface="Plus Jakarta Sans" pitchFamily="34" charset="-122"/>
                <a:cs typeface="Plus Jakarta Sans" pitchFamily="34" charset="-120"/>
              </a:rPr>
              <a:t>App lớn tối ưu cho giao tận nơi. Chưa có lựa chọn "đặt trước – ghé quầy lấy" trong trường cho giờ nghỉ ngắn.</a:t>
            </a:r>
            <a:endParaRPr lang="en-US" sz="1300" dirty="0"/>
          </a:p>
        </p:txBody>
      </p:sp>
      <p:sp>
        <p:nvSpPr>
          <p:cNvPr id="12" name="Text 9"/>
          <p:cNvSpPr txBox="1"/>
          <p:nvPr/>
        </p:nvSpPr>
        <p:spPr>
          <a:xfrm>
            <a:off x="822960" y="5760720"/>
            <a:ext cx="2926080" cy="274320"/>
          </a:xfrm>
          <a:prstGeom prst="rect">
            <a:avLst/>
          </a:prstGeom>
          <a:noFill/>
          <a:ln/>
        </p:spPr>
        <p:txBody>
          <a:bodyPr wrap="square" lIns="0" tIns="0" rIns="0" bIns="0" rtlCol="0" anchor="ctr"/>
          <a:lstStyle/>
          <a:p>
            <a:pPr indent="0" marL="0">
              <a:buNone/>
            </a:pPr>
            <a:r>
              <a:rPr lang="en-US" sz="900" dirty="0">
                <a:solidFill>
                  <a:srgbClr val="D94E28"/>
                </a:solidFill>
                <a:latin typeface="JetBrains Mono" pitchFamily="34" charset="0"/>
                <a:ea typeface="JetBrains Mono" pitchFamily="34" charset="-122"/>
                <a:cs typeface="JetBrains Mono" pitchFamily="34" charset="-120"/>
              </a:rPr>
              <a:t>Củng cố bởi phỏng vấn giả lập A1, A5</a:t>
            </a:r>
            <a:endParaRPr lang="en-US" sz="9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114800" y="1508760"/>
          <a:ext cx="7461504" cy="914400"/>
        </p:xfrm>
        <a:graphic>
          <a:graphicData uri="http://schemas.openxmlformats.org/drawingml/2006/table">
            <a:tbl>
              <a:tblPr/>
              <a:tblGrid>
                <a:gridCol w="1554480"/>
                <a:gridCol w="1600200"/>
                <a:gridCol w="1417320"/>
                <a:gridCol w="1417320"/>
                <a:gridCol w="1472184"/>
              </a:tblGrid>
              <a:tr h="411480">
                <a:tc>
                  <a:txBody>
                    <a:bodyP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Tiêu chí</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18181B"/>
                    </a:solidFill>
                  </a:tcPr>
                </a:tc>
                <a:tc>
                  <a:txBody>
                    <a:bodyP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GrabFood / ShopeeFood</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18181B"/>
                    </a:solidFill>
                  </a:tcPr>
                </a:tc>
                <a:tc>
                  <a:txBody>
                    <a:bodyP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Căn tin trực tiếp</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18181B"/>
                    </a:solidFill>
                  </a:tcPr>
                </a:tc>
                <a:tc>
                  <a:txBody>
                    <a:bodyP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Web FtaCode</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18181B"/>
                    </a:solidFill>
                  </a:tcPr>
                </a:tc>
                <a:tc>
                  <a:txBody>
                    <a:bodyP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FtaCode Mobile</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18181B"/>
                    </a:solidFill>
                  </a:tcPr>
                </a:tc>
              </a:tr>
              <a:tr h="566928">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Cách nhận món</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Giao tận nơi</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Xếp hàng tại quầy</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Giao hoặc nhận theo giờ mở</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Plus Jakarta Sans" pitchFamily="34" charset="0"/>
                          <a:ea typeface="Plus Jakarta Sans" pitchFamily="34" charset="-122"/>
                          <a:cs typeface="Plus Jakarta Sans" pitchFamily="34" charset="-120"/>
                        </a:rPr>
                        <a:t>Đặt trước, nhận tại quầy</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Phí</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Phí giao + phí dịch vụ, đổi theo khu vực và giờ</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Không</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Có phí giao khi chọn giao</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Plus Jakarta Sans" pitchFamily="34" charset="0"/>
                          <a:ea typeface="Plus Jakarta Sans" pitchFamily="34" charset="-122"/>
                          <a:cs typeface="Plus Jakarta Sans" pitchFamily="34" charset="-120"/>
                        </a:rPr>
                        <a:t>Không phí giao</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Vào tòa nhà / lab</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Không, phải ra cổng nhận (A1, A5)</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Plus Jakarta Sans" pitchFamily="34" charset="0"/>
                          <a:ea typeface="Plus Jakarta Sans" pitchFamily="34" charset="-122"/>
                          <a:cs typeface="Plus Jakarta Sans" pitchFamily="34" charset="-120"/>
                        </a:rPr>
                        <a:t>Không cần, ghé quầy</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Theo dõi đơn</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Theo dõi tài xế</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Nghe gọi số</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Tra theo SĐT / mã đơn</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Plus Jakarta Sans" pitchFamily="34" charset="0"/>
                          <a:ea typeface="Plus Jakarta Sans" pitchFamily="34" charset="-122"/>
                          <a:cs typeface="Plus Jakarta Sans" pitchFamily="34" charset="-120"/>
                        </a:rPr>
                        <a:t>Tiến trình 4 bước + mã</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Điểm yếu với persona</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Không vào tòa nhà; phí cộng thêm (A2)</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Hàng chờ đúng giờ nghỉ (A1, A5)</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Bố cục cho desktop</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D94E28"/>
                          </a:solidFill>
                          <a:latin typeface="Plus Jakarta Sans" pitchFamily="34" charset="0"/>
                          <a:ea typeface="Plus Jakarta Sans" pitchFamily="34" charset="-122"/>
                          <a:cs typeface="Plus Jakarta Sans" pitchFamily="34" charset="-120"/>
                        </a:rPr>
                        <a:t>Rủi ro: ngại cài app (A3)</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r>
            </a:tbl>
          </a:graphicData>
        </a:graphic>
      </p:graphicFrame>
      <p:sp>
        <p:nvSpPr>
          <p:cNvPr id="14" name="Text 10"/>
          <p:cNvSpPr txBox="1"/>
          <p:nvPr/>
        </p:nvSpPr>
        <p:spPr>
          <a:xfrm>
            <a:off x="4114800" y="4983480"/>
            <a:ext cx="7461504" cy="548640"/>
          </a:xfrm>
          <a:prstGeom prst="rect">
            <a:avLst/>
          </a:prstGeom>
          <a:noFill/>
          <a:ln/>
        </p:spPr>
        <p:txBody>
          <a:bodyPr wrap="square" lIns="0" tIns="0" rIns="0" bIns="0" rtlCol="0" anchor="ctr"/>
          <a:lstStyle/>
          <a:p>
            <a:pPr indent="0" marL="0">
              <a:buNone/>
            </a:pPr>
            <a:r>
              <a:rPr lang="en-US" sz="1200" i="1" dirty="0">
                <a:solidFill>
                  <a:srgbClr val="3F3F46"/>
                </a:solidFill>
                <a:latin typeface="Plus Jakarta Sans" pitchFamily="34" charset="0"/>
                <a:ea typeface="Plus Jakarta Sans" pitchFamily="34" charset="-122"/>
                <a:cs typeface="Plus Jakarta Sans" pitchFamily="34" charset="-120"/>
              </a:rPr>
              <a:t>Cột "Web FtaCode" lấy từ source frontend thật của quán. Mã A1–A5 là nhân vật trong phỏng vấn giả lập bằng AI (ai/ai-persona-interviews.md).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5"/>
        </a:solidFill>
      </p:bgPr>
    </p:bg>
    <p:spTree>
      <p:nvGrpSpPr>
        <p:cNvPr id="1" name=""/>
        <p:cNvGrpSpPr/>
        <p:nvPr/>
      </p:nvGrpSpPr>
      <p:grpSpPr>
        <a:xfrm>
          <a:off x="0" y="0"/>
          <a:ext cx="0" cy="0"/>
          <a:chOff x="0" y="0"/>
          <a:chExt cx="0" cy="0"/>
        </a:xfrm>
      </p:grpSpPr>
      <p:sp>
        <p:nvSpPr>
          <p:cNvPr id="2" name="Text 0"/>
          <p:cNvSpPr txBox="1"/>
          <p:nvPr/>
        </p:nvSpPr>
        <p:spPr>
          <a:xfrm>
            <a:off x="612648" y="411480"/>
            <a:ext cx="10972800" cy="274320"/>
          </a:xfrm>
          <a:prstGeom prst="rect">
            <a:avLst/>
          </a:prstGeom>
          <a:noFill/>
          <a:ln/>
        </p:spPr>
        <p:txBody>
          <a:bodyPr wrap="square" lIns="0" tIns="0" rIns="0" bIns="0" rtlCol="0" anchor="ctr"/>
          <a:lstStyle/>
          <a:p>
            <a:pPr indent="0" marL="0">
              <a:buNone/>
            </a:pPr>
            <a:r>
              <a:rPr lang="en-US" sz="1050" b="1" dirty="0">
                <a:solidFill>
                  <a:srgbClr val="D94E28"/>
                </a:solidFill>
                <a:latin typeface="Plus Jakarta Sans" pitchFamily="34" charset="0"/>
                <a:ea typeface="Plus Jakarta Sans" pitchFamily="34" charset="-122"/>
                <a:cs typeface="Plus Jakarta Sans" pitchFamily="34" charset="-120"/>
              </a:rPr>
              <a:t>R2 • MINH CHỨNG: ux/research.md mục 2–4 · ai/ai-design-log.md Phụ lục B</a:t>
            </a:r>
            <a:endParaRPr lang="en-US" sz="1050" dirty="0"/>
          </a:p>
        </p:txBody>
      </p:sp>
      <p:sp>
        <p:nvSpPr>
          <p:cNvPr id="3" name="Text 1"/>
          <p:cNvSpPr txBox="1"/>
          <p:nvPr/>
        </p:nvSpPr>
        <p:spPr>
          <a:xfrm>
            <a:off x="612648" y="713232"/>
            <a:ext cx="10972800" cy="502920"/>
          </a:xfrm>
          <a:prstGeom prst="rect">
            <a:avLst/>
          </a:prstGeom>
          <a:noFill/>
          <a:ln/>
        </p:spPr>
        <p:txBody>
          <a:bodyPr wrap="square" lIns="0" tIns="0" rIns="0" bIns="0" rtlCol="0" anchor="ctr"/>
          <a:lstStyle/>
          <a:p>
            <a:pPr indent="0" marL="0">
              <a:buNone/>
            </a:pPr>
            <a:r>
              <a:rPr lang="en-US" sz="2550" b="1" dirty="0">
                <a:solidFill>
                  <a:srgbClr val="18181B"/>
                </a:solidFill>
                <a:latin typeface="Plus Jakarta Sans" pitchFamily="34" charset="0"/>
                <a:ea typeface="Plus Jakarta Sans" pitchFamily="34" charset="-122"/>
                <a:cs typeface="Plus Jakarta Sans" pitchFamily="34" charset="-120"/>
              </a:rPr>
              <a:t>Từ Phỏng Vấn Đến Persona</a:t>
            </a:r>
            <a:endParaRPr lang="en-US" sz="2550" dirty="0"/>
          </a:p>
        </p:txBody>
      </p:sp>
      <p:sp>
        <p:nvSpPr>
          <p:cNvPr id="5" name="Shape 2"/>
          <p:cNvSpPr/>
          <p:nvPr/>
        </p:nvSpPr>
        <p:spPr>
          <a:xfrm>
            <a:off x="612648" y="1508760"/>
            <a:ext cx="3931920" cy="1005840"/>
          </a:xfrm>
          <a:prstGeom prst="roundRect">
            <a:avLst>
              <a:gd name="adj" fmla="val 7273"/>
            </a:avLst>
          </a:prstGeom>
          <a:solidFill>
            <a:srgbClr val="FFFFFF"/>
          </a:solidFill>
          <a:ln w="9525">
            <a:solidFill>
              <a:srgbClr val="E7E2DA"/>
            </a:solidFill>
            <a:prstDash val="solid"/>
          </a:ln>
        </p:spPr>
      </p:sp>
      <p:sp>
        <p:nvSpPr>
          <p:cNvPr id="6" name="Text 3"/>
          <p:cNvSpPr txBox="1"/>
          <p:nvPr/>
        </p:nvSpPr>
        <p:spPr>
          <a:xfrm>
            <a:off x="777240" y="1508760"/>
            <a:ext cx="731520" cy="1005840"/>
          </a:xfrm>
          <a:prstGeom prst="rect">
            <a:avLst/>
          </a:prstGeom>
          <a:noFill/>
          <a:ln/>
        </p:spPr>
        <p:txBody>
          <a:bodyPr wrap="square" lIns="0" tIns="0" rIns="0" bIns="0" rtlCol="0" anchor="ctr"/>
          <a:lstStyle/>
          <a:p>
            <a:pPr algn="ctr" indent="0" marL="0">
              <a:buNone/>
            </a:pPr>
            <a:r>
              <a:rPr lang="en-US" sz="3000" b="1" dirty="0">
                <a:solidFill>
                  <a:srgbClr val="D94E28"/>
                </a:solidFill>
                <a:latin typeface="Plus Jakarta Sans" pitchFamily="34" charset="0"/>
                <a:ea typeface="Plus Jakarta Sans" pitchFamily="34" charset="-122"/>
                <a:cs typeface="Plus Jakarta Sans" pitchFamily="34" charset="-120"/>
              </a:rPr>
              <a:t>5</a:t>
            </a:r>
            <a:endParaRPr lang="en-US" sz="3000" dirty="0"/>
          </a:p>
        </p:txBody>
      </p:sp>
      <p:sp>
        <p:nvSpPr>
          <p:cNvPr id="7" name="Text 4"/>
          <p:cNvSpPr txBox="1"/>
          <p:nvPr/>
        </p:nvSpPr>
        <p:spPr>
          <a:xfrm>
            <a:off x="1600200" y="1508760"/>
            <a:ext cx="2834640" cy="1005840"/>
          </a:xfrm>
          <a:prstGeom prst="rect">
            <a:avLst/>
          </a:prstGeom>
          <a:noFill/>
          <a:ln/>
        </p:spPr>
        <p:txBody>
          <a:bodyPr wrap="square" lIns="0" tIns="0" rIns="0" bIns="0" rtlCol="0" anchor="ctr"/>
          <a:lstStyle/>
          <a:p>
            <a:pPr indent="0" marL="0">
              <a:buNone/>
            </a:pPr>
            <a:r>
              <a:rPr lang="en-US" sz="1500" b="1" dirty="0">
                <a:solidFill>
                  <a:srgbClr val="18181B"/>
                </a:solidFill>
                <a:latin typeface="Plus Jakarta Sans" pitchFamily="34" charset="0"/>
                <a:ea typeface="Plus Jakarta Sans" pitchFamily="34" charset="-122"/>
                <a:cs typeface="Plus Jakarta Sans" pitchFamily="34" charset="-120"/>
              </a:rPr>
              <a:t>Phỏng vấn AI giả lập</a:t>
            </a:r>
            <a:endParaRPr lang="en-US" sz="1500" dirty="0"/>
          </a:p>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5 hồ sơ khác nhau, mỗi người một phiên, 10 câu</a:t>
            </a:r>
            <a:endParaRPr lang="en-US" sz="1500" dirty="0"/>
          </a:p>
        </p:txBody>
      </p:sp>
      <p:sp>
        <p:nvSpPr>
          <p:cNvPr id="8" name="Shape 5"/>
          <p:cNvSpPr/>
          <p:nvPr/>
        </p:nvSpPr>
        <p:spPr>
          <a:xfrm>
            <a:off x="612648" y="2679192"/>
            <a:ext cx="3931920" cy="1005840"/>
          </a:xfrm>
          <a:prstGeom prst="roundRect">
            <a:avLst>
              <a:gd name="adj" fmla="val 7273"/>
            </a:avLst>
          </a:prstGeom>
          <a:solidFill>
            <a:srgbClr val="FFFFFF"/>
          </a:solidFill>
          <a:ln w="9525">
            <a:solidFill>
              <a:srgbClr val="E7E2DA"/>
            </a:solidFill>
            <a:prstDash val="solid"/>
          </a:ln>
        </p:spPr>
      </p:sp>
      <p:sp>
        <p:nvSpPr>
          <p:cNvPr id="9" name="Text 6"/>
          <p:cNvSpPr txBox="1"/>
          <p:nvPr/>
        </p:nvSpPr>
        <p:spPr>
          <a:xfrm>
            <a:off x="777240" y="2679192"/>
            <a:ext cx="731520" cy="1005840"/>
          </a:xfrm>
          <a:prstGeom prst="rect">
            <a:avLst/>
          </a:prstGeom>
          <a:noFill/>
          <a:ln/>
        </p:spPr>
        <p:txBody>
          <a:bodyPr wrap="square" lIns="0" tIns="0" rIns="0" bIns="0" rtlCol="0" anchor="ctr"/>
          <a:lstStyle/>
          <a:p>
            <a:pPr algn="ctr" indent="0" marL="0">
              <a:buNone/>
            </a:pPr>
            <a:r>
              <a:rPr lang="en-US" sz="3000" b="1" dirty="0">
                <a:solidFill>
                  <a:srgbClr val="0F766E"/>
                </a:solidFill>
                <a:latin typeface="Plus Jakarta Sans" pitchFamily="34" charset="0"/>
                <a:ea typeface="Plus Jakarta Sans" pitchFamily="34" charset="-122"/>
                <a:cs typeface="Plus Jakarta Sans" pitchFamily="34" charset="-120"/>
              </a:rPr>
              <a:t>11</a:t>
            </a:r>
            <a:endParaRPr lang="en-US" sz="3000" dirty="0"/>
          </a:p>
        </p:txBody>
      </p:sp>
      <p:sp>
        <p:nvSpPr>
          <p:cNvPr id="10" name="Text 7"/>
          <p:cNvSpPr txBox="1"/>
          <p:nvPr/>
        </p:nvSpPr>
        <p:spPr>
          <a:xfrm>
            <a:off x="1600200" y="2679192"/>
            <a:ext cx="2834640" cy="1005840"/>
          </a:xfrm>
          <a:prstGeom prst="rect">
            <a:avLst/>
          </a:prstGeom>
          <a:noFill/>
          <a:ln/>
        </p:spPr>
        <p:txBody>
          <a:bodyPr wrap="square" lIns="0" tIns="0" rIns="0" bIns="0" rtlCol="0" anchor="ctr"/>
          <a:lstStyle/>
          <a:p>
            <a:pPr indent="0" marL="0">
              <a:buNone/>
            </a:pPr>
            <a:r>
              <a:rPr lang="en-US" sz="1500" b="1" dirty="0">
                <a:solidFill>
                  <a:srgbClr val="18181B"/>
                </a:solidFill>
                <a:latin typeface="Plus Jakarta Sans" pitchFamily="34" charset="0"/>
                <a:ea typeface="Plus Jakarta Sans" pitchFamily="34" charset="-122"/>
                <a:cs typeface="Plus Jakarta Sans" pitchFamily="34" charset="-120"/>
              </a:rPr>
              <a:t>Ý gom trong affinity map</a:t>
            </a:r>
            <a:endParaRPr lang="en-US" sz="1500" dirty="0"/>
          </a:p>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Đếm số nhân vật nhắc tới mỗi ý</a:t>
            </a:r>
            <a:endParaRPr lang="en-US" sz="1500" dirty="0"/>
          </a:p>
        </p:txBody>
      </p:sp>
      <p:sp>
        <p:nvSpPr>
          <p:cNvPr id="11" name="Shape 8"/>
          <p:cNvSpPr/>
          <p:nvPr/>
        </p:nvSpPr>
        <p:spPr>
          <a:xfrm>
            <a:off x="612648" y="3849624"/>
            <a:ext cx="3931920" cy="1005840"/>
          </a:xfrm>
          <a:prstGeom prst="roundRect">
            <a:avLst>
              <a:gd name="adj" fmla="val 7273"/>
            </a:avLst>
          </a:prstGeom>
          <a:solidFill>
            <a:srgbClr val="FFFFFF"/>
          </a:solidFill>
          <a:ln w="9525">
            <a:solidFill>
              <a:srgbClr val="E7E2DA"/>
            </a:solidFill>
            <a:prstDash val="solid"/>
          </a:ln>
        </p:spPr>
      </p:sp>
      <p:sp>
        <p:nvSpPr>
          <p:cNvPr id="12" name="Text 9"/>
          <p:cNvSpPr txBox="1"/>
          <p:nvPr/>
        </p:nvSpPr>
        <p:spPr>
          <a:xfrm>
            <a:off x="777240" y="3849624"/>
            <a:ext cx="731520" cy="1005840"/>
          </a:xfrm>
          <a:prstGeom prst="rect">
            <a:avLst/>
          </a:prstGeom>
          <a:noFill/>
          <a:ln/>
        </p:spPr>
        <p:txBody>
          <a:bodyPr wrap="square" lIns="0" tIns="0" rIns="0" bIns="0" rtlCol="0" anchor="ctr"/>
          <a:lstStyle/>
          <a:p>
            <a:pPr algn="ctr" indent="0" marL="0">
              <a:buNone/>
            </a:pPr>
            <a:r>
              <a:rPr lang="en-US" sz="3000" b="1" dirty="0">
                <a:solidFill>
                  <a:srgbClr val="D94E28"/>
                </a:solidFill>
                <a:latin typeface="Plus Jakarta Sans" pitchFamily="34" charset="0"/>
                <a:ea typeface="Plus Jakarta Sans" pitchFamily="34" charset="-122"/>
                <a:cs typeface="Plus Jakarta Sans" pitchFamily="34" charset="-120"/>
              </a:rPr>
              <a:t>1</a:t>
            </a:r>
            <a:endParaRPr lang="en-US" sz="3000" dirty="0"/>
          </a:p>
        </p:txBody>
      </p:sp>
      <p:sp>
        <p:nvSpPr>
          <p:cNvPr id="13" name="Text 10"/>
          <p:cNvSpPr txBox="1"/>
          <p:nvPr/>
        </p:nvSpPr>
        <p:spPr>
          <a:xfrm>
            <a:off x="1600200" y="3849624"/>
            <a:ext cx="2834640" cy="1005840"/>
          </a:xfrm>
          <a:prstGeom prst="rect">
            <a:avLst/>
          </a:prstGeom>
          <a:noFill/>
          <a:ln/>
        </p:spPr>
        <p:txBody>
          <a:bodyPr wrap="square" lIns="0" tIns="0" rIns="0" bIns="0" rtlCol="0" anchor="ctr"/>
          <a:lstStyle/>
          <a:p>
            <a:pPr indent="0" marL="0">
              <a:buNone/>
            </a:pPr>
            <a:r>
              <a:rPr lang="en-US" sz="1500" b="1" dirty="0">
                <a:solidFill>
                  <a:srgbClr val="18181B"/>
                </a:solidFill>
                <a:latin typeface="Plus Jakarta Sans" pitchFamily="34" charset="0"/>
                <a:ea typeface="Plus Jakarta Sans" pitchFamily="34" charset="-122"/>
                <a:cs typeface="Plus Jakarta Sans" pitchFamily="34" charset="-120"/>
              </a:rPr>
              <a:t>Persona chính</a:t>
            </a:r>
            <a:endParaRPr lang="en-US" sz="1500" dirty="0"/>
          </a:p>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SV ở KTX, giờ nghỉ ngắn (A1 + A5)</a:t>
            </a:r>
            <a:endParaRPr lang="en-US" sz="1500" dirty="0"/>
          </a:p>
        </p:txBody>
      </p:sp>
      <p:sp>
        <p:nvSpPr>
          <p:cNvPr id="14" name="Shape 11"/>
          <p:cNvSpPr/>
          <p:nvPr/>
        </p:nvSpPr>
        <p:spPr>
          <a:xfrm>
            <a:off x="612648" y="5020056"/>
            <a:ext cx="3931920" cy="1005840"/>
          </a:xfrm>
          <a:prstGeom prst="roundRect">
            <a:avLst>
              <a:gd name="adj" fmla="val 7273"/>
            </a:avLst>
          </a:prstGeom>
          <a:solidFill>
            <a:srgbClr val="FFFFFF"/>
          </a:solidFill>
          <a:ln w="9525">
            <a:solidFill>
              <a:srgbClr val="E7E2DA"/>
            </a:solidFill>
            <a:prstDash val="solid"/>
          </a:ln>
        </p:spPr>
      </p:sp>
      <p:sp>
        <p:nvSpPr>
          <p:cNvPr id="15" name="Text 12"/>
          <p:cNvSpPr txBox="1"/>
          <p:nvPr/>
        </p:nvSpPr>
        <p:spPr>
          <a:xfrm>
            <a:off x="777240" y="5020056"/>
            <a:ext cx="731520" cy="1005840"/>
          </a:xfrm>
          <a:prstGeom prst="rect">
            <a:avLst/>
          </a:prstGeom>
          <a:noFill/>
          <a:ln/>
        </p:spPr>
        <p:txBody>
          <a:bodyPr wrap="square" lIns="0" tIns="0" rIns="0" bIns="0" rtlCol="0" anchor="ctr"/>
          <a:lstStyle/>
          <a:p>
            <a:pPr algn="ctr" indent="0" marL="0">
              <a:buNone/>
            </a:pPr>
            <a:r>
              <a:rPr lang="en-US" sz="3000" b="1" dirty="0">
                <a:solidFill>
                  <a:srgbClr val="D94E28"/>
                </a:solidFill>
                <a:latin typeface="Plus Jakarta Sans" pitchFamily="34" charset="0"/>
                <a:ea typeface="Plus Jakarta Sans" pitchFamily="34" charset="-122"/>
                <a:cs typeface="Plus Jakarta Sans" pitchFamily="34" charset="-120"/>
              </a:rPr>
              <a:t>→</a:t>
            </a:r>
            <a:endParaRPr lang="en-US" sz="3000" dirty="0"/>
          </a:p>
        </p:txBody>
      </p:sp>
      <p:sp>
        <p:nvSpPr>
          <p:cNvPr id="16" name="Text 13"/>
          <p:cNvSpPr txBox="1"/>
          <p:nvPr/>
        </p:nvSpPr>
        <p:spPr>
          <a:xfrm>
            <a:off x="1600200" y="5020056"/>
            <a:ext cx="2834640" cy="1005840"/>
          </a:xfrm>
          <a:prstGeom prst="rect">
            <a:avLst/>
          </a:prstGeom>
          <a:noFill/>
          <a:ln/>
        </p:spPr>
        <p:txBody>
          <a:bodyPr wrap="square" lIns="0" tIns="0" rIns="0" bIns="0" rtlCol="0" anchor="ctr"/>
          <a:lstStyle/>
          <a:p>
            <a:pPr indent="0" marL="0">
              <a:buNone/>
            </a:pPr>
            <a:r>
              <a:rPr lang="en-US" sz="1500" b="1" dirty="0">
                <a:solidFill>
                  <a:srgbClr val="18181B"/>
                </a:solidFill>
                <a:latin typeface="Plus Jakarta Sans" pitchFamily="34" charset="0"/>
                <a:ea typeface="Plus Jakarta Sans" pitchFamily="34" charset="-122"/>
                <a:cs typeface="Plus Jakarta Sans" pitchFamily="34" charset="-120"/>
              </a:rPr>
              <a:t>Yêu cầu thiết kế</a:t>
            </a:r>
            <a:endParaRPr lang="en-US" sz="1500" dirty="0"/>
          </a:p>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Truy vết sang DESIGN.md và prompt</a:t>
            </a:r>
            <a:endParaRPr lang="en-US" sz="15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800600" y="1508760"/>
          <a:ext cx="6775704" cy="914400"/>
        </p:xfrm>
        <a:graphic>
          <a:graphicData uri="http://schemas.openxmlformats.org/drawingml/2006/table">
            <a:tbl>
              <a:tblPr/>
              <a:tblGrid>
                <a:gridCol w="2240280"/>
                <a:gridCol w="914400"/>
                <a:gridCol w="2249424"/>
                <a:gridCol w="1371600"/>
              </a:tblGrid>
              <a:tr h="411480">
                <a:tc>
                  <a:txBody>
                    <a:bodyP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Insight (từ phỏng vấn)</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18181B"/>
                    </a:solidFill>
                  </a:tcPr>
                </a:tc>
                <a:tc>
                  <a:txBody>
                    <a:bodyP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Nguồn</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18181B"/>
                    </a:solidFill>
                  </a:tcPr>
                </a:tc>
                <a:tc>
                  <a:txBody>
                    <a:bodyP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Yêu cầu thiết kế</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18181B"/>
                    </a:solidFill>
                  </a:tcPr>
                </a:tc>
                <a:tc>
                  <a:txBody>
                    <a:bodyP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Trong sản phẩm</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18181B"/>
                    </a:solidFill>
                  </a:tcPr>
                </a:tc>
              </a:tr>
              <a:tr h="603504">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Hàng chờ giờ nghỉ làm bỏ bữa</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A1, A2, A5</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Đặt trước + hẹn giờ nhận</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SCR-05</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r>
              <a:tr h="603504">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Cầm máy một tay khi di chuyển</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A1, A5</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Touch target 48 dp, CTA nửa dưới</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DESIGN.md · prompt</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r>
              <a:tr h="603504">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Cần biết thời gian chờ, quán mở/đóng</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A1, A3, A4, A5</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Badge trạng thái Kiosk</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SCR-02</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r>
              <a:tr h="603504">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Lỗi thanh toán làm mất giỏ hàng</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A5</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Màn phục hồi + tiền mặt dự phòng</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c>
                  <a:txBody>
                    <a:bodyPr/>
                    <a:lstStyle/>
                    <a:p>
                      <a:pPr indent="0" marL="0">
                        <a:buNone/>
                      </a:pPr>
                      <a:r>
                        <a:rPr lang="en-US" sz="1200" dirty="0">
                          <a:solidFill>
                            <a:srgbClr val="3F3F46"/>
                          </a:solidFill>
                          <a:latin typeface="Plus Jakarta Sans" pitchFamily="34" charset="0"/>
                          <a:ea typeface="Plus Jakarta Sans" pitchFamily="34" charset="-122"/>
                          <a:cs typeface="Plus Jakarta Sans" pitchFamily="34" charset="-120"/>
                        </a:rPr>
                        <a:t>SCR-06-ERR</a:t>
                      </a:r>
                      <a:endParaRPr lang="en-US" sz="1200" dirty="0">
                        <a:latin typeface="Plus Jakarta Sans" charset="0"/>
                        <a:ea typeface="Plus Jakarta Sans" charset="0"/>
                        <a:cs typeface="Plus Jakarta Sans" charset="0"/>
                      </a:endParaRPr>
                    </a:p>
                  </a:txBody>
                  <a:tcPr marL="73152" marR="73152" marT="36576" marB="36576" anchor="ctr">
                    <a:lnL w="9525" cap="flat" cmpd="sng" algn="ctr">
                      <a:solidFill>
                        <a:srgbClr val="E7E2DA"/>
                      </a:solidFill>
                      <a:prstDash val="solid"/>
                      <a:round/>
                      <a:headEnd type="none" w="med" len="med"/>
                      <a:tailEnd type="none" w="med" len="med"/>
                    </a:lnL>
                    <a:lnR w="9525" cap="flat" cmpd="sng" algn="ctr">
                      <a:solidFill>
                        <a:srgbClr val="E7E2DA"/>
                      </a:solidFill>
                      <a:prstDash val="solid"/>
                      <a:round/>
                      <a:headEnd type="none" w="med" len="med"/>
                      <a:tailEnd type="none" w="med" len="med"/>
                    </a:lnR>
                    <a:lnT w="9525" cap="flat" cmpd="sng" algn="ctr">
                      <a:solidFill>
                        <a:srgbClr val="E7E2DA"/>
                      </a:solidFill>
                      <a:prstDash val="solid"/>
                      <a:round/>
                      <a:headEnd type="none" w="med" len="med"/>
                      <a:tailEnd type="none" w="med" len="med"/>
                    </a:lnT>
                    <a:lnB w="9525" cap="flat" cmpd="sng" algn="ctr">
                      <a:solidFill>
                        <a:srgbClr val="E7E2DA"/>
                      </a:solidFill>
                      <a:prstDash val="solid"/>
                      <a:round/>
                      <a:headEnd type="none" w="med" len="med"/>
                      <a:tailEnd type="none" w="med" len="med"/>
                    </a:lnB>
                    <a:solidFill>
                      <a:srgbClr val="FFFFFF"/>
                    </a:solidFill>
                  </a:tcPr>
                </a:tc>
              </a:tr>
            </a:tbl>
          </a:graphicData>
        </a:graphic>
      </p:graphicFrame>
      <p:sp>
        <p:nvSpPr>
          <p:cNvPr id="18" name="Shape 14"/>
          <p:cNvSpPr/>
          <p:nvPr/>
        </p:nvSpPr>
        <p:spPr>
          <a:xfrm>
            <a:off x="4800600" y="4572000"/>
            <a:ext cx="6775704" cy="1600200"/>
          </a:xfrm>
          <a:prstGeom prst="roundRect">
            <a:avLst>
              <a:gd name="adj" fmla="val 4571"/>
            </a:avLst>
          </a:prstGeom>
          <a:solidFill>
            <a:srgbClr val="FFFFFF"/>
          </a:solidFill>
          <a:ln w="9525">
            <a:solidFill>
              <a:srgbClr val="E7E2DA"/>
            </a:solidFill>
            <a:prstDash val="solid"/>
          </a:ln>
        </p:spPr>
      </p:sp>
      <p:sp>
        <p:nvSpPr>
          <p:cNvPr id="19" name="Text 15"/>
          <p:cNvSpPr txBox="1"/>
          <p:nvPr/>
        </p:nvSpPr>
        <p:spPr>
          <a:xfrm>
            <a:off x="5010912" y="4709160"/>
            <a:ext cx="6400800" cy="320040"/>
          </a:xfrm>
          <a:prstGeom prst="rect">
            <a:avLst/>
          </a:prstGeom>
          <a:noFill/>
          <a:ln/>
        </p:spPr>
        <p:txBody>
          <a:bodyPr wrap="square" lIns="0" tIns="0" rIns="0" bIns="0" rtlCol="0" anchor="ctr"/>
          <a:lstStyle/>
          <a:p>
            <a:pPr indent="0" marL="0">
              <a:buNone/>
            </a:pPr>
            <a:r>
              <a:rPr lang="en-US" sz="1500" b="1" dirty="0">
                <a:solidFill>
                  <a:srgbClr val="0F766E"/>
                </a:solidFill>
                <a:latin typeface="Plus Jakarta Sans" pitchFamily="34" charset="0"/>
                <a:ea typeface="Plus Jakarta Sans" pitchFamily="34" charset="-122"/>
                <a:cs typeface="Plus Jakarta Sans" pitchFamily="34" charset="-120"/>
              </a:rPr>
              <a:t>Giới hạn: chưa có người thật</a:t>
            </a:r>
            <a:endParaRPr lang="en-US" sz="1500" dirty="0"/>
          </a:p>
        </p:txBody>
      </p:sp>
      <p:sp>
        <p:nvSpPr>
          <p:cNvPr id="20" name="Text 16"/>
          <p:cNvSpPr txBox="1"/>
          <p:nvPr/>
        </p:nvSpPr>
        <p:spPr>
          <a:xfrm>
            <a:off x="5010912" y="5074920"/>
            <a:ext cx="6400800" cy="777240"/>
          </a:xfrm>
          <a:prstGeom prst="rect">
            <a:avLst/>
          </a:prstGeom>
          <a:noFill/>
          <a:ln/>
        </p:spPr>
        <p:txBody>
          <a:bodyPr wrap="square" lIns="0" tIns="0" rIns="0" bIns="0" rtlCol="0" anchor="t"/>
          <a:lstStyle/>
          <a:p>
            <a:pPr indent="0" marL="0">
              <a:buNone/>
            </a:pPr>
            <a:r>
              <a:rPr lang="en-US" sz="1250" dirty="0">
                <a:solidFill>
                  <a:srgbClr val="3F3F46"/>
                </a:solidFill>
                <a:latin typeface="Plus Jakarta Sans" pitchFamily="34" charset="0"/>
                <a:ea typeface="Plus Jakarta Sans" pitchFamily="34" charset="-122"/>
                <a:cs typeface="Plus Jakarta Sans" pitchFamily="34" charset="-120"/>
              </a:rPr>
              <a:t>Người dùng giả lập thường nông và dễ đồng thuận hơn người thật (NN/g). Vì vậy persona là proto-persona: đủ để định hướng thiết kế, nhưng số liệu chưa kiểm chứng. Bước tiếp: hỏi 3–5 bạn thật bằng 5 giả thuyết và bấm giờ hàng chờ.</a:t>
            </a:r>
            <a:endParaRPr lang="en-US" sz="1250" dirty="0"/>
          </a:p>
        </p:txBody>
      </p:sp>
      <p:sp>
        <p:nvSpPr>
          <p:cNvPr id="21" name="Text 17">
            <a:hlinkClick r:id="rId1" tooltip=""/>
          </p:cNvPr>
          <p:cNvSpPr txBox="1"/>
          <p:nvPr/>
        </p:nvSpPr>
        <p:spPr>
          <a:xfrm>
            <a:off x="5010912" y="5852160"/>
            <a:ext cx="6400800" cy="228600"/>
          </a:xfrm>
          <a:prstGeom prst="rect">
            <a:avLst/>
          </a:prstGeom>
          <a:noFill/>
          <a:ln/>
        </p:spPr>
        <p:txBody>
          <a:bodyPr wrap="square" lIns="0" tIns="0" rIns="0" bIns="0" rtlCol="0" anchor="ctr"/>
          <a:lstStyle/>
          <a:p>
            <a:pPr indent="0" marL="0">
              <a:buNone/>
            </a:pPr>
            <a:r>
              <a:rPr lang="en-US" sz="900" u="sng" dirty="0">
                <a:solidFill>
                  <a:srgbClr val="0F766E"/>
                </a:solidFill>
                <a:latin typeface="JetBrains Mono" pitchFamily="34" charset="0"/>
                <a:ea typeface="JetBrains Mono" pitchFamily="34" charset="-122"/>
                <a:cs typeface="JetBrains Mono" pitchFamily="34" charset="-120"/>
                <a:hlinkClick r:id="rId1" invalidUrl="" action="" tgtFrame="" tooltip="" history="1" highlightClick="0" endSnd="0">
                  <a:extLst>
                    <a:ext uri="{A12FA001-AC4F-418D-AE19-62706E023703}">
                      <ahyp:hlinkClr xmlns:ahyp="http://schemas.microsoft.com/office/drawing/2018/hyperlinkcolor" val="tx"/>
                    </a:ext>
                  </a:extLst>
                </a:hlinkClick>
              </a:rPr>
              <a:t>Nguồn: tổng hợp NN/g – radar.zurb.com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lus Jakarta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lus Jakarta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FtaCode – Research slides</dc:title>
  <dc:subject>PptxGenJS Presentation</dc:subject>
  <dc:creator>PptxGenJS</dc:creator>
  <cp:lastModifiedBy>PptxGenJS</cp:lastModifiedBy>
  <cp:revision>1</cp:revision>
  <dcterms:created xsi:type="dcterms:W3CDTF">2026-10-17T08:31:30Z</dcterms:created>
  <dcterms:modified xsi:type="dcterms:W3CDTF">2026-10-17T08:31:30Z</dcterms:modified>
</cp:coreProperties>
</file>