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Giới thiệu sản phẩm, người dùng, vấn đề. Điền họ tên và MSSV. Nếu đã đổi tên repo thành prm323-lab2-&lt;MSSV&gt; thì sửa lại link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02. Persona Nguyễn Minh Quân. Chỉ số thành công đếm theo Flow 1: 8 lần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03. SCR-01 là màn vào app. 4 tab cấp cao: Home, Menu, Theo dõi đơn, Lịch sử. 3 màn con: Chi tiết, Giỏ, Checkout. SCR-06-ERR là biến thể lỗi, không tính là màn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04. Ba flow giống hệt repo. Flow 3 là luồng lỗi và phục hồi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Đọc đoạn mở đầu prompt nguyên văn; toàn văn nằm trong ai-design-log.md mục 2.1. Chỉ ra prompt có đủ persona, task, nền tảng, ràng buộc, phong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 QUAN TRỌNG: chỉ trình bày sau khi đã chụp lại ảnh trước/sau thật cho cả 3 vòng (ảnh hiện tại trong repo trùng nhau). Nói thêm: đo lại sau vòng 1 thấy chữ trắng trên cam chỉ 2,14:1 nên đã chỉnh sửa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07. Lấy từ bảng quyết định trong log. Nếu bạn thật sự đã từ chối một đề xuất nào của AI, thêm vào log trước rồi mới đưa lên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08. Chèn ảnh xuất trực tiếp từ Figma (không dùng ảnh Stitch). Chỉ ra một hành động chính mỗi màn và các biến thể trạng thái đặt cạnh màn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09. Màu đã được sửa sau khi đo lại tương phản (DESIGN.md mục 2.5). Phải cập nhật Figma Variables cho khớp trước khi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Nói thẳng: lần đo đầu sai (chữ trắng trên cam ghi 3,08 nhưng thật là 2,14). Đã đo lại và đổi token. Chữ 14sp đậm không được tính là chữ lớn.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Chuyển sang Figma Present. Chạy F1, F2, F3 từ starting point; mở dialog overlay; chuyển cảnh loading → kết quả; bấm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Một lập trình viên Flutter chưa biết dự án có thể dựng màn hình chỉ từ handoff. Lab 2 không yêu cầu code Flutter.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Mikan382/prm393-lab2" TargetMode="External"/><Relationship Id="rId2" Type="http://schemas.openxmlformats.org/officeDocument/2006/relationships/hyperlink" Target="https://www.figma.com/design/JeWtr0nQ6pD2cPzjUMqU6A/Untitled?node-id=1-6"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22B14"/>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600" b="1" dirty="0">
                <a:solidFill>
                  <a:srgbClr val="E0C375"/>
                </a:solidFill>
                <a:latin typeface="Calibri" pitchFamily="34" charset="0"/>
                <a:ea typeface="Calibri" pitchFamily="34" charset="-122"/>
                <a:cs typeface="Calibri" pitchFamily="34" charset="-120"/>
              </a:rPr>
              <a:t>PRM323 · Lab 2 · Google Stitch → Figma</a:t>
            </a:r>
            <a:endParaRPr lang="en-US" sz="1600" dirty="0"/>
          </a:p>
        </p:txBody>
      </p:sp>
      <p:sp>
        <p:nvSpPr>
          <p:cNvPr id="3" name="Text 1"/>
          <p:cNvSpPr txBox="1"/>
          <p:nvPr/>
        </p:nvSpPr>
        <p:spPr>
          <a:xfrm>
            <a:off x="548640" y="1097280"/>
            <a:ext cx="51206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BreakBite</a:t>
            </a:r>
            <a:endParaRPr lang="en-US" sz="4400" dirty="0"/>
          </a:p>
        </p:txBody>
      </p:sp>
      <p:sp>
        <p:nvSpPr>
          <p:cNvPr id="4" name="Text 2"/>
          <p:cNvSpPr txBox="1"/>
          <p:nvPr/>
        </p:nvSpPr>
        <p:spPr>
          <a:xfrm>
            <a:off x="548640" y="1965960"/>
            <a:ext cx="4937760" cy="822960"/>
          </a:xfrm>
          <a:prstGeom prst="rect">
            <a:avLst/>
          </a:prstGeom>
          <a:noFill/>
          <a:ln/>
        </p:spPr>
        <p:txBody>
          <a:bodyPr wrap="square" lIns="0" tIns="0" rIns="0" bIns="0" rtlCol="0" anchor="t"/>
          <a:lstStyle/>
          <a:p>
            <a:pPr indent="0" marL="0">
              <a:buNone/>
            </a:pPr>
            <a:r>
              <a:rPr lang="en-US" sz="1700" dirty="0">
                <a:solidFill>
                  <a:srgbClr val="F3E3D0"/>
                </a:solidFill>
                <a:latin typeface="Calibri" pitchFamily="34" charset="0"/>
                <a:ea typeface="Calibri" pitchFamily="34" charset="-122"/>
                <a:cs typeface="Calibri" pitchFamily="34" charset="-120"/>
              </a:rPr>
              <a:t>Đặt món trước, nhận tại quầy Kiosk trong khuôn viên trường mà không phải xếp hàng giữa hai ca học</a:t>
            </a:r>
            <a:endParaRPr lang="en-US" sz="1700" dirty="0"/>
          </a:p>
        </p:txBody>
      </p:sp>
      <p:sp>
        <p:nvSpPr>
          <p:cNvPr id="5" name="Text 3"/>
          <p:cNvSpPr txBox="1"/>
          <p:nvPr/>
        </p:nvSpPr>
        <p:spPr>
          <a:xfrm>
            <a:off x="548640" y="3017520"/>
            <a:ext cx="5120640" cy="1463040"/>
          </a:xfrm>
          <a:prstGeom prst="rect">
            <a:avLst/>
          </a:prstGeom>
          <a:noFill/>
          <a:ln/>
        </p:spPr>
        <p:txBody>
          <a:bodyPr wrap="square" lIns="0" tIns="0" rIns="0" bIns="0" rtlCol="0" anchor="t"/>
          <a:lstStyle/>
          <a:p>
            <a:pPr indent="0" marL="0">
              <a:spcAft>
                <a:spcPts val="400"/>
              </a:spcAft>
              <a:buNone/>
            </a:pPr>
            <a:r>
              <a:rPr lang="en-US" sz="1400" dirty="0">
                <a:solidFill>
                  <a:srgbClr val="F3E3D0"/>
                </a:solidFill>
                <a:latin typeface="Calibri" pitchFamily="34" charset="0"/>
                <a:ea typeface="Calibri" pitchFamily="34" charset="-122"/>
                <a:cs typeface="Calibri" pitchFamily="34" charset="-120"/>
              </a:rPr>
              <a:t>Người trình bày: [Họ tên – MSSV]</a:t>
            </a:r>
            <a:endParaRPr lang="en-US" sz="1400" dirty="0"/>
          </a:p>
          <a:p>
            <a:pPr indent="0" marL="0">
              <a:spcAft>
                <a:spcPts val="400"/>
              </a:spcAft>
              <a:buNone/>
            </a:pPr>
            <a:r>
              <a:rPr lang="en-US" sz="1400" dirty="0">
                <a:solidFill>
                  <a:srgbClr val="F3E3D0"/>
                </a:solidFill>
                <a:latin typeface="Calibri" pitchFamily="34" charset="0"/>
                <a:ea typeface="Calibri" pitchFamily="34" charset="-122"/>
                <a:cs typeface="Calibri" pitchFamily="34" charset="-120"/>
              </a:rPr>
              <a:t>Đối tượng: sinh viên có 15 phút giải lao giữa hai ca</a:t>
            </a:r>
            <a:endParaRPr lang="en-US" sz="1400" dirty="0"/>
          </a:p>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GitHub: </a:t>
            </a:r>
            <a:pPr indent="0" marL="0">
              <a:spcAft>
                <a:spcPts val="400"/>
              </a:spcAft>
              <a:buNone/>
            </a:pPr>
            <a:r>
              <a:rPr lang="en-US" sz="1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github.com/Mikan382/prm393-lab2</a:t>
            </a:r>
            <a:endParaRPr lang="en-US" sz="1400" dirty="0"/>
          </a:p>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Figma: </a:t>
            </a:r>
            <a:pPr indent="0" marL="0">
              <a:spcAft>
                <a:spcPts val="400"/>
              </a:spcAft>
              <a:buNone/>
            </a:pPr>
            <a:r>
              <a:rPr lang="en-US" sz="1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Mở file thiết kế (quyền xem)</a:t>
            </a:r>
            <a:endParaRPr lang="en-US" sz="1400" dirty="0"/>
          </a:p>
        </p:txBody>
      </p:sp>
      <p:pic>
        <p:nvPicPr>
          <p:cNvPr id="6" name="Image 0" descr="D:\Study\FPTU\Sem8\PRM323\prm393-lab2\assets\stitch\01_initial_stitch_home.png">    </p:cNvPr>
          <p:cNvPicPr>
            <a:picLocks noChangeAspect="1"/>
          </p:cNvPicPr>
          <p:nvPr/>
        </p:nvPicPr>
        <p:blipFill>
          <a:blip r:embed="rId3"/>
          <a:stretch>
            <a:fillRect/>
          </a:stretch>
        </p:blipFill>
        <p:spPr>
          <a:xfrm>
            <a:off x="5852160" y="1005840"/>
            <a:ext cx="3311466" cy="2651760"/>
          </a:xfrm>
          <a:prstGeom prst="rect">
            <a:avLst/>
          </a:prstGeom>
        </p:spPr>
      </p:pic>
      <p:sp>
        <p:nvSpPr>
          <p:cNvPr id="7" name="Text 4"/>
          <p:cNvSpPr txBox="1"/>
          <p:nvPr/>
        </p:nvSpPr>
        <p:spPr>
          <a:xfrm>
            <a:off x="5852160" y="3703320"/>
            <a:ext cx="3311466" cy="274320"/>
          </a:xfrm>
          <a:prstGeom prst="rect">
            <a:avLst/>
          </a:prstGeom>
          <a:noFill/>
          <a:ln/>
        </p:spPr>
        <p:txBody>
          <a:bodyPr wrap="square" lIns="0" tIns="0" rIns="0" bIns="0" rtlCol="0" anchor="ctr"/>
          <a:lstStyle/>
          <a:p>
            <a:pPr indent="0" marL="0">
              <a:buNone/>
            </a:pPr>
            <a:r>
              <a:rPr lang="en-US" sz="1100" i="1" dirty="0">
                <a:solidFill>
                  <a:srgbClr val="F3E3D0"/>
                </a:solidFill>
                <a:latin typeface="Calibri" pitchFamily="34" charset="0"/>
                <a:ea typeface="Calibri" pitchFamily="34" charset="-122"/>
                <a:cs typeface="Calibri" pitchFamily="34" charset="-120"/>
              </a:rPr>
              <a:t>Home – bản Stitch đầu tiên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Vấn đề và Persona</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ux/persona.md</a:t>
            </a:r>
            <a:endParaRPr lang="en-US" sz="1200" dirty="0"/>
          </a:p>
        </p:txBody>
      </p:sp>
      <p:sp>
        <p:nvSpPr>
          <p:cNvPr id="6" name="Shape 3"/>
          <p:cNvSpPr/>
          <p:nvPr/>
        </p:nvSpPr>
        <p:spPr>
          <a:xfrm>
            <a:off x="457200" y="1097280"/>
            <a:ext cx="3931920" cy="2148840"/>
          </a:xfrm>
          <a:prstGeom prst="roundRect">
            <a:avLst>
              <a:gd name="adj" fmla="val 5106"/>
            </a:avLst>
          </a:prstGeom>
          <a:solidFill>
            <a:srgbClr val="FBEFE0"/>
          </a:solidFill>
          <a:ln w="12700">
            <a:solidFill>
              <a:srgbClr val="FBEFE0"/>
            </a:solidFill>
            <a:prstDash val="solid"/>
          </a:ln>
        </p:spPr>
      </p:sp>
      <p:sp>
        <p:nvSpPr>
          <p:cNvPr id="7" name="Text 4"/>
          <p:cNvSpPr txBox="1"/>
          <p:nvPr/>
        </p:nvSpPr>
        <p:spPr>
          <a:xfrm>
            <a:off x="594360" y="1188720"/>
            <a:ext cx="365760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Nguyễn Minh Quân, 20 tuổi, SV năm 2</a:t>
            </a:r>
            <a:endParaRPr lang="en-US" sz="1600" dirty="0"/>
          </a:p>
        </p:txBody>
      </p:sp>
      <p:sp>
        <p:nvSpPr>
          <p:cNvPr id="8" name="Text 5"/>
          <p:cNvSpPr txBox="1"/>
          <p:nvPr/>
        </p:nvSpPr>
        <p:spPr>
          <a:xfrm>
            <a:off x="594360" y="1554480"/>
            <a:ext cx="365760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Giờ giải lao chỉ 15 phút giữa hai ca</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 chuyển giữa các tòa, cầm máy một tay</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Wifi trường và 4G chập chờn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Dùng ngoài nắng, cần tương phản cao</a:t>
            </a:r>
            <a:endParaRPr lang="en-US" sz="1400" dirty="0"/>
          </a:p>
        </p:txBody>
      </p:sp>
      <p:sp>
        <p:nvSpPr>
          <p:cNvPr id="9" name="Shape 6"/>
          <p:cNvSpPr/>
          <p:nvPr/>
        </p:nvSpPr>
        <p:spPr>
          <a:xfrm>
            <a:off x="4572000" y="1097280"/>
            <a:ext cx="4114800" cy="2148840"/>
          </a:xfrm>
          <a:prstGeom prst="roundRect">
            <a:avLst>
              <a:gd name="adj" fmla="val 5106"/>
            </a:avLst>
          </a:prstGeom>
          <a:solidFill>
            <a:srgbClr val="FBEFE0"/>
          </a:solidFill>
          <a:ln w="12700">
            <a:solidFill>
              <a:srgbClr val="FBEFE0"/>
            </a:solidFill>
            <a:prstDash val="solid"/>
          </a:ln>
        </p:spPr>
      </p:sp>
      <p:sp>
        <p:nvSpPr>
          <p:cNvPr id="10" name="Text 7"/>
          <p:cNvSpPr txBox="1"/>
          <p:nvPr/>
        </p:nvSpPr>
        <p:spPr>
          <a:xfrm>
            <a:off x="4709160" y="1188720"/>
            <a:ext cx="384048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Pain points</a:t>
            </a:r>
            <a:endParaRPr lang="en-US" sz="1600" dirty="0"/>
          </a:p>
        </p:txBody>
      </p:sp>
      <p:sp>
        <p:nvSpPr>
          <p:cNvPr id="11" name="Text 8"/>
          <p:cNvSpPr txBox="1"/>
          <p:nvPr/>
        </p:nvSpPr>
        <p:spPr>
          <a:xfrm>
            <a:off x="4709160" y="1554480"/>
            <a:ext cx="3840480" cy="16002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Xếp hàng 12–18 phút, vào lớp muộn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Đến lượt thì món đã hết</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Nút nhỏ ở góc trên khó bấm khi đi bộ</a:t>
            </a:r>
            <a:endParaRPr lang="en-US" sz="1400" dirty="0"/>
          </a:p>
        </p:txBody>
      </p:sp>
      <p:sp>
        <p:nvSpPr>
          <p:cNvPr id="12" name="Shape 9"/>
          <p:cNvSpPr/>
          <p:nvPr/>
        </p:nvSpPr>
        <p:spPr>
          <a:xfrm>
            <a:off x="457200" y="3429000"/>
            <a:ext cx="8229600" cy="1051560"/>
          </a:xfrm>
          <a:prstGeom prst="roundRect">
            <a:avLst>
              <a:gd name="adj" fmla="val 10435"/>
            </a:avLst>
          </a:prstGeom>
          <a:solidFill>
            <a:srgbClr val="622B14"/>
          </a:solidFill>
          <a:ln w="12700">
            <a:solidFill>
              <a:srgbClr val="622B14"/>
            </a:solidFill>
            <a:prstDash val="solid"/>
          </a:ln>
        </p:spPr>
      </p:sp>
      <p:sp>
        <p:nvSpPr>
          <p:cNvPr id="13" name="Text 10"/>
          <p:cNvSpPr txBox="1"/>
          <p:nvPr/>
        </p:nvSpPr>
        <p:spPr>
          <a:xfrm>
            <a:off x="640080" y="3474720"/>
            <a:ext cx="7863840" cy="960120"/>
          </a:xfrm>
          <a:prstGeom prst="rect">
            <a:avLst/>
          </a:prstGeom>
          <a:noFill/>
          <a:ln/>
        </p:spPr>
        <p:txBody>
          <a:bodyPr wrap="square" lIns="0" tIns="0" rIns="0" bIns="0" rtlCol="0" anchor="ctr"/>
          <a:lstStyle/>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Problem statement: </a:t>
            </a:r>
            <a:pPr indent="0" marL="0">
              <a:spcAft>
                <a:spcPts val="400"/>
              </a:spcAft>
              <a:buNone/>
            </a:pPr>
            <a:r>
              <a:rPr lang="en-US" sz="1400" dirty="0">
                <a:solidFill>
                  <a:srgbClr val="FFFFFF"/>
                </a:solidFill>
                <a:latin typeface="Calibri" pitchFamily="34" charset="0"/>
                <a:ea typeface="Calibri" pitchFamily="34" charset="-122"/>
                <a:cs typeface="Calibri" pitchFamily="34" charset="-120"/>
              </a:rPr>
              <a:t>sinh viên cần đặt trước và nhận món tại quầy mà không xếp hàng trong 15 phút giải lao.</a:t>
            </a:r>
            <a:endParaRPr lang="en-US" sz="1400" dirty="0"/>
          </a:p>
          <a:p>
            <a:pPr indent="0" marL="0">
              <a:spcAft>
                <a:spcPts val="400"/>
              </a:spcAft>
              <a:buNone/>
            </a:pPr>
            <a:r>
              <a:rPr lang="en-US" sz="1400" b="1" dirty="0">
                <a:solidFill>
                  <a:srgbClr val="E0C375"/>
                </a:solidFill>
                <a:latin typeface="Calibri" pitchFamily="34" charset="0"/>
                <a:ea typeface="Calibri" pitchFamily="34" charset="-122"/>
                <a:cs typeface="Calibri" pitchFamily="34" charset="-120"/>
              </a:rPr>
              <a:t>Chỉ số thành công: </a:t>
            </a:r>
            <a:pPr indent="0" marL="0">
              <a:spcAft>
                <a:spcPts val="400"/>
              </a:spcAft>
              <a:buNone/>
            </a:pPr>
            <a:r>
              <a:rPr lang="en-US" sz="1400" dirty="0">
                <a:solidFill>
                  <a:srgbClr val="FFFFFF"/>
                </a:solidFill>
                <a:latin typeface="Calibri" pitchFamily="34" charset="0"/>
                <a:ea typeface="Calibri" pitchFamily="34" charset="-122"/>
                <a:cs typeface="Calibri" pitchFamily="34" charset="-120"/>
              </a:rPr>
              <a:t>chọn món, thêm topping và đặt đơn dưới 35 giây, tối đa 8 lần chạm từ Trang chủ.</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Kiến trúc thông tin: 8 màn hình</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ux/user-flow.md · Figma Page 01</a:t>
            </a:r>
            <a:endParaRPr lang="en-US" sz="1200" dirty="0"/>
          </a:p>
        </p:txBody>
      </p:sp>
      <p:sp>
        <p:nvSpPr>
          <p:cNvPr id="6" name="Shape 3"/>
          <p:cNvSpPr/>
          <p:nvPr/>
        </p:nvSpPr>
        <p:spPr>
          <a:xfrm>
            <a:off x="457200" y="1051560"/>
            <a:ext cx="2011680" cy="365760"/>
          </a:xfrm>
          <a:prstGeom prst="roundRect">
            <a:avLst>
              <a:gd name="adj" fmla="val 50000"/>
            </a:avLst>
          </a:prstGeom>
          <a:solidFill>
            <a:srgbClr val="E0C375"/>
          </a:solidFill>
          <a:ln w="12700">
            <a:solidFill>
              <a:srgbClr val="E0C375"/>
            </a:solidFill>
            <a:prstDash val="solid"/>
          </a:ln>
        </p:spPr>
      </p:sp>
      <p:sp>
        <p:nvSpPr>
          <p:cNvPr id="7" name="Text 4"/>
          <p:cNvSpPr txBox="1"/>
          <p:nvPr/>
        </p:nvSpPr>
        <p:spPr>
          <a:xfrm>
            <a:off x="457200" y="1051560"/>
            <a:ext cx="2011680" cy="365760"/>
          </a:xfrm>
          <a:prstGeom prst="rect">
            <a:avLst/>
          </a:prstGeom>
          <a:noFill/>
          <a:ln/>
        </p:spPr>
        <p:txBody>
          <a:bodyPr wrap="square" lIns="0" tIns="0" rIns="0" bIns="0" rtlCol="0" anchor="ctr"/>
          <a:lstStyle/>
          <a:p>
            <a:pPr algn="ctr" indent="0" marL="0">
              <a:buNone/>
            </a:pPr>
            <a:r>
              <a:rPr lang="en-US" sz="1400" b="1" dirty="0">
                <a:solidFill>
                  <a:srgbClr val="622B14"/>
                </a:solidFill>
                <a:latin typeface="Calibri" pitchFamily="34" charset="0"/>
                <a:ea typeface="Calibri" pitchFamily="34" charset="-122"/>
                <a:cs typeface="Calibri" pitchFamily="34" charset="-120"/>
              </a:rPr>
              <a:t>SCR-01 Onboarding</a:t>
            </a:r>
            <a:endParaRPr lang="en-US" sz="1400" dirty="0"/>
          </a:p>
        </p:txBody>
      </p:sp>
      <p:sp>
        <p:nvSpPr>
          <p:cNvPr id="8" name="Shape 5"/>
          <p:cNvSpPr/>
          <p:nvPr/>
        </p:nvSpPr>
        <p:spPr>
          <a:xfrm>
            <a:off x="3017520" y="1051560"/>
            <a:ext cx="5669280" cy="365760"/>
          </a:xfrm>
          <a:prstGeom prst="roundRect">
            <a:avLst>
              <a:gd name="adj" fmla="val 50000"/>
            </a:avLst>
          </a:prstGeom>
          <a:solidFill>
            <a:srgbClr val="622B14"/>
          </a:solidFill>
          <a:ln w="12700">
            <a:solidFill>
              <a:srgbClr val="622B14"/>
            </a:solidFill>
            <a:prstDash val="solid"/>
          </a:ln>
        </p:spPr>
      </p:sp>
      <p:sp>
        <p:nvSpPr>
          <p:cNvPr id="9" name="Text 6"/>
          <p:cNvSpPr txBox="1"/>
          <p:nvPr/>
        </p:nvSpPr>
        <p:spPr>
          <a:xfrm>
            <a:off x="3017520" y="1051560"/>
            <a:ext cx="56692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Bottom navigation (4 tab)</a:t>
            </a:r>
            <a:endParaRPr lang="en-US" sz="1400" dirty="0"/>
          </a:p>
        </p:txBody>
      </p:sp>
      <p:sp>
        <p:nvSpPr>
          <p:cNvPr id="10" name="Shape 7"/>
          <p:cNvSpPr/>
          <p:nvPr/>
        </p:nvSpPr>
        <p:spPr>
          <a:xfrm>
            <a:off x="3017520" y="1600200"/>
            <a:ext cx="1280160" cy="502920"/>
          </a:xfrm>
          <a:prstGeom prst="roundRect">
            <a:avLst>
              <a:gd name="adj" fmla="val 18182"/>
            </a:avLst>
          </a:prstGeom>
          <a:solidFill>
            <a:srgbClr val="F69D39"/>
          </a:solidFill>
          <a:ln w="12700">
            <a:solidFill>
              <a:srgbClr val="F69D39"/>
            </a:solidFill>
            <a:prstDash val="solid"/>
          </a:ln>
        </p:spPr>
      </p:sp>
      <p:sp>
        <p:nvSpPr>
          <p:cNvPr id="11" name="Text 8"/>
          <p:cNvSpPr txBox="1"/>
          <p:nvPr/>
        </p:nvSpPr>
        <p:spPr>
          <a:xfrm>
            <a:off x="301752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SCR-02 Home</a:t>
            </a:r>
            <a:endParaRPr lang="en-US" sz="1300" dirty="0"/>
          </a:p>
        </p:txBody>
      </p:sp>
      <p:sp>
        <p:nvSpPr>
          <p:cNvPr id="12" name="Shape 9"/>
          <p:cNvSpPr/>
          <p:nvPr/>
        </p:nvSpPr>
        <p:spPr>
          <a:xfrm>
            <a:off x="4480560" y="1600200"/>
            <a:ext cx="1280160" cy="502920"/>
          </a:xfrm>
          <a:prstGeom prst="roundRect">
            <a:avLst>
              <a:gd name="adj" fmla="val 18182"/>
            </a:avLst>
          </a:prstGeom>
          <a:solidFill>
            <a:srgbClr val="F69D39"/>
          </a:solidFill>
          <a:ln w="12700">
            <a:solidFill>
              <a:srgbClr val="F69D39"/>
            </a:solidFill>
            <a:prstDash val="solid"/>
          </a:ln>
        </p:spPr>
      </p:sp>
      <p:sp>
        <p:nvSpPr>
          <p:cNvPr id="13" name="Text 10"/>
          <p:cNvSpPr txBox="1"/>
          <p:nvPr/>
        </p:nvSpPr>
        <p:spPr>
          <a:xfrm>
            <a:off x="448056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SCR-03 Menu</a:t>
            </a:r>
            <a:endParaRPr lang="en-US" sz="1300" dirty="0"/>
          </a:p>
        </p:txBody>
      </p:sp>
      <p:sp>
        <p:nvSpPr>
          <p:cNvPr id="14" name="Shape 11"/>
          <p:cNvSpPr/>
          <p:nvPr/>
        </p:nvSpPr>
        <p:spPr>
          <a:xfrm>
            <a:off x="5943600" y="1600200"/>
            <a:ext cx="1280160" cy="502920"/>
          </a:xfrm>
          <a:prstGeom prst="roundRect">
            <a:avLst>
              <a:gd name="adj" fmla="val 18182"/>
            </a:avLst>
          </a:prstGeom>
          <a:solidFill>
            <a:srgbClr val="F69D39"/>
          </a:solidFill>
          <a:ln w="12700">
            <a:solidFill>
              <a:srgbClr val="F69D39"/>
            </a:solidFill>
            <a:prstDash val="solid"/>
          </a:ln>
        </p:spPr>
      </p:sp>
      <p:sp>
        <p:nvSpPr>
          <p:cNvPr id="15" name="Text 12"/>
          <p:cNvSpPr txBox="1"/>
          <p:nvPr/>
        </p:nvSpPr>
        <p:spPr>
          <a:xfrm>
            <a:off x="594360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SCR-07 Theo dõi</a:t>
            </a:r>
            <a:endParaRPr lang="en-US" sz="1300" dirty="0"/>
          </a:p>
        </p:txBody>
      </p:sp>
      <p:sp>
        <p:nvSpPr>
          <p:cNvPr id="16" name="Shape 13"/>
          <p:cNvSpPr/>
          <p:nvPr/>
        </p:nvSpPr>
        <p:spPr>
          <a:xfrm>
            <a:off x="7406640" y="1600200"/>
            <a:ext cx="1280160" cy="502920"/>
          </a:xfrm>
          <a:prstGeom prst="roundRect">
            <a:avLst>
              <a:gd name="adj" fmla="val 18182"/>
            </a:avLst>
          </a:prstGeom>
          <a:solidFill>
            <a:srgbClr val="F69D39"/>
          </a:solidFill>
          <a:ln w="12700">
            <a:solidFill>
              <a:srgbClr val="F69D39"/>
            </a:solidFill>
            <a:prstDash val="solid"/>
          </a:ln>
        </p:spPr>
      </p:sp>
      <p:sp>
        <p:nvSpPr>
          <p:cNvPr id="17" name="Text 14"/>
          <p:cNvSpPr txBox="1"/>
          <p:nvPr/>
        </p:nvSpPr>
        <p:spPr>
          <a:xfrm>
            <a:off x="7406640" y="1600200"/>
            <a:ext cx="1280160" cy="502920"/>
          </a:xfrm>
          <a:prstGeom prst="rect">
            <a:avLst/>
          </a:prstGeom>
          <a:noFill/>
          <a:ln/>
        </p:spPr>
        <p:txBody>
          <a:bodyPr wrap="square" lIns="0" tIns="0" rIns="0" bIns="0" rtlCol="0" anchor="ctr"/>
          <a:lstStyle/>
          <a:p>
            <a:pPr algn="ctr" indent="0" marL="0">
              <a:buNone/>
            </a:pPr>
            <a:r>
              <a:rPr lang="en-US" sz="1300" b="1" dirty="0">
                <a:solidFill>
                  <a:srgbClr val="622B14"/>
                </a:solidFill>
                <a:latin typeface="Calibri" pitchFamily="34" charset="0"/>
                <a:ea typeface="Calibri" pitchFamily="34" charset="-122"/>
                <a:cs typeface="Calibri" pitchFamily="34" charset="-120"/>
              </a:rPr>
              <a:t>SCR-08 Lịch sử</a:t>
            </a:r>
            <a:endParaRPr lang="en-US" sz="1300" dirty="0"/>
          </a:p>
        </p:txBody>
      </p:sp>
      <p:sp>
        <p:nvSpPr>
          <p:cNvPr id="18" name="Shape 15"/>
          <p:cNvSpPr/>
          <p:nvPr/>
        </p:nvSpPr>
        <p:spPr>
          <a:xfrm>
            <a:off x="3017520" y="2377440"/>
            <a:ext cx="5669280" cy="2103120"/>
          </a:xfrm>
          <a:prstGeom prst="roundRect">
            <a:avLst>
              <a:gd name="adj" fmla="val 5217"/>
            </a:avLst>
          </a:prstGeom>
          <a:solidFill>
            <a:srgbClr val="FBEFE0"/>
          </a:solidFill>
          <a:ln w="12700">
            <a:solidFill>
              <a:srgbClr val="FBEFE0"/>
            </a:solidFill>
            <a:prstDash val="solid"/>
          </a:ln>
        </p:spPr>
      </p:sp>
      <p:sp>
        <p:nvSpPr>
          <p:cNvPr id="19" name="Text 16"/>
          <p:cNvSpPr txBox="1"/>
          <p:nvPr/>
        </p:nvSpPr>
        <p:spPr>
          <a:xfrm>
            <a:off x="3154680" y="2468880"/>
            <a:ext cx="539496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Màn hình con (từ Home / Menu)</a:t>
            </a:r>
            <a:endParaRPr lang="en-US" sz="1600" dirty="0"/>
          </a:p>
        </p:txBody>
      </p:sp>
      <p:sp>
        <p:nvSpPr>
          <p:cNvPr id="20" name="Text 17"/>
          <p:cNvSpPr txBox="1"/>
          <p:nvPr/>
        </p:nvSpPr>
        <p:spPr>
          <a:xfrm>
            <a:off x="3154680" y="2834640"/>
            <a:ext cx="5394960" cy="15544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SCR-04 Chi tiết món &amp; topping</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SCR-05 Giỏ hàng &amp; hẹn giờ nhận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SCR-06 Checkout &amp; phương thức thanh toán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SCR-08 → Đặt lại đơn cũ đưa về SCR-05</a:t>
            </a:r>
            <a:endParaRPr lang="en-US" sz="1400" dirty="0"/>
          </a:p>
        </p:txBody>
      </p:sp>
      <p:sp>
        <p:nvSpPr>
          <p:cNvPr id="21" name="Shape 18"/>
          <p:cNvSpPr/>
          <p:nvPr/>
        </p:nvSpPr>
        <p:spPr>
          <a:xfrm>
            <a:off x="457200" y="1600200"/>
            <a:ext cx="2377440" cy="2880360"/>
          </a:xfrm>
          <a:prstGeom prst="roundRect">
            <a:avLst>
              <a:gd name="adj" fmla="val 4615"/>
            </a:avLst>
          </a:prstGeom>
          <a:solidFill>
            <a:srgbClr val="F4E7C3"/>
          </a:solidFill>
          <a:ln w="12700">
            <a:solidFill>
              <a:srgbClr val="F4E7C3"/>
            </a:solidFill>
            <a:prstDash val="solid"/>
          </a:ln>
        </p:spPr>
      </p:sp>
      <p:sp>
        <p:nvSpPr>
          <p:cNvPr id="22" name="Text 19"/>
          <p:cNvSpPr txBox="1"/>
          <p:nvPr/>
        </p:nvSpPr>
        <p:spPr>
          <a:xfrm>
            <a:off x="594360" y="1691640"/>
            <a:ext cx="210312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Biến thể &amp; dialog</a:t>
            </a:r>
            <a:endParaRPr lang="en-US" sz="1600" dirty="0"/>
          </a:p>
        </p:txBody>
      </p:sp>
      <p:sp>
        <p:nvSpPr>
          <p:cNvPr id="23" name="Text 20"/>
          <p:cNvSpPr txBox="1"/>
          <p:nvPr/>
        </p:nvSpPr>
        <p:spPr>
          <a:xfrm>
            <a:off x="594360" y="2057400"/>
            <a:ext cx="2103120" cy="23317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SCR-06-ERR lỗi thanh toán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SCR-05 giỏ hàng trống</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Dialog xác nhận đặt / huỷ đơn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Ba user flow</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ux/user-flow.md · Figma Page 01</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194560"/>
                <a:gridCol w="1645920"/>
                <a:gridCol w="1645920"/>
                <a:gridCol w="27432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Flow</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Start → End</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Màn hình</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Nhánh thay thế / lỗi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F1 Đặt nhanh, nhận tại quầy</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SCR-02 →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02, 04, 05, 06, 07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Dialog xác nhận → loading → mã nhận đồ</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F2 Tuỳ chỉnh món &amp; voucher</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SCR-03 →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03, 04, 05, 06, 07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Mã sai → báo lỗi kèm lý do, nhập lại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F3 Lỗi thanh toán &amp; phục hồi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SCR-06 →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05, 06, 06-ERR, 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Timeout → Thử lại hoặc chuyển tiền mặt</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bl>
          </a:graphicData>
        </a:graphic>
      </p:graphicFrame>
      <p:sp>
        <p:nvSpPr>
          <p:cNvPr id="7" name="Text 3"/>
          <p:cNvSpPr txBox="1"/>
          <p:nvPr/>
        </p:nvSpPr>
        <p:spPr>
          <a:xfrm>
            <a:off x="457200" y="3063240"/>
            <a:ext cx="8229600" cy="320040"/>
          </a:xfrm>
          <a:prstGeom prst="rect">
            <a:avLst/>
          </a:prstGeom>
          <a:noFill/>
          <a:ln/>
        </p:spPr>
        <p:txBody>
          <a:bodyPr wrap="square" lIns="0" tIns="0" rIns="0" bIns="0" rtlCol="0" anchor="ctr"/>
          <a:lstStyle/>
          <a:p>
            <a:pPr indent="0" marL="0">
              <a:buNone/>
            </a:pPr>
            <a:r>
              <a:rPr lang="en-US" sz="1400" dirty="0">
                <a:solidFill>
                  <a:srgbClr val="3A2216"/>
                </a:solidFill>
                <a:latin typeface="Calibri" pitchFamily="34" charset="0"/>
                <a:ea typeface="Calibri" pitchFamily="34" charset="-122"/>
                <a:cs typeface="Calibri" pitchFamily="34" charset="-120"/>
              </a:rPr>
              <a:t>SCR-01 là điểm vào app trước F1. SCR-08 nối vào F1 qua "Đặt lại đơn cũ".</a:t>
            </a:r>
            <a:endParaRPr lang="en-US" sz="1400" dirty="0"/>
          </a:p>
        </p:txBody>
      </p:sp>
      <p:sp>
        <p:nvSpPr>
          <p:cNvPr id="8" name="Shape 4"/>
          <p:cNvSpPr/>
          <p:nvPr/>
        </p:nvSpPr>
        <p:spPr>
          <a:xfrm>
            <a:off x="457200" y="3474720"/>
            <a:ext cx="8229600" cy="1005840"/>
          </a:xfrm>
          <a:prstGeom prst="roundRect">
            <a:avLst>
              <a:gd name="adj" fmla="val 9091"/>
            </a:avLst>
          </a:prstGeom>
          <a:solidFill>
            <a:srgbClr val="FFFFFF"/>
          </a:solidFill>
          <a:ln w="19050">
            <a:solidFill>
              <a:srgbClr val="B45309"/>
            </a:solidFill>
            <a:prstDash val="dash"/>
          </a:ln>
        </p:spPr>
      </p:sp>
      <p:sp>
        <p:nvSpPr>
          <p:cNvPr id="9" name="Text 5"/>
          <p:cNvSpPr txBox="1"/>
          <p:nvPr/>
        </p:nvSpPr>
        <p:spPr>
          <a:xfrm>
            <a:off x="548640" y="3474720"/>
            <a:ext cx="8046720" cy="1005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Chèn ảnh Figma Page 01 (sau khi sửa mã màn hình cho khớp repo)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Tạo UI bằng Google Stitch</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design/DESIGN.md · ai/ai-design-log.md · assets/stitch/</a:t>
            </a:r>
            <a:endParaRPr lang="en-US" sz="1200" dirty="0"/>
          </a:p>
        </p:txBody>
      </p:sp>
      <p:sp>
        <p:nvSpPr>
          <p:cNvPr id="6" name="Shape 3"/>
          <p:cNvSpPr/>
          <p:nvPr/>
        </p:nvSpPr>
        <p:spPr>
          <a:xfrm>
            <a:off x="457200" y="1097280"/>
            <a:ext cx="4206240" cy="3383280"/>
          </a:xfrm>
          <a:prstGeom prst="roundRect">
            <a:avLst>
              <a:gd name="adj" fmla="val 3243"/>
            </a:avLst>
          </a:prstGeom>
          <a:solidFill>
            <a:srgbClr val="FBEFE0"/>
          </a:solidFill>
          <a:ln w="12700">
            <a:solidFill>
              <a:srgbClr val="FBEFE0"/>
            </a:solidFill>
            <a:prstDash val="solid"/>
          </a:ln>
        </p:spPr>
      </p:sp>
      <p:sp>
        <p:nvSpPr>
          <p:cNvPr id="7" name="Text 4"/>
          <p:cNvSpPr txBox="1"/>
          <p:nvPr/>
        </p:nvSpPr>
        <p:spPr>
          <a:xfrm>
            <a:off x="594360" y="1188720"/>
            <a:ext cx="393192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Trích nguyên văn prompt</a:t>
            </a:r>
            <a:endParaRPr lang="en-US" sz="1600" dirty="0"/>
          </a:p>
        </p:txBody>
      </p:sp>
      <p:sp>
        <p:nvSpPr>
          <p:cNvPr id="8" name="Text 5"/>
          <p:cNvSpPr txBox="1"/>
          <p:nvPr/>
        </p:nvSpPr>
        <p:spPr>
          <a:xfrm>
            <a:off x="594360" y="1554480"/>
            <a:ext cx="3931920" cy="1920240"/>
          </a:xfrm>
          <a:prstGeom prst="rect">
            <a:avLst/>
          </a:prstGeom>
          <a:noFill/>
          <a:ln/>
        </p:spPr>
        <p:txBody>
          <a:bodyPr wrap="square" lIns="0" tIns="0" rIns="0" bIns="0" rtlCol="0" anchor="t"/>
          <a:lstStyle/>
          <a:p>
            <a:pPr indent="0" marL="0">
              <a:buNone/>
            </a:pPr>
            <a:r>
              <a:rPr lang="en-US" sz="1300" i="1" dirty="0">
                <a:solidFill>
                  <a:srgbClr val="3A2216"/>
                </a:solidFill>
                <a:latin typeface="Calibri" pitchFamily="34" charset="0"/>
                <a:ea typeface="Calibri" pitchFamily="34" charset="-122"/>
                <a:cs typeface="Calibri" pitchFamily="34" charset="-120"/>
              </a:rPr>
              <a:t>“Design a modern, appetizing mobile food ordering application named "BreakBite" tailored specifically for university students with short 15-minute breaks on campus. … Mobile App UI, Screen resolution 360 x 800 dp … Follow Material Design 3 guidelines with comfortable thumb-zone reachability … touch targets strictly minimum 48x48 dp.”</a:t>
            </a:r>
            <a:endParaRPr lang="en-US" sz="1300" dirty="0"/>
          </a:p>
        </p:txBody>
      </p:sp>
      <p:sp>
        <p:nvSpPr>
          <p:cNvPr id="9" name="Text 6"/>
          <p:cNvSpPr txBox="1"/>
          <p:nvPr/>
        </p:nvSpPr>
        <p:spPr>
          <a:xfrm>
            <a:off x="594360" y="3611880"/>
            <a:ext cx="3931920" cy="731520"/>
          </a:xfrm>
          <a:prstGeom prst="rect">
            <a:avLst/>
          </a:prstGeom>
          <a:noFill/>
          <a:ln/>
        </p:spPr>
        <p:txBody>
          <a:bodyPr wrap="square" lIns="0" tIns="0" rIns="0" bIns="0" rtlCol="0" anchor="t"/>
          <a:lstStyle/>
          <a:p>
            <a:pPr indent="0" marL="0">
              <a:buNone/>
            </a:pPr>
            <a:r>
              <a:rPr lang="en-US" sz="1300" b="1" dirty="0">
                <a:solidFill>
                  <a:srgbClr val="B45309"/>
                </a:solidFill>
                <a:latin typeface="Calibri" pitchFamily="34" charset="0"/>
                <a:ea typeface="Calibri" pitchFamily="34" charset="-122"/>
                <a:cs typeface="Calibri" pitchFamily="34" charset="-120"/>
              </a:rPr>
              <a:t>Persona · Task (4 màn) · Nền tảng · Ràng buộc · Phong cách</a:t>
            </a:r>
            <a:endParaRPr lang="en-US" sz="1300" dirty="0"/>
          </a:p>
          <a:p>
            <a:pPr indent="0" marL="0">
              <a:buNone/>
            </a:pPr>
            <a:r>
              <a:rPr lang="en-US" sz="1300" dirty="0">
                <a:solidFill>
                  <a:srgbClr val="B45309"/>
                </a:solidFill>
                <a:latin typeface="Calibri" pitchFamily="34" charset="0"/>
                <a:ea typeface="Calibri" pitchFamily="34" charset="-122"/>
                <a:cs typeface="Calibri" pitchFamily="34" charset="-120"/>
              </a:rPr>
              <a:t>Toàn văn: ai-design-log.md mục 2.1</a:t>
            </a:r>
            <a:endParaRPr lang="en-US" sz="1300" dirty="0"/>
          </a:p>
        </p:txBody>
      </p:sp>
      <p:pic>
        <p:nvPicPr>
          <p:cNvPr id="10" name="Image 0" descr="D:\Study\FPTU\Sem8\PRM323\prm393-lab2\assets\stitch\02_initial_stitch_detail.png">    </p:cNvPr>
          <p:cNvPicPr>
            <a:picLocks noChangeAspect="1"/>
          </p:cNvPicPr>
          <p:nvPr/>
        </p:nvPicPr>
        <p:blipFill>
          <a:blip r:embed="rId1"/>
          <a:stretch>
            <a:fillRect/>
          </a:stretch>
        </p:blipFill>
        <p:spPr>
          <a:xfrm>
            <a:off x="4892040" y="1097280"/>
            <a:ext cx="813673" cy="3108960"/>
          </a:xfrm>
          <a:prstGeom prst="rect">
            <a:avLst/>
          </a:prstGeom>
        </p:spPr>
      </p:pic>
      <p:pic>
        <p:nvPicPr>
          <p:cNvPr id="11" name="Image 1" descr="D:\Study\FPTU\Sem8\PRM323\prm393-lab2\assets\stitch\03_initial_stitch_cart.png">    </p:cNvPr>
          <p:cNvPicPr>
            <a:picLocks noChangeAspect="1"/>
          </p:cNvPicPr>
          <p:nvPr/>
        </p:nvPicPr>
        <p:blipFill>
          <a:blip r:embed="rId2"/>
          <a:stretch>
            <a:fillRect/>
          </a:stretch>
        </p:blipFill>
        <p:spPr>
          <a:xfrm>
            <a:off x="5888593" y="1097280"/>
            <a:ext cx="941189" cy="3108960"/>
          </a:xfrm>
          <a:prstGeom prst="rect">
            <a:avLst/>
          </a:prstGeom>
        </p:spPr>
      </p:pic>
      <p:pic>
        <p:nvPicPr>
          <p:cNvPr id="12" name="Image 2" descr="D:\Study\FPTU\Sem8\PRM323\prm393-lab2\assets\stitch\04_initial_stitch_tracking.png">    </p:cNvPr>
          <p:cNvPicPr>
            <a:picLocks noChangeAspect="1"/>
          </p:cNvPicPr>
          <p:nvPr/>
        </p:nvPicPr>
        <p:blipFill>
          <a:blip r:embed="rId3"/>
          <a:stretch>
            <a:fillRect/>
          </a:stretch>
        </p:blipFill>
        <p:spPr>
          <a:xfrm>
            <a:off x="7012662" y="1097280"/>
            <a:ext cx="898684" cy="3108960"/>
          </a:xfrm>
          <a:prstGeom prst="rect">
            <a:avLst/>
          </a:prstGeom>
        </p:spPr>
      </p:pic>
      <p:sp>
        <p:nvSpPr>
          <p:cNvPr id="13" name="Text 7"/>
          <p:cNvSpPr txBox="1"/>
          <p:nvPr/>
        </p:nvSpPr>
        <p:spPr>
          <a:xfrm>
            <a:off x="4892040" y="4251960"/>
            <a:ext cx="3749040" cy="274320"/>
          </a:xfrm>
          <a:prstGeom prst="rect">
            <a:avLst/>
          </a:prstGeom>
          <a:noFill/>
          <a:ln/>
        </p:spPr>
        <p:txBody>
          <a:bodyPr wrap="square" lIns="0" tIns="0" rIns="0" bIns="0" rtlCol="0" anchor="ctr"/>
          <a:lstStyle/>
          <a:p>
            <a:pPr indent="0" marL="0">
              <a:buNone/>
            </a:pPr>
            <a:r>
              <a:rPr lang="en-US" sz="1100" i="1" dirty="0">
                <a:solidFill>
                  <a:srgbClr val="7A6A60"/>
                </a:solidFill>
                <a:latin typeface="Calibri" pitchFamily="34" charset="0"/>
                <a:ea typeface="Calibri" pitchFamily="34" charset="-122"/>
                <a:cs typeface="Calibri" pitchFamily="34" charset="-120"/>
              </a:rPr>
              <a:t>Chi tiết · Giỏ hàng · Theo dõi đơn (bản đầu)</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06</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Ba vòng tinh chỉnh và AI critique</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ai/ai-design-log.md · ảnh trước/sau</a:t>
            </a:r>
            <a:endParaRPr lang="en-US" sz="1200" dirty="0"/>
          </a:p>
        </p:txBody>
      </p:sp>
      <p:sp>
        <p:nvSpPr>
          <p:cNvPr id="6" name="Text 3"/>
          <p:cNvSpPr txBox="1"/>
          <p:nvPr/>
        </p:nvSpPr>
        <p:spPr>
          <a:xfrm>
            <a:off x="457200" y="1051560"/>
            <a:ext cx="2651760" cy="320040"/>
          </a:xfrm>
          <a:prstGeom prst="rect">
            <a:avLst/>
          </a:prstGeom>
          <a:noFill/>
          <a:ln/>
        </p:spPr>
        <p:txBody>
          <a:bodyPr wrap="square" lIns="0" tIns="0" rIns="0" bIns="0" rtlCol="0" anchor="ctr"/>
          <a:lstStyle/>
          <a:p>
            <a:pPr indent="0" marL="0">
              <a:buNone/>
            </a:pPr>
            <a:r>
              <a:rPr lang="en-US" sz="1400" b="1" dirty="0">
                <a:solidFill>
                  <a:srgbClr val="622B14"/>
                </a:solidFill>
                <a:latin typeface="Cambria" pitchFamily="34" charset="0"/>
                <a:ea typeface="Cambria" pitchFamily="34" charset="-122"/>
                <a:cs typeface="Cambria" pitchFamily="34" charset="-120"/>
              </a:rPr>
              <a:t>Vòng 1: CTA khó đọc</a:t>
            </a:r>
            <a:endParaRPr lang="en-US" sz="1400" dirty="0"/>
          </a:p>
        </p:txBody>
      </p:sp>
      <p:sp>
        <p:nvSpPr>
          <p:cNvPr id="7" name="Text 4"/>
          <p:cNvSpPr txBox="1"/>
          <p:nvPr/>
        </p:nvSpPr>
        <p:spPr>
          <a:xfrm>
            <a:off x="457200" y="1353312"/>
            <a:ext cx="2651760" cy="274320"/>
          </a:xfrm>
          <a:prstGeom prst="rect">
            <a:avLst/>
          </a:prstGeom>
          <a:noFill/>
          <a:ln/>
        </p:spPr>
        <p:txBody>
          <a:bodyPr wrap="square" lIns="0" tIns="0" rIns="0" bIns="0" rtlCol="0" anchor="ctr"/>
          <a:lstStyle/>
          <a:p>
            <a:pPr indent="0" marL="0">
              <a:buNone/>
            </a:pPr>
            <a:r>
              <a:rPr lang="en-US" sz="1200" dirty="0">
                <a:solidFill>
                  <a:srgbClr val="7A6A60"/>
                </a:solidFill>
                <a:latin typeface="Calibri" pitchFamily="34" charset="0"/>
                <a:ea typeface="Calibri" pitchFamily="34" charset="-122"/>
                <a:cs typeface="Calibri" pitchFamily="34" charset="-120"/>
              </a:rPr>
              <a:t>Đo lại: 2,14:1 → đổi chữ nút sang nâu</a:t>
            </a:r>
            <a:endParaRPr lang="en-US" sz="1200" dirty="0"/>
          </a:p>
        </p:txBody>
      </p:sp>
      <p:sp>
        <p:nvSpPr>
          <p:cNvPr id="8" name="Shape 5"/>
          <p:cNvSpPr/>
          <p:nvPr/>
        </p:nvSpPr>
        <p:spPr>
          <a:xfrm>
            <a:off x="457200" y="1691640"/>
            <a:ext cx="1280160" cy="1325880"/>
          </a:xfrm>
          <a:prstGeom prst="roundRect">
            <a:avLst>
              <a:gd name="adj" fmla="val 7143"/>
            </a:avLst>
          </a:prstGeom>
          <a:solidFill>
            <a:srgbClr val="FFFFFF"/>
          </a:solidFill>
          <a:ln w="19050">
            <a:solidFill>
              <a:srgbClr val="B45309"/>
            </a:solidFill>
            <a:prstDash val="dash"/>
          </a:ln>
        </p:spPr>
      </p:sp>
      <p:sp>
        <p:nvSpPr>
          <p:cNvPr id="9" name="Text 6"/>
          <p:cNvSpPr txBox="1"/>
          <p:nvPr/>
        </p:nvSpPr>
        <p:spPr>
          <a:xfrm>
            <a:off x="54864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Trước</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0" name="Shape 7"/>
          <p:cNvSpPr/>
          <p:nvPr/>
        </p:nvSpPr>
        <p:spPr>
          <a:xfrm>
            <a:off x="1828800" y="1691640"/>
            <a:ext cx="1280160" cy="1325880"/>
          </a:xfrm>
          <a:prstGeom prst="roundRect">
            <a:avLst>
              <a:gd name="adj" fmla="val 7143"/>
            </a:avLst>
          </a:prstGeom>
          <a:solidFill>
            <a:srgbClr val="FFFFFF"/>
          </a:solidFill>
          <a:ln w="19050">
            <a:solidFill>
              <a:srgbClr val="B45309"/>
            </a:solidFill>
            <a:prstDash val="dash"/>
          </a:ln>
        </p:spPr>
      </p:sp>
      <p:sp>
        <p:nvSpPr>
          <p:cNvPr id="11" name="Text 8"/>
          <p:cNvSpPr txBox="1"/>
          <p:nvPr/>
        </p:nvSpPr>
        <p:spPr>
          <a:xfrm>
            <a:off x="192024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Sau</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2" name="Text 9"/>
          <p:cNvSpPr txBox="1"/>
          <p:nvPr/>
        </p:nvSpPr>
        <p:spPr>
          <a:xfrm>
            <a:off x="3246120" y="1051560"/>
            <a:ext cx="2651760" cy="320040"/>
          </a:xfrm>
          <a:prstGeom prst="rect">
            <a:avLst/>
          </a:prstGeom>
          <a:noFill/>
          <a:ln/>
        </p:spPr>
        <p:txBody>
          <a:bodyPr wrap="square" lIns="0" tIns="0" rIns="0" bIns="0" rtlCol="0" anchor="ctr"/>
          <a:lstStyle/>
          <a:p>
            <a:pPr indent="0" marL="0">
              <a:buNone/>
            </a:pPr>
            <a:r>
              <a:rPr lang="en-US" sz="1400" b="1" dirty="0">
                <a:solidFill>
                  <a:srgbClr val="622B14"/>
                </a:solidFill>
                <a:latin typeface="Cambria" pitchFamily="34" charset="0"/>
                <a:ea typeface="Cambria" pitchFamily="34" charset="-122"/>
                <a:cs typeface="Cambria" pitchFamily="34" charset="-120"/>
              </a:rPr>
              <a:t>Vòng 2: Thiếu giỏ trống</a:t>
            </a:r>
            <a:endParaRPr lang="en-US" sz="1400" dirty="0"/>
          </a:p>
        </p:txBody>
      </p:sp>
      <p:sp>
        <p:nvSpPr>
          <p:cNvPr id="13" name="Text 10"/>
          <p:cNvSpPr txBox="1"/>
          <p:nvPr/>
        </p:nvSpPr>
        <p:spPr>
          <a:xfrm>
            <a:off x="3246120" y="1353312"/>
            <a:ext cx="2651760" cy="274320"/>
          </a:xfrm>
          <a:prstGeom prst="rect">
            <a:avLst/>
          </a:prstGeom>
          <a:noFill/>
          <a:ln/>
        </p:spPr>
        <p:txBody>
          <a:bodyPr wrap="square" lIns="0" tIns="0" rIns="0" bIns="0" rtlCol="0" anchor="ctr"/>
          <a:lstStyle/>
          <a:p>
            <a:pPr indent="0" marL="0">
              <a:buNone/>
            </a:pPr>
            <a:r>
              <a:rPr lang="en-US" sz="1200" dirty="0">
                <a:solidFill>
                  <a:srgbClr val="7A6A60"/>
                </a:solidFill>
                <a:latin typeface="Calibri" pitchFamily="34" charset="0"/>
                <a:ea typeface="Calibri" pitchFamily="34" charset="-122"/>
                <a:cs typeface="Calibri" pitchFamily="34" charset="-120"/>
              </a:rPr>
              <a:t>Thêm empty state + xác nhận xoá</a:t>
            </a:r>
            <a:endParaRPr lang="en-US" sz="1200" dirty="0"/>
          </a:p>
        </p:txBody>
      </p:sp>
      <p:sp>
        <p:nvSpPr>
          <p:cNvPr id="14" name="Shape 11"/>
          <p:cNvSpPr/>
          <p:nvPr/>
        </p:nvSpPr>
        <p:spPr>
          <a:xfrm>
            <a:off x="3246120" y="1691640"/>
            <a:ext cx="1280160" cy="1325880"/>
          </a:xfrm>
          <a:prstGeom prst="roundRect">
            <a:avLst>
              <a:gd name="adj" fmla="val 7143"/>
            </a:avLst>
          </a:prstGeom>
          <a:solidFill>
            <a:srgbClr val="FFFFFF"/>
          </a:solidFill>
          <a:ln w="19050">
            <a:solidFill>
              <a:srgbClr val="B45309"/>
            </a:solidFill>
            <a:prstDash val="dash"/>
          </a:ln>
        </p:spPr>
      </p:sp>
      <p:sp>
        <p:nvSpPr>
          <p:cNvPr id="15" name="Text 12"/>
          <p:cNvSpPr txBox="1"/>
          <p:nvPr/>
        </p:nvSpPr>
        <p:spPr>
          <a:xfrm>
            <a:off x="333756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Trước</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6" name="Shape 13"/>
          <p:cNvSpPr/>
          <p:nvPr/>
        </p:nvSpPr>
        <p:spPr>
          <a:xfrm>
            <a:off x="4617720" y="1691640"/>
            <a:ext cx="1280160" cy="1325880"/>
          </a:xfrm>
          <a:prstGeom prst="roundRect">
            <a:avLst>
              <a:gd name="adj" fmla="val 7143"/>
            </a:avLst>
          </a:prstGeom>
          <a:solidFill>
            <a:srgbClr val="FFFFFF"/>
          </a:solidFill>
          <a:ln w="19050">
            <a:solidFill>
              <a:srgbClr val="B45309"/>
            </a:solidFill>
            <a:prstDash val="dash"/>
          </a:ln>
        </p:spPr>
      </p:sp>
      <p:sp>
        <p:nvSpPr>
          <p:cNvPr id="17" name="Text 14"/>
          <p:cNvSpPr txBox="1"/>
          <p:nvPr/>
        </p:nvSpPr>
        <p:spPr>
          <a:xfrm>
            <a:off x="470916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Sau</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18" name="Text 15"/>
          <p:cNvSpPr txBox="1"/>
          <p:nvPr/>
        </p:nvSpPr>
        <p:spPr>
          <a:xfrm>
            <a:off x="6035040" y="1051560"/>
            <a:ext cx="2651760" cy="320040"/>
          </a:xfrm>
          <a:prstGeom prst="rect">
            <a:avLst/>
          </a:prstGeom>
          <a:noFill/>
          <a:ln/>
        </p:spPr>
        <p:txBody>
          <a:bodyPr wrap="square" lIns="0" tIns="0" rIns="0" bIns="0" rtlCol="0" anchor="ctr"/>
          <a:lstStyle/>
          <a:p>
            <a:pPr indent="0" marL="0">
              <a:buNone/>
            </a:pPr>
            <a:r>
              <a:rPr lang="en-US" sz="1400" b="1" dirty="0">
                <a:solidFill>
                  <a:srgbClr val="622B14"/>
                </a:solidFill>
                <a:latin typeface="Cambria" pitchFamily="34" charset="0"/>
                <a:ea typeface="Cambria" pitchFamily="34" charset="-122"/>
                <a:cs typeface="Cambria" pitchFamily="34" charset="-120"/>
              </a:rPr>
              <a:t>Vòng 3: Lỗi là ngõ cụt</a:t>
            </a:r>
            <a:endParaRPr lang="en-US" sz="1400" dirty="0"/>
          </a:p>
        </p:txBody>
      </p:sp>
      <p:sp>
        <p:nvSpPr>
          <p:cNvPr id="19" name="Text 16"/>
          <p:cNvSpPr txBox="1"/>
          <p:nvPr/>
        </p:nvSpPr>
        <p:spPr>
          <a:xfrm>
            <a:off x="6035040" y="1353312"/>
            <a:ext cx="2651760" cy="274320"/>
          </a:xfrm>
          <a:prstGeom prst="rect">
            <a:avLst/>
          </a:prstGeom>
          <a:noFill/>
          <a:ln/>
        </p:spPr>
        <p:txBody>
          <a:bodyPr wrap="square" lIns="0" tIns="0" rIns="0" bIns="0" rtlCol="0" anchor="ctr"/>
          <a:lstStyle/>
          <a:p>
            <a:pPr indent="0" marL="0">
              <a:buNone/>
            </a:pPr>
            <a:r>
              <a:rPr lang="en-US" sz="1200" dirty="0">
                <a:solidFill>
                  <a:srgbClr val="7A6A60"/>
                </a:solidFill>
                <a:latin typeface="Calibri" pitchFamily="34" charset="0"/>
                <a:ea typeface="Calibri" pitchFamily="34" charset="-122"/>
                <a:cs typeface="Calibri" pitchFamily="34" charset="-120"/>
              </a:rPr>
              <a:t>Thêm SCR-06-ERR, giữ giỏ hàng</a:t>
            </a:r>
            <a:endParaRPr lang="en-US" sz="1200" dirty="0"/>
          </a:p>
        </p:txBody>
      </p:sp>
      <p:sp>
        <p:nvSpPr>
          <p:cNvPr id="20" name="Shape 17"/>
          <p:cNvSpPr/>
          <p:nvPr/>
        </p:nvSpPr>
        <p:spPr>
          <a:xfrm>
            <a:off x="6035040" y="1691640"/>
            <a:ext cx="1280160" cy="1325880"/>
          </a:xfrm>
          <a:prstGeom prst="roundRect">
            <a:avLst>
              <a:gd name="adj" fmla="val 7143"/>
            </a:avLst>
          </a:prstGeom>
          <a:solidFill>
            <a:srgbClr val="FFFFFF"/>
          </a:solidFill>
          <a:ln w="19050">
            <a:solidFill>
              <a:srgbClr val="B45309"/>
            </a:solidFill>
            <a:prstDash val="dash"/>
          </a:ln>
        </p:spPr>
      </p:sp>
      <p:sp>
        <p:nvSpPr>
          <p:cNvPr id="21" name="Text 18"/>
          <p:cNvSpPr txBox="1"/>
          <p:nvPr/>
        </p:nvSpPr>
        <p:spPr>
          <a:xfrm>
            <a:off x="612648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Trước</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22" name="Shape 19"/>
          <p:cNvSpPr/>
          <p:nvPr/>
        </p:nvSpPr>
        <p:spPr>
          <a:xfrm>
            <a:off x="7406640" y="1691640"/>
            <a:ext cx="1280160" cy="1325880"/>
          </a:xfrm>
          <a:prstGeom prst="roundRect">
            <a:avLst>
              <a:gd name="adj" fmla="val 7143"/>
            </a:avLst>
          </a:prstGeom>
          <a:solidFill>
            <a:srgbClr val="FFFFFF"/>
          </a:solidFill>
          <a:ln w="19050">
            <a:solidFill>
              <a:srgbClr val="B45309"/>
            </a:solidFill>
            <a:prstDash val="dash"/>
          </a:ln>
        </p:spPr>
      </p:sp>
      <p:sp>
        <p:nvSpPr>
          <p:cNvPr id="23" name="Text 20"/>
          <p:cNvSpPr txBox="1"/>
          <p:nvPr/>
        </p:nvSpPr>
        <p:spPr>
          <a:xfrm>
            <a:off x="7498080" y="1691640"/>
            <a:ext cx="1097280" cy="132588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Sau</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(chụp lại)</a:t>
            </a:r>
            <a:endParaRPr lang="en-US" sz="1300" dirty="0"/>
          </a:p>
        </p:txBody>
      </p:sp>
      <p:sp>
        <p:nvSpPr>
          <p:cNvPr id="24" name="Shape 21"/>
          <p:cNvSpPr/>
          <p:nvPr/>
        </p:nvSpPr>
        <p:spPr>
          <a:xfrm>
            <a:off x="457200" y="3200400"/>
            <a:ext cx="8229600" cy="1298448"/>
          </a:xfrm>
          <a:prstGeom prst="roundRect">
            <a:avLst>
              <a:gd name="adj" fmla="val 8451"/>
            </a:avLst>
          </a:prstGeom>
          <a:solidFill>
            <a:srgbClr val="FBEFE0"/>
          </a:solidFill>
          <a:ln w="12700">
            <a:solidFill>
              <a:srgbClr val="FBEFE0"/>
            </a:solidFill>
            <a:prstDash val="solid"/>
          </a:ln>
        </p:spPr>
      </p:sp>
      <p:sp>
        <p:nvSpPr>
          <p:cNvPr id="25" name="Text 22"/>
          <p:cNvSpPr txBox="1"/>
          <p:nvPr/>
        </p:nvSpPr>
        <p:spPr>
          <a:xfrm>
            <a:off x="594360" y="3291840"/>
            <a:ext cx="795528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AI critique: 5 phát hiện gắn màn hình</a:t>
            </a:r>
            <a:endParaRPr lang="en-US" sz="1600" dirty="0"/>
          </a:p>
        </p:txBody>
      </p:sp>
      <p:sp>
        <p:nvSpPr>
          <p:cNvPr id="26" name="Text 23"/>
          <p:cNvSpPr txBox="1"/>
          <p:nvPr/>
        </p:nvSpPr>
        <p:spPr>
          <a:xfrm>
            <a:off x="594360" y="3657600"/>
            <a:ext cx="7955280" cy="749808"/>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3A2216"/>
                </a:solidFill>
                <a:latin typeface="Calibri" pitchFamily="34" charset="0"/>
                <a:ea typeface="Calibri" pitchFamily="34" charset="-122"/>
                <a:cs typeface="Calibri" pitchFamily="34" charset="-120"/>
              </a:rPr>
              <a:t>SCR-02 H#1 thiếu trạng thái Kiosk · SCR-04 H#6 giá không cộng dồn · SCR-05 H#9 lỗi voucher không rõ lý do</a:t>
            </a:r>
            <a:endParaRPr lang="en-US" sz="1300" dirty="0"/>
          </a:p>
          <a:p>
            <a:pPr marL="342900" indent="-342900">
              <a:spcAft>
                <a:spcPts val="300"/>
              </a:spcAft>
              <a:buSzPct val="100000"/>
              <a:buChar char="•"/>
            </a:pPr>
            <a:r>
              <a:rPr lang="en-US" sz="1300" dirty="0">
                <a:solidFill>
                  <a:srgbClr val="3A2216"/>
                </a:solidFill>
                <a:latin typeface="Calibri" pitchFamily="34" charset="0"/>
                <a:ea typeface="Calibri" pitchFamily="34" charset="-122"/>
                <a:cs typeface="Calibri" pitchFamily="34" charset="-120"/>
              </a:rPr>
              <a:t>SCR-07 H#3 không huỷ được đơn · SCR-03 WCAG 2.5.5 icon lọc 20×20 dp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07</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Quyết định thiết kế</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ai/ai-design-log.md mục 5 · design/design-decisions.md</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91840"/>
                <a:gridCol w="1005840"/>
                <a:gridCol w="39319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Đề xuất của AI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Quyết định</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Lý do</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Thêm trạng thái Kiosk mở/đóng ở SCR-02</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Chấp nhận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H#1: tránh chọn món xong mới biết quầy quá tải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Cộng dồn giá topping lên nút CTA ở SCR-04</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Chấp nhận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H#6 + persona có ngân sách giới hạn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66928">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Cho huỷ đơn bất kỳ lúc nào ở SCR-07</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Chỉnh sửa</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Ràng buộc bếp: chỉ huỷ trong 60 giây đầu, có dialog xác nhận</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66928">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trắng trên nút cam #F69D39</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Chỉnh sửa</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Đo lại chỉ 2,14:1; giữ nền cam, chữ nâu #622B14 đạt 5,23:1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502920">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[Đề xuất bị từ chối — chỉ điền nếu có trong log]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Từ chối</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[lý do gắn persona / heuristic / ràng buộc]</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08</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Từ wireframe đến Final UI</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Figma Page 02 · Page 03 · assets/figma/</a:t>
            </a:r>
            <a:endParaRPr lang="en-US" sz="1200" dirty="0"/>
          </a:p>
        </p:txBody>
      </p:sp>
      <p:sp>
        <p:nvSpPr>
          <p:cNvPr id="6" name="Shape 3"/>
          <p:cNvSpPr/>
          <p:nvPr/>
        </p:nvSpPr>
        <p:spPr>
          <a:xfrm>
            <a:off x="457200" y="1097280"/>
            <a:ext cx="1600200" cy="3291840"/>
          </a:xfrm>
          <a:prstGeom prst="roundRect">
            <a:avLst>
              <a:gd name="adj" fmla="val 5714"/>
            </a:avLst>
          </a:prstGeom>
          <a:solidFill>
            <a:srgbClr val="FFFFFF"/>
          </a:solidFill>
          <a:ln w="19050">
            <a:solidFill>
              <a:srgbClr val="B45309"/>
            </a:solidFill>
            <a:prstDash val="dash"/>
          </a:ln>
        </p:spPr>
      </p:sp>
      <p:sp>
        <p:nvSpPr>
          <p:cNvPr id="7" name="Text 4"/>
          <p:cNvSpPr txBox="1"/>
          <p:nvPr/>
        </p:nvSpPr>
        <p:spPr>
          <a:xfrm>
            <a:off x="54864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Wireframe</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SCR-04</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(Figma 02)</a:t>
            </a:r>
            <a:endParaRPr lang="en-US" sz="1300" dirty="0"/>
          </a:p>
        </p:txBody>
      </p:sp>
      <p:sp>
        <p:nvSpPr>
          <p:cNvPr id="8" name="Shape 5"/>
          <p:cNvSpPr/>
          <p:nvPr/>
        </p:nvSpPr>
        <p:spPr>
          <a:xfrm>
            <a:off x="2148840" y="1097280"/>
            <a:ext cx="1600200" cy="3291840"/>
          </a:xfrm>
          <a:prstGeom prst="roundRect">
            <a:avLst>
              <a:gd name="adj" fmla="val 5714"/>
            </a:avLst>
          </a:prstGeom>
          <a:solidFill>
            <a:srgbClr val="FFFFFF"/>
          </a:solidFill>
          <a:ln w="19050">
            <a:solidFill>
              <a:srgbClr val="B45309"/>
            </a:solidFill>
            <a:prstDash val="dash"/>
          </a:ln>
        </p:spPr>
      </p:sp>
      <p:sp>
        <p:nvSpPr>
          <p:cNvPr id="9" name="Text 6"/>
          <p:cNvSpPr txBox="1"/>
          <p:nvPr/>
        </p:nvSpPr>
        <p:spPr>
          <a:xfrm>
            <a:off x="224028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Final UI</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SCR-04</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(Figma 03)</a:t>
            </a:r>
            <a:endParaRPr lang="en-US" sz="1300" dirty="0"/>
          </a:p>
        </p:txBody>
      </p:sp>
      <p:sp>
        <p:nvSpPr>
          <p:cNvPr id="10" name="Shape 7"/>
          <p:cNvSpPr/>
          <p:nvPr/>
        </p:nvSpPr>
        <p:spPr>
          <a:xfrm>
            <a:off x="3840480" y="1097280"/>
            <a:ext cx="1600200" cy="3291840"/>
          </a:xfrm>
          <a:prstGeom prst="roundRect">
            <a:avLst>
              <a:gd name="adj" fmla="val 5714"/>
            </a:avLst>
          </a:prstGeom>
          <a:solidFill>
            <a:srgbClr val="FFFFFF"/>
          </a:solidFill>
          <a:ln w="19050">
            <a:solidFill>
              <a:srgbClr val="B45309"/>
            </a:solidFill>
            <a:prstDash val="dash"/>
          </a:ln>
        </p:spPr>
      </p:sp>
      <p:sp>
        <p:nvSpPr>
          <p:cNvPr id="11" name="Text 8"/>
          <p:cNvSpPr txBox="1"/>
          <p:nvPr/>
        </p:nvSpPr>
        <p:spPr>
          <a:xfrm>
            <a:off x="393192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Wireframe</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SCR-06</a:t>
            </a:r>
            <a:endParaRPr lang="en-US" sz="1300" dirty="0"/>
          </a:p>
        </p:txBody>
      </p:sp>
      <p:sp>
        <p:nvSpPr>
          <p:cNvPr id="12" name="Shape 9"/>
          <p:cNvSpPr/>
          <p:nvPr/>
        </p:nvSpPr>
        <p:spPr>
          <a:xfrm>
            <a:off x="5532120" y="1097280"/>
            <a:ext cx="1600200" cy="3291840"/>
          </a:xfrm>
          <a:prstGeom prst="roundRect">
            <a:avLst>
              <a:gd name="adj" fmla="val 5714"/>
            </a:avLst>
          </a:prstGeom>
          <a:solidFill>
            <a:srgbClr val="FFFFFF"/>
          </a:solidFill>
          <a:ln w="19050">
            <a:solidFill>
              <a:srgbClr val="B45309"/>
            </a:solidFill>
            <a:prstDash val="dash"/>
          </a:ln>
        </p:spPr>
      </p:sp>
      <p:sp>
        <p:nvSpPr>
          <p:cNvPr id="13" name="Text 10"/>
          <p:cNvSpPr txBox="1"/>
          <p:nvPr/>
        </p:nvSpPr>
        <p:spPr>
          <a:xfrm>
            <a:off x="5623560" y="1097280"/>
            <a:ext cx="1417320" cy="3291840"/>
          </a:xfrm>
          <a:prstGeom prst="rect">
            <a:avLst/>
          </a:prstGeom>
          <a:noFill/>
          <a:ln/>
        </p:spPr>
        <p:txBody>
          <a:bodyPr wrap="square" lIns="0" tIns="0" rIns="0" bIns="0" rtlCol="0" anchor="ctr"/>
          <a:lstStyle/>
          <a:p>
            <a:pPr algn="ctr" indent="0" marL="0">
              <a:buNone/>
            </a:pPr>
            <a:r>
              <a:rPr lang="en-US" sz="1300" dirty="0">
                <a:solidFill>
                  <a:srgbClr val="B45309"/>
                </a:solidFill>
                <a:latin typeface="Calibri" pitchFamily="34" charset="0"/>
                <a:ea typeface="Calibri" pitchFamily="34" charset="-122"/>
                <a:cs typeface="Calibri" pitchFamily="34" charset="-120"/>
              </a:rPr>
              <a:t>Final UI</a:t>
            </a:r>
            <a:endParaRPr lang="en-US" sz="1300" dirty="0"/>
          </a:p>
          <a:p>
            <a:pPr algn="ctr" indent="0" marL="0">
              <a:buNone/>
            </a:pPr>
            <a:r>
              <a:rPr lang="en-US" sz="1300" dirty="0">
                <a:solidFill>
                  <a:srgbClr val="B45309"/>
                </a:solidFill>
                <a:latin typeface="Calibri" pitchFamily="34" charset="0"/>
                <a:ea typeface="Calibri" pitchFamily="34" charset="-122"/>
                <a:cs typeface="Calibri" pitchFamily="34" charset="-120"/>
              </a:rPr>
              <a:t>SCR-06-ERR</a:t>
            </a:r>
            <a:endParaRPr lang="en-US" sz="1300" dirty="0"/>
          </a:p>
        </p:txBody>
      </p:sp>
      <p:sp>
        <p:nvSpPr>
          <p:cNvPr id="14" name="Text 11"/>
          <p:cNvSpPr txBox="1"/>
          <p:nvPr/>
        </p:nvSpPr>
        <p:spPr>
          <a:xfrm>
            <a:off x="7315200" y="1097280"/>
            <a:ext cx="1371600" cy="274320"/>
          </a:xfrm>
          <a:prstGeom prst="rect">
            <a:avLst/>
          </a:prstGeom>
          <a:noFill/>
          <a:ln/>
        </p:spPr>
        <p:txBody>
          <a:bodyPr wrap="square" lIns="0" tIns="0" rIns="0" bIns="0" rtlCol="0" anchor="ctr"/>
          <a:lstStyle/>
          <a:p>
            <a:pPr indent="0" marL="0">
              <a:buNone/>
            </a:pPr>
            <a:r>
              <a:rPr lang="en-US" sz="1300" b="1" dirty="0">
                <a:solidFill>
                  <a:srgbClr val="622B14"/>
                </a:solidFill>
                <a:latin typeface="Cambria" pitchFamily="34" charset="0"/>
                <a:ea typeface="Cambria" pitchFamily="34" charset="-122"/>
                <a:cs typeface="Cambria" pitchFamily="34" charset="-120"/>
              </a:rPr>
              <a:t>Trạng thái</a:t>
            </a:r>
            <a:endParaRPr lang="en-US" sz="1300" dirty="0"/>
          </a:p>
        </p:txBody>
      </p:sp>
      <p:sp>
        <p:nvSpPr>
          <p:cNvPr id="15" name="Text 12"/>
          <p:cNvSpPr txBox="1"/>
          <p:nvPr/>
        </p:nvSpPr>
        <p:spPr>
          <a:xfrm>
            <a:off x="7315200" y="1417320"/>
            <a:ext cx="1371600" cy="1463040"/>
          </a:xfrm>
          <a:prstGeom prst="rect">
            <a:avLst/>
          </a:prstGeom>
          <a:noFill/>
          <a:ln/>
        </p:spPr>
        <p:txBody>
          <a:bodyPr wrap="square" lIns="0" tIns="0" rIns="0" bIns="0" rtlCol="0" anchor="t"/>
          <a:lstStyle/>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Giỏ trống</a:t>
            </a:r>
            <a:endParaRPr lang="en-US" sz="1300" dirty="0"/>
          </a:p>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Lỗi thanh toán</a:t>
            </a:r>
            <a:endParaRPr lang="en-US" sz="1300" dirty="0"/>
          </a:p>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Loading</a:t>
            </a:r>
            <a:endParaRPr lang="en-US" sz="1300" dirty="0"/>
          </a:p>
          <a:p>
            <a:pPr marL="342900" indent="-342900">
              <a:buSzPct val="100000"/>
              <a:buChar char="•"/>
            </a:pPr>
            <a:r>
              <a:rPr lang="en-US" sz="1300" dirty="0">
                <a:solidFill>
                  <a:srgbClr val="3A2216"/>
                </a:solidFill>
                <a:latin typeface="Calibri" pitchFamily="34" charset="0"/>
                <a:ea typeface="Calibri" pitchFamily="34" charset="-122"/>
                <a:cs typeface="Calibri" pitchFamily="34" charset="-120"/>
              </a:rPr>
              <a:t>Dialog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09</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Design system và components</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design/DESIGN.md · Figma Page 04 · Page 05</a:t>
            </a:r>
            <a:endParaRPr lang="en-US" sz="1200" dirty="0"/>
          </a:p>
        </p:txBody>
      </p:sp>
      <p:sp>
        <p:nvSpPr>
          <p:cNvPr id="6" name="Shape 3"/>
          <p:cNvSpPr/>
          <p:nvPr/>
        </p:nvSpPr>
        <p:spPr>
          <a:xfrm>
            <a:off x="457200" y="1097280"/>
            <a:ext cx="640080" cy="640080"/>
          </a:xfrm>
          <a:prstGeom prst="roundRect">
            <a:avLst>
              <a:gd name="adj" fmla="val 14286"/>
            </a:avLst>
          </a:prstGeom>
          <a:solidFill>
            <a:srgbClr val="F69D39"/>
          </a:solidFill>
          <a:ln w="12700">
            <a:solidFill>
              <a:srgbClr val="D9C7B3"/>
            </a:solidFill>
            <a:prstDash val="solid"/>
          </a:ln>
        </p:spPr>
      </p:sp>
      <p:sp>
        <p:nvSpPr>
          <p:cNvPr id="7" name="Text 4"/>
          <p:cNvSpPr txBox="1"/>
          <p:nvPr/>
        </p:nvSpPr>
        <p:spPr>
          <a:xfrm>
            <a:off x="402336"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primary</a:t>
            </a:r>
            <a:endParaRPr lang="en-US" sz="1000" dirty="0"/>
          </a:p>
        </p:txBody>
      </p:sp>
      <p:sp>
        <p:nvSpPr>
          <p:cNvPr id="8" name="Shape 5"/>
          <p:cNvSpPr/>
          <p:nvPr/>
        </p:nvSpPr>
        <p:spPr>
          <a:xfrm>
            <a:off x="1216152" y="1097280"/>
            <a:ext cx="640080" cy="640080"/>
          </a:xfrm>
          <a:prstGeom prst="roundRect">
            <a:avLst>
              <a:gd name="adj" fmla="val 14286"/>
            </a:avLst>
          </a:prstGeom>
          <a:solidFill>
            <a:srgbClr val="622B14"/>
          </a:solidFill>
          <a:ln w="12700">
            <a:solidFill>
              <a:srgbClr val="D9C7B3"/>
            </a:solidFill>
            <a:prstDash val="solid"/>
          </a:ln>
        </p:spPr>
      </p:sp>
      <p:sp>
        <p:nvSpPr>
          <p:cNvPr id="9" name="Text 6"/>
          <p:cNvSpPr txBox="1"/>
          <p:nvPr/>
        </p:nvSpPr>
        <p:spPr>
          <a:xfrm>
            <a:off x="1161288"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on-primary</a:t>
            </a:r>
            <a:endParaRPr lang="en-US" sz="1000" dirty="0"/>
          </a:p>
        </p:txBody>
      </p:sp>
      <p:sp>
        <p:nvSpPr>
          <p:cNvPr id="10" name="Shape 7"/>
          <p:cNvSpPr/>
          <p:nvPr/>
        </p:nvSpPr>
        <p:spPr>
          <a:xfrm>
            <a:off x="1975104" y="1097280"/>
            <a:ext cx="640080" cy="640080"/>
          </a:xfrm>
          <a:prstGeom prst="roundRect">
            <a:avLst>
              <a:gd name="adj" fmla="val 14286"/>
            </a:avLst>
          </a:prstGeom>
          <a:solidFill>
            <a:srgbClr val="B45309"/>
          </a:solidFill>
          <a:ln w="12700">
            <a:solidFill>
              <a:srgbClr val="D9C7B3"/>
            </a:solidFill>
            <a:prstDash val="solid"/>
          </a:ln>
        </p:spPr>
      </p:sp>
      <p:sp>
        <p:nvSpPr>
          <p:cNvPr id="11" name="Text 8"/>
          <p:cNvSpPr txBox="1"/>
          <p:nvPr/>
        </p:nvSpPr>
        <p:spPr>
          <a:xfrm>
            <a:off x="1920240"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primary-text</a:t>
            </a:r>
            <a:endParaRPr lang="en-US" sz="1000" dirty="0"/>
          </a:p>
        </p:txBody>
      </p:sp>
      <p:sp>
        <p:nvSpPr>
          <p:cNvPr id="12" name="Shape 9"/>
          <p:cNvSpPr/>
          <p:nvPr/>
        </p:nvSpPr>
        <p:spPr>
          <a:xfrm>
            <a:off x="2734056" y="1097280"/>
            <a:ext cx="640080" cy="640080"/>
          </a:xfrm>
          <a:prstGeom prst="roundRect">
            <a:avLst>
              <a:gd name="adj" fmla="val 14286"/>
            </a:avLst>
          </a:prstGeom>
          <a:solidFill>
            <a:srgbClr val="8A5D48"/>
          </a:solidFill>
          <a:ln w="12700">
            <a:solidFill>
              <a:srgbClr val="D9C7B3"/>
            </a:solidFill>
            <a:prstDash val="solid"/>
          </a:ln>
        </p:spPr>
      </p:sp>
      <p:sp>
        <p:nvSpPr>
          <p:cNvPr id="13" name="Text 10"/>
          <p:cNvSpPr txBox="1"/>
          <p:nvPr/>
        </p:nvSpPr>
        <p:spPr>
          <a:xfrm>
            <a:off x="2679192"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text-secondary</a:t>
            </a:r>
            <a:endParaRPr lang="en-US" sz="1000" dirty="0"/>
          </a:p>
        </p:txBody>
      </p:sp>
      <p:sp>
        <p:nvSpPr>
          <p:cNvPr id="14" name="Shape 11"/>
          <p:cNvSpPr/>
          <p:nvPr/>
        </p:nvSpPr>
        <p:spPr>
          <a:xfrm>
            <a:off x="3493008" y="1097280"/>
            <a:ext cx="640080" cy="640080"/>
          </a:xfrm>
          <a:prstGeom prst="roundRect">
            <a:avLst>
              <a:gd name="adj" fmla="val 14286"/>
            </a:avLst>
          </a:prstGeom>
          <a:solidFill>
            <a:srgbClr val="B91C1C"/>
          </a:solidFill>
          <a:ln w="12700">
            <a:solidFill>
              <a:srgbClr val="D9C7B3"/>
            </a:solidFill>
            <a:prstDash val="solid"/>
          </a:ln>
        </p:spPr>
      </p:sp>
      <p:sp>
        <p:nvSpPr>
          <p:cNvPr id="15" name="Text 12"/>
          <p:cNvSpPr txBox="1"/>
          <p:nvPr/>
        </p:nvSpPr>
        <p:spPr>
          <a:xfrm>
            <a:off x="3438144"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error</a:t>
            </a:r>
            <a:endParaRPr lang="en-US" sz="1000" dirty="0"/>
          </a:p>
        </p:txBody>
      </p:sp>
      <p:sp>
        <p:nvSpPr>
          <p:cNvPr id="16" name="Shape 13"/>
          <p:cNvSpPr/>
          <p:nvPr/>
        </p:nvSpPr>
        <p:spPr>
          <a:xfrm>
            <a:off x="4251960" y="1097280"/>
            <a:ext cx="640080" cy="640080"/>
          </a:xfrm>
          <a:prstGeom prst="roundRect">
            <a:avLst>
              <a:gd name="adj" fmla="val 14286"/>
            </a:avLst>
          </a:prstGeom>
          <a:solidFill>
            <a:srgbClr val="15803D"/>
          </a:solidFill>
          <a:ln w="12700">
            <a:solidFill>
              <a:srgbClr val="D9C7B3"/>
            </a:solidFill>
            <a:prstDash val="solid"/>
          </a:ln>
        </p:spPr>
      </p:sp>
      <p:sp>
        <p:nvSpPr>
          <p:cNvPr id="17" name="Text 14"/>
          <p:cNvSpPr txBox="1"/>
          <p:nvPr/>
        </p:nvSpPr>
        <p:spPr>
          <a:xfrm>
            <a:off x="4197096" y="1783080"/>
            <a:ext cx="749808" cy="274320"/>
          </a:xfrm>
          <a:prstGeom prst="rect">
            <a:avLst/>
          </a:prstGeom>
          <a:noFill/>
          <a:ln/>
        </p:spPr>
        <p:txBody>
          <a:bodyPr wrap="square" lIns="0" tIns="0" rIns="0" bIns="0" rtlCol="0" anchor="ctr"/>
          <a:lstStyle/>
          <a:p>
            <a:pPr algn="ctr" indent="0" marL="0">
              <a:buNone/>
            </a:pPr>
            <a:r>
              <a:rPr lang="en-US" sz="1000" dirty="0">
                <a:solidFill>
                  <a:srgbClr val="7A6A60"/>
                </a:solidFill>
                <a:latin typeface="Calibri" pitchFamily="34" charset="0"/>
                <a:ea typeface="Calibri" pitchFamily="34" charset="-122"/>
                <a:cs typeface="Calibri" pitchFamily="34" charset="-120"/>
              </a:rPr>
              <a:t>success</a:t>
            </a:r>
            <a:endParaRPr lang="en-US" sz="1000" dirty="0"/>
          </a:p>
        </p:txBody>
      </p:sp>
      <p:sp>
        <p:nvSpPr>
          <p:cNvPr id="18" name="Shape 15"/>
          <p:cNvSpPr/>
          <p:nvPr/>
        </p:nvSpPr>
        <p:spPr>
          <a:xfrm>
            <a:off x="457200" y="2286000"/>
            <a:ext cx="4480560" cy="2194560"/>
          </a:xfrm>
          <a:prstGeom prst="roundRect">
            <a:avLst>
              <a:gd name="adj" fmla="val 5000"/>
            </a:avLst>
          </a:prstGeom>
          <a:solidFill>
            <a:srgbClr val="FBEFE0"/>
          </a:solidFill>
          <a:ln w="12700">
            <a:solidFill>
              <a:srgbClr val="FBEFE0"/>
            </a:solidFill>
            <a:prstDash val="solid"/>
          </a:ln>
        </p:spPr>
      </p:sp>
      <p:sp>
        <p:nvSpPr>
          <p:cNvPr id="19" name="Text 16"/>
          <p:cNvSpPr txBox="1"/>
          <p:nvPr/>
        </p:nvSpPr>
        <p:spPr>
          <a:xfrm>
            <a:off x="594360" y="2377440"/>
            <a:ext cx="42062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Tokens (Figma Variables)</a:t>
            </a:r>
            <a:endParaRPr lang="en-US" sz="1600" dirty="0"/>
          </a:p>
        </p:txBody>
      </p:sp>
      <p:sp>
        <p:nvSpPr>
          <p:cNvPr id="20" name="Text 17"/>
          <p:cNvSpPr txBox="1"/>
          <p:nvPr/>
        </p:nvSpPr>
        <p:spPr>
          <a:xfrm>
            <a:off x="594360" y="2743200"/>
            <a:ext cx="4206240" cy="16459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Màu, chữ Nunito 24/20/16/15/14</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Spacing 4–48 · radius 8/12/16/24</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Elevation 0–3</a:t>
            </a:r>
            <a:endParaRPr lang="en-US" sz="1400" dirty="0"/>
          </a:p>
        </p:txBody>
      </p:sp>
      <p:sp>
        <p:nvSpPr>
          <p:cNvPr id="21" name="Shape 18"/>
          <p:cNvSpPr/>
          <p:nvPr/>
        </p:nvSpPr>
        <p:spPr>
          <a:xfrm>
            <a:off x="5120640" y="1097280"/>
            <a:ext cx="3566160" cy="3383280"/>
          </a:xfrm>
          <a:prstGeom prst="roundRect">
            <a:avLst>
              <a:gd name="adj" fmla="val 3243"/>
            </a:avLst>
          </a:prstGeom>
          <a:solidFill>
            <a:srgbClr val="FBEFE0"/>
          </a:solidFill>
          <a:ln w="12700">
            <a:solidFill>
              <a:srgbClr val="FBEFE0"/>
            </a:solidFill>
            <a:prstDash val="solid"/>
          </a:ln>
        </p:spPr>
      </p:sp>
      <p:sp>
        <p:nvSpPr>
          <p:cNvPr id="22" name="Text 19"/>
          <p:cNvSpPr txBox="1"/>
          <p:nvPr/>
        </p:nvSpPr>
        <p:spPr>
          <a:xfrm>
            <a:off x="5257800" y="1188720"/>
            <a:ext cx="32918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9 component × state</a:t>
            </a:r>
            <a:endParaRPr lang="en-US" sz="1600" dirty="0"/>
          </a:p>
        </p:txBody>
      </p:sp>
      <p:sp>
        <p:nvSpPr>
          <p:cNvPr id="23" name="Text 20"/>
          <p:cNvSpPr txBox="1"/>
          <p:nvPr/>
        </p:nvSpPr>
        <p:spPr>
          <a:xfrm>
            <a:off x="5257800" y="1554480"/>
            <a:ext cx="3291840" cy="2834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Button: default, pressed, disabled, loading</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Text field: 5 trạng thái</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Card · Navigation · App bar</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Dialog xác nhận + destructive</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Loading · Empty · Error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10</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Accessibility và responsive</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design/design-decisions.md mục 2</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206240"/>
                <a:gridCol w="1463040"/>
                <a:gridCol w="25603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Kiểm tra</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Ngưỡng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Kết quả</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solidFill>
                      <a:srgbClr val="622B14"/>
                    </a:solidFill>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chính #622B14 / nền #FFF5E5</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4,5:1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10,37:1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nút #622B14 / cam #F69D39 (trước: trắng 2,14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4,5:1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5,23:1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Chữ phụ #8A5D48 (trước: #966A55 4,33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4,5:1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5,2:1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Viền ô nhập #8A7A70 (trước: 1,34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 3:1</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3,93:1 ✓</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Vùng chạm · cỡ chữ nội dung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48 dp · 14 sp</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Đạt theo DESIGN.md</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r h="438912">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Bố cục 360 dp và 412 dp</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không vỡ</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c>
                  <a:txBody>
                    <a:bodyPr/>
                    <a:lstStyle/>
                    <a:p>
                      <a:pPr indent="0" marL="0">
                        <a:buNone/>
                      </a:pPr>
                      <a:r>
                        <a:rPr lang="en-US" sz="1300" dirty="0">
                          <a:solidFill>
                            <a:srgbClr val="3A2216"/>
                          </a:solidFill>
                          <a:latin typeface="Calibri" pitchFamily="34" charset="0"/>
                          <a:ea typeface="Calibri" pitchFamily="34" charset="-122"/>
                          <a:cs typeface="Calibri" pitchFamily="34" charset="-120"/>
                        </a:rPr>
                        <a:t>[chèn ảnh 2 độ rộng]</a:t>
                      </a:r>
                      <a:endParaRPr lang="en-US" sz="1300" dirty="0">
                        <a:latin typeface="Calibri" charset="0"/>
                        <a:ea typeface="Calibri" charset="0"/>
                        <a:cs typeface="Calibri" charset="0"/>
                      </a:endParaRPr>
                    </a:p>
                  </a:txBody>
                  <a:tcPr marL="73152" marR="73152" marT="36576" marB="36576" anchor="ctr">
                    <a:lnL w="9525" cap="flat" cmpd="sng" algn="ctr">
                      <a:solidFill>
                        <a:srgbClr val="E5D3BF"/>
                      </a:solidFill>
                      <a:prstDash val="solid"/>
                      <a:round/>
                      <a:headEnd type="none" w="med" len="med"/>
                      <a:tailEnd type="none" w="med" len="med"/>
                    </a:lnL>
                    <a:lnR w="9525" cap="flat" cmpd="sng" algn="ctr">
                      <a:solidFill>
                        <a:srgbClr val="E5D3BF"/>
                      </a:solidFill>
                      <a:prstDash val="solid"/>
                      <a:round/>
                      <a:headEnd type="none" w="med" len="med"/>
                      <a:tailEnd type="none" w="med" len="med"/>
                    </a:lnR>
                    <a:lnT w="9525" cap="flat" cmpd="sng" algn="ctr">
                      <a:solidFill>
                        <a:srgbClr val="E5D3BF"/>
                      </a:solidFill>
                      <a:prstDash val="solid"/>
                      <a:round/>
                      <a:headEnd type="none" w="med" len="med"/>
                      <a:tailEnd type="none" w="med" len="med"/>
                    </a:lnT>
                    <a:lnB w="9525" cap="flat" cmpd="sng" algn="ctr">
                      <a:solidFill>
                        <a:srgbClr val="E5D3B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B45309"/>
                </a:solidFill>
                <a:latin typeface="Cambria" pitchFamily="34" charset="0"/>
                <a:ea typeface="Cambria" pitchFamily="34" charset="-122"/>
                <a:cs typeface="Cambria" pitchFamily="34" charset="-120"/>
              </a:rPr>
              <a:t>11</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622B14"/>
                </a:solidFill>
                <a:latin typeface="Cambria" pitchFamily="34" charset="0"/>
                <a:ea typeface="Cambria" pitchFamily="34" charset="-122"/>
                <a:cs typeface="Cambria" pitchFamily="34" charset="-120"/>
              </a:rPr>
              <a:t>Prototype tương tác</a:t>
            </a:r>
            <a:endParaRPr lang="en-US" sz="2600" dirty="0"/>
          </a:p>
        </p:txBody>
      </p:sp>
      <p:sp>
        <p:nvSpPr>
          <p:cNvPr id="4"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7A6A60"/>
                </a:solidFill>
                <a:latin typeface="Calibri" pitchFamily="34" charset="0"/>
                <a:ea typeface="Calibri" pitchFamily="34" charset="-122"/>
                <a:cs typeface="Calibri" pitchFamily="34" charset="-120"/>
              </a:rPr>
              <a:t>Minh chứng: Figma Page 06 · demo trực tiếp</a:t>
            </a:r>
            <a:endParaRPr lang="en-US" sz="1200" dirty="0"/>
          </a:p>
        </p:txBody>
      </p:sp>
      <p:sp>
        <p:nvSpPr>
          <p:cNvPr id="6" name="Shape 3"/>
          <p:cNvSpPr/>
          <p:nvPr/>
        </p:nvSpPr>
        <p:spPr>
          <a:xfrm>
            <a:off x="457200" y="1097280"/>
            <a:ext cx="2651760" cy="914400"/>
          </a:xfrm>
          <a:prstGeom prst="roundRect">
            <a:avLst>
              <a:gd name="adj" fmla="val 12000"/>
            </a:avLst>
          </a:prstGeom>
          <a:solidFill>
            <a:srgbClr val="622B14"/>
          </a:solidFill>
          <a:ln w="12700">
            <a:solidFill>
              <a:srgbClr val="622B14"/>
            </a:solidFill>
            <a:prstDash val="solid"/>
          </a:ln>
        </p:spPr>
      </p:sp>
      <p:sp>
        <p:nvSpPr>
          <p:cNvPr id="7" name="Text 4"/>
          <p:cNvSpPr txBox="1"/>
          <p:nvPr/>
        </p:nvSpPr>
        <p:spPr>
          <a:xfrm>
            <a:off x="594360" y="1097280"/>
            <a:ext cx="2377440" cy="914400"/>
          </a:xfrm>
          <a:prstGeom prst="rect">
            <a:avLst/>
          </a:prstGeom>
          <a:noFill/>
          <a:ln/>
        </p:spPr>
        <p:txBody>
          <a:bodyPr wrap="square" lIns="0" tIns="0" rIns="0" bIns="0" rtlCol="0" anchor="ctr"/>
          <a:lstStyle/>
          <a:p>
            <a:pPr indent="0" marL="0">
              <a:buNone/>
            </a:pPr>
            <a:r>
              <a:rPr lang="en-US" sz="2000" b="1" dirty="0">
                <a:solidFill>
                  <a:srgbClr val="E0C375"/>
                </a:solidFill>
                <a:latin typeface="Calibri" pitchFamily="34" charset="0"/>
                <a:ea typeface="Calibri" pitchFamily="34" charset="-122"/>
                <a:cs typeface="Calibri" pitchFamily="34" charset="-120"/>
              </a:rPr>
              <a:t>F1</a:t>
            </a:r>
            <a:endParaRPr lang="en-US" sz="2000" dirty="0"/>
          </a:p>
          <a:p>
            <a:pPr indent="0" marL="0">
              <a:buNone/>
            </a:pPr>
            <a:r>
              <a:rPr lang="en-US" sz="1400" dirty="0">
                <a:solidFill>
                  <a:srgbClr val="FFFFFF"/>
                </a:solidFill>
                <a:latin typeface="Calibri" pitchFamily="34" charset="0"/>
                <a:ea typeface="Calibri" pitchFamily="34" charset="-122"/>
                <a:cs typeface="Calibri" pitchFamily="34" charset="-120"/>
              </a:rPr>
              <a:t>Đặt nhanh, nhận tại quầy</a:t>
            </a:r>
            <a:endParaRPr lang="en-US" sz="2000" dirty="0"/>
          </a:p>
        </p:txBody>
      </p:sp>
      <p:sp>
        <p:nvSpPr>
          <p:cNvPr id="8" name="Shape 5"/>
          <p:cNvSpPr/>
          <p:nvPr/>
        </p:nvSpPr>
        <p:spPr>
          <a:xfrm>
            <a:off x="3246120" y="1097280"/>
            <a:ext cx="2651760" cy="914400"/>
          </a:xfrm>
          <a:prstGeom prst="roundRect">
            <a:avLst>
              <a:gd name="adj" fmla="val 12000"/>
            </a:avLst>
          </a:prstGeom>
          <a:solidFill>
            <a:srgbClr val="622B14"/>
          </a:solidFill>
          <a:ln w="12700">
            <a:solidFill>
              <a:srgbClr val="622B14"/>
            </a:solidFill>
            <a:prstDash val="solid"/>
          </a:ln>
        </p:spPr>
      </p:sp>
      <p:sp>
        <p:nvSpPr>
          <p:cNvPr id="9" name="Text 6"/>
          <p:cNvSpPr txBox="1"/>
          <p:nvPr/>
        </p:nvSpPr>
        <p:spPr>
          <a:xfrm>
            <a:off x="3383280" y="1097280"/>
            <a:ext cx="2377440" cy="914400"/>
          </a:xfrm>
          <a:prstGeom prst="rect">
            <a:avLst/>
          </a:prstGeom>
          <a:noFill/>
          <a:ln/>
        </p:spPr>
        <p:txBody>
          <a:bodyPr wrap="square" lIns="0" tIns="0" rIns="0" bIns="0" rtlCol="0" anchor="ctr"/>
          <a:lstStyle/>
          <a:p>
            <a:pPr indent="0" marL="0">
              <a:buNone/>
            </a:pPr>
            <a:r>
              <a:rPr lang="en-US" sz="2000" b="1" dirty="0">
                <a:solidFill>
                  <a:srgbClr val="E0C375"/>
                </a:solidFill>
                <a:latin typeface="Calibri" pitchFamily="34" charset="0"/>
                <a:ea typeface="Calibri" pitchFamily="34" charset="-122"/>
                <a:cs typeface="Calibri" pitchFamily="34" charset="-120"/>
              </a:rPr>
              <a:t>F2</a:t>
            </a:r>
            <a:endParaRPr lang="en-US" sz="2000" dirty="0"/>
          </a:p>
          <a:p>
            <a:pPr indent="0" marL="0">
              <a:buNone/>
            </a:pPr>
            <a:r>
              <a:rPr lang="en-US" sz="1400" dirty="0">
                <a:solidFill>
                  <a:srgbClr val="FFFFFF"/>
                </a:solidFill>
                <a:latin typeface="Calibri" pitchFamily="34" charset="0"/>
                <a:ea typeface="Calibri" pitchFamily="34" charset="-122"/>
                <a:cs typeface="Calibri" pitchFamily="34" charset="-120"/>
              </a:rPr>
              <a:t>Tuỳ chỉnh &amp; voucher</a:t>
            </a:r>
            <a:endParaRPr lang="en-US" sz="2000" dirty="0"/>
          </a:p>
        </p:txBody>
      </p:sp>
      <p:sp>
        <p:nvSpPr>
          <p:cNvPr id="10" name="Shape 7"/>
          <p:cNvSpPr/>
          <p:nvPr/>
        </p:nvSpPr>
        <p:spPr>
          <a:xfrm>
            <a:off x="6035040" y="1097280"/>
            <a:ext cx="2651760" cy="914400"/>
          </a:xfrm>
          <a:prstGeom prst="roundRect">
            <a:avLst>
              <a:gd name="adj" fmla="val 12000"/>
            </a:avLst>
          </a:prstGeom>
          <a:solidFill>
            <a:srgbClr val="622B14"/>
          </a:solidFill>
          <a:ln w="12700">
            <a:solidFill>
              <a:srgbClr val="622B14"/>
            </a:solidFill>
            <a:prstDash val="solid"/>
          </a:ln>
        </p:spPr>
      </p:sp>
      <p:sp>
        <p:nvSpPr>
          <p:cNvPr id="11" name="Text 8"/>
          <p:cNvSpPr txBox="1"/>
          <p:nvPr/>
        </p:nvSpPr>
        <p:spPr>
          <a:xfrm>
            <a:off x="6172200" y="1097280"/>
            <a:ext cx="2377440" cy="914400"/>
          </a:xfrm>
          <a:prstGeom prst="rect">
            <a:avLst/>
          </a:prstGeom>
          <a:noFill/>
          <a:ln/>
        </p:spPr>
        <p:txBody>
          <a:bodyPr wrap="square" lIns="0" tIns="0" rIns="0" bIns="0" rtlCol="0" anchor="ctr"/>
          <a:lstStyle/>
          <a:p>
            <a:pPr indent="0" marL="0">
              <a:buNone/>
            </a:pPr>
            <a:r>
              <a:rPr lang="en-US" sz="2000" b="1" dirty="0">
                <a:solidFill>
                  <a:srgbClr val="E0C375"/>
                </a:solidFill>
                <a:latin typeface="Calibri" pitchFamily="34" charset="0"/>
                <a:ea typeface="Calibri" pitchFamily="34" charset="-122"/>
                <a:cs typeface="Calibri" pitchFamily="34" charset="-120"/>
              </a:rPr>
              <a:t>F3</a:t>
            </a:r>
            <a:endParaRPr lang="en-US" sz="2000" dirty="0"/>
          </a:p>
          <a:p>
            <a:pPr indent="0" marL="0">
              <a:buNone/>
            </a:pPr>
            <a:r>
              <a:rPr lang="en-US" sz="1400" dirty="0">
                <a:solidFill>
                  <a:srgbClr val="FFFFFF"/>
                </a:solidFill>
                <a:latin typeface="Calibri" pitchFamily="34" charset="0"/>
                <a:ea typeface="Calibri" pitchFamily="34" charset="-122"/>
                <a:cs typeface="Calibri" pitchFamily="34" charset="-120"/>
              </a:rPr>
              <a:t>Lỗi thanh toán &amp; phục hồi</a:t>
            </a:r>
            <a:endParaRPr lang="en-US" sz="2000" dirty="0"/>
          </a:p>
        </p:txBody>
      </p:sp>
      <p:sp>
        <p:nvSpPr>
          <p:cNvPr id="12" name="Shape 9"/>
          <p:cNvSpPr/>
          <p:nvPr/>
        </p:nvSpPr>
        <p:spPr>
          <a:xfrm>
            <a:off x="457200" y="2240280"/>
            <a:ext cx="4023360" cy="2240280"/>
          </a:xfrm>
          <a:prstGeom prst="roundRect">
            <a:avLst>
              <a:gd name="adj" fmla="val 4898"/>
            </a:avLst>
          </a:prstGeom>
          <a:solidFill>
            <a:srgbClr val="FBEFE0"/>
          </a:solidFill>
          <a:ln w="12700">
            <a:solidFill>
              <a:srgbClr val="FBEFE0"/>
            </a:solidFill>
            <a:prstDash val="solid"/>
          </a:ln>
        </p:spPr>
      </p:sp>
      <p:sp>
        <p:nvSpPr>
          <p:cNvPr id="13" name="Text 10"/>
          <p:cNvSpPr txBox="1"/>
          <p:nvPr/>
        </p:nvSpPr>
        <p:spPr>
          <a:xfrm>
            <a:off x="594360" y="2331720"/>
            <a:ext cx="37490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Phải thấy khi demo</a:t>
            </a:r>
            <a:endParaRPr lang="en-US" sz="1600" dirty="0"/>
          </a:p>
        </p:txBody>
      </p:sp>
      <p:sp>
        <p:nvSpPr>
          <p:cNvPr id="14" name="Text 11"/>
          <p:cNvSpPr txBox="1"/>
          <p:nvPr/>
        </p:nvSpPr>
        <p:spPr>
          <a:xfrm>
            <a:off x="594360" y="2697480"/>
            <a:ext cx="3749040" cy="1691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Starting point riêng cho mỗi flow</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Back về đúng màn hình</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Không có ngõ cụt</a:t>
            </a:r>
            <a:endParaRPr lang="en-US" sz="1400" dirty="0"/>
          </a:p>
        </p:txBody>
      </p:sp>
      <p:sp>
        <p:nvSpPr>
          <p:cNvPr id="15" name="Shape 12"/>
          <p:cNvSpPr/>
          <p:nvPr/>
        </p:nvSpPr>
        <p:spPr>
          <a:xfrm>
            <a:off x="4663440" y="2240280"/>
            <a:ext cx="4023360" cy="2240280"/>
          </a:xfrm>
          <a:prstGeom prst="roundRect">
            <a:avLst>
              <a:gd name="adj" fmla="val 4898"/>
            </a:avLst>
          </a:prstGeom>
          <a:solidFill>
            <a:srgbClr val="FBEFE0"/>
          </a:solidFill>
          <a:ln w="12700">
            <a:solidFill>
              <a:srgbClr val="FBEFE0"/>
            </a:solidFill>
            <a:prstDash val="solid"/>
          </a:ln>
        </p:spPr>
      </p:sp>
      <p:sp>
        <p:nvSpPr>
          <p:cNvPr id="16" name="Text 13"/>
          <p:cNvSpPr txBox="1"/>
          <p:nvPr/>
        </p:nvSpPr>
        <p:spPr>
          <a:xfrm>
            <a:off x="4800600" y="2331720"/>
            <a:ext cx="3749040" cy="320040"/>
          </a:xfrm>
          <a:prstGeom prst="rect">
            <a:avLst/>
          </a:prstGeom>
          <a:noFill/>
          <a:ln/>
        </p:spPr>
        <p:txBody>
          <a:bodyPr wrap="square" lIns="0" tIns="0" rIns="0" bIns="0" rtlCol="0" anchor="ctr"/>
          <a:lstStyle/>
          <a:p>
            <a:pPr indent="0" marL="0">
              <a:buNone/>
            </a:pPr>
            <a:r>
              <a:rPr lang="en-US" sz="1600" b="1" dirty="0">
                <a:solidFill>
                  <a:srgbClr val="622B14"/>
                </a:solidFill>
                <a:latin typeface="Cambria" pitchFamily="34" charset="0"/>
                <a:ea typeface="Cambria" pitchFamily="34" charset="-122"/>
                <a:cs typeface="Cambria" pitchFamily="34" charset="-120"/>
              </a:rPr>
              <a:t>Tương tác bắt buộc</a:t>
            </a:r>
            <a:endParaRPr lang="en-US" sz="1600" dirty="0"/>
          </a:p>
        </p:txBody>
      </p:sp>
      <p:sp>
        <p:nvSpPr>
          <p:cNvPr id="17" name="Text 14"/>
          <p:cNvSpPr txBox="1"/>
          <p:nvPr/>
        </p:nvSpPr>
        <p:spPr>
          <a:xfrm>
            <a:off x="4800600" y="2697480"/>
            <a:ext cx="3749040" cy="16916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Dialog xác nhận đặt hàng dạng overlay</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Loading → SCR-07 sau khi gửi đơn</a:t>
            </a:r>
            <a:endParaRPr lang="en-US" sz="1400" dirty="0"/>
          </a:p>
          <a:p>
            <a:pPr marL="342900" indent="-342900">
              <a:spcAft>
                <a:spcPts val="300"/>
              </a:spcAft>
              <a:buSzPct val="100000"/>
              <a:buChar char="•"/>
            </a:pPr>
            <a:r>
              <a:rPr lang="en-US" sz="1400" dirty="0">
                <a:solidFill>
                  <a:srgbClr val="3A2216"/>
                </a:solidFill>
                <a:latin typeface="Calibri" pitchFamily="34" charset="0"/>
                <a:ea typeface="Calibri" pitchFamily="34" charset="-122"/>
                <a:cs typeface="Calibri" pitchFamily="34" charset="-120"/>
              </a:rPr>
              <a:t>SCR-06-ERR → Thử lại / tiền mặt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22B14"/>
        </a:solidFill>
      </p:bgPr>
    </p:bg>
    <p:spTree>
      <p:nvGrpSpPr>
        <p:cNvPr id="1" name=""/>
        <p:cNvGrpSpPr/>
        <p:nvPr/>
      </p:nvGrpSpPr>
      <p:grpSpPr>
        <a:xfrm>
          <a:off x="0" y="0"/>
          <a:ext cx="0" cy="0"/>
          <a:chOff x="0" y="0"/>
          <a:chExt cx="0" cy="0"/>
        </a:xfrm>
      </p:grpSpPr>
      <p:sp>
        <p:nvSpPr>
          <p:cNvPr id="2" name="Text 0"/>
          <p:cNvSpPr txBox="1"/>
          <p:nvPr/>
        </p:nvSpPr>
        <p:spPr>
          <a:xfrm>
            <a:off x="457200" y="292608"/>
            <a:ext cx="640080" cy="548640"/>
          </a:xfrm>
          <a:prstGeom prst="rect">
            <a:avLst/>
          </a:prstGeom>
          <a:noFill/>
          <a:ln/>
        </p:spPr>
        <p:txBody>
          <a:bodyPr wrap="square" lIns="0" tIns="0" rIns="0" bIns="0" rtlCol="0" anchor="ctr"/>
          <a:lstStyle/>
          <a:p>
            <a:pPr indent="0" marL="0">
              <a:buNone/>
            </a:pPr>
            <a:r>
              <a:rPr lang="en-US" sz="2800" b="1" dirty="0">
                <a:solidFill>
                  <a:srgbClr val="E0C375"/>
                </a:solidFill>
                <a:latin typeface="Cambria" pitchFamily="34" charset="0"/>
                <a:ea typeface="Cambria" pitchFamily="34" charset="-122"/>
                <a:cs typeface="Cambria" pitchFamily="34" charset="-120"/>
              </a:rPr>
              <a:t>12</a:t>
            </a:r>
            <a:endParaRPr lang="en-US" sz="2800" dirty="0"/>
          </a:p>
        </p:txBody>
      </p:sp>
      <p:sp>
        <p:nvSpPr>
          <p:cNvPr id="3" name="Text 1"/>
          <p:cNvSpPr txBox="1"/>
          <p:nvPr/>
        </p:nvSpPr>
        <p:spPr>
          <a:xfrm>
            <a:off x="1143000" y="292608"/>
            <a:ext cx="754380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Flutter handoff và tổng kết</a:t>
            </a:r>
            <a:endParaRPr lang="en-US" sz="2600" dirty="0"/>
          </a:p>
        </p:txBody>
      </p:sp>
      <p:sp>
        <p:nvSpPr>
          <p:cNvPr id="4" name="Shape 2"/>
          <p:cNvSpPr/>
          <p:nvPr/>
        </p:nvSpPr>
        <p:spPr>
          <a:xfrm>
            <a:off x="457200" y="1097280"/>
            <a:ext cx="4023360" cy="1828800"/>
          </a:xfrm>
          <a:prstGeom prst="roundRect">
            <a:avLst>
              <a:gd name="adj" fmla="val 6000"/>
            </a:avLst>
          </a:prstGeom>
          <a:solidFill>
            <a:srgbClr val="7A3A20"/>
          </a:solidFill>
          <a:ln w="12700">
            <a:solidFill>
              <a:srgbClr val="7A3A20"/>
            </a:solidFill>
            <a:prstDash val="solid"/>
          </a:ln>
        </p:spPr>
      </p:sp>
      <p:sp>
        <p:nvSpPr>
          <p:cNvPr id="5" name="Text 3"/>
          <p:cNvSpPr txBox="1"/>
          <p:nvPr/>
        </p:nvSpPr>
        <p:spPr>
          <a:xfrm>
            <a:off x="594360" y="1188720"/>
            <a:ext cx="3749040" cy="320040"/>
          </a:xfrm>
          <a:prstGeom prst="rect">
            <a:avLst/>
          </a:prstGeom>
          <a:noFill/>
          <a:ln/>
        </p:spPr>
        <p:txBody>
          <a:bodyPr wrap="square" lIns="0" tIns="0" rIns="0" bIns="0" rtlCol="0" anchor="ctr"/>
          <a:lstStyle/>
          <a:p>
            <a:pPr indent="0" marL="0">
              <a:buNone/>
            </a:pPr>
            <a:r>
              <a:rPr lang="en-US" sz="1600" b="1" dirty="0">
                <a:solidFill>
                  <a:srgbClr val="E0C375"/>
                </a:solidFill>
                <a:latin typeface="Cambria" pitchFamily="34" charset="0"/>
                <a:ea typeface="Cambria" pitchFamily="34" charset="-122"/>
                <a:cs typeface="Cambria" pitchFamily="34" charset="-120"/>
              </a:rPr>
              <a:t>Handoff 8 màn × 6 mục</a:t>
            </a:r>
            <a:endParaRPr lang="en-US" sz="1600" dirty="0"/>
          </a:p>
        </p:txBody>
      </p:sp>
      <p:sp>
        <p:nvSpPr>
          <p:cNvPr id="6" name="Text 4"/>
          <p:cNvSpPr txBox="1"/>
          <p:nvPr/>
        </p:nvSpPr>
        <p:spPr>
          <a:xfrm>
            <a:off x="594360" y="1554480"/>
            <a:ext cx="3749040"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Layout · Components · States</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Interactions · Navigation</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UI constraints + màn ≥ 600 dp</a:t>
            </a:r>
            <a:endParaRPr lang="en-US" sz="1400" dirty="0"/>
          </a:p>
        </p:txBody>
      </p:sp>
      <p:sp>
        <p:nvSpPr>
          <p:cNvPr id="7" name="Shape 5"/>
          <p:cNvSpPr/>
          <p:nvPr/>
        </p:nvSpPr>
        <p:spPr>
          <a:xfrm>
            <a:off x="4663440" y="1097280"/>
            <a:ext cx="4023360" cy="1828800"/>
          </a:xfrm>
          <a:prstGeom prst="roundRect">
            <a:avLst>
              <a:gd name="adj" fmla="val 6000"/>
            </a:avLst>
          </a:prstGeom>
          <a:solidFill>
            <a:srgbClr val="7A3A20"/>
          </a:solidFill>
          <a:ln w="12700">
            <a:solidFill>
              <a:srgbClr val="7A3A20"/>
            </a:solidFill>
            <a:prstDash val="solid"/>
          </a:ln>
        </p:spPr>
      </p:sp>
      <p:sp>
        <p:nvSpPr>
          <p:cNvPr id="8" name="Text 6"/>
          <p:cNvSpPr txBox="1"/>
          <p:nvPr/>
        </p:nvSpPr>
        <p:spPr>
          <a:xfrm>
            <a:off x="4800600" y="1188720"/>
            <a:ext cx="3749040" cy="320040"/>
          </a:xfrm>
          <a:prstGeom prst="rect">
            <a:avLst/>
          </a:prstGeom>
          <a:noFill/>
          <a:ln/>
        </p:spPr>
        <p:txBody>
          <a:bodyPr wrap="square" lIns="0" tIns="0" rIns="0" bIns="0" rtlCol="0" anchor="ctr"/>
          <a:lstStyle/>
          <a:p>
            <a:pPr indent="0" marL="0">
              <a:buNone/>
            </a:pPr>
            <a:r>
              <a:rPr lang="en-US" sz="1600" b="1" dirty="0">
                <a:solidFill>
                  <a:srgbClr val="E0C375"/>
                </a:solidFill>
                <a:latin typeface="Cambria" pitchFamily="34" charset="0"/>
                <a:ea typeface="Cambria" pitchFamily="34" charset="-122"/>
                <a:cs typeface="Cambria" pitchFamily="34" charset="-120"/>
              </a:rPr>
              <a:t>Hai bảng mapping</a:t>
            </a:r>
            <a:endParaRPr lang="en-US" sz="1600" dirty="0"/>
          </a:p>
        </p:txBody>
      </p:sp>
      <p:sp>
        <p:nvSpPr>
          <p:cNvPr id="9" name="Text 7"/>
          <p:cNvSpPr txBox="1"/>
          <p:nvPr/>
        </p:nvSpPr>
        <p:spPr>
          <a:xfrm>
            <a:off x="4800600" y="1554480"/>
            <a:ext cx="3749040"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Token → ColorScheme, TextTheme</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Component → FilledButton, TextFormField, NavigationBar, AlertDialog</a:t>
            </a:r>
            <a:endParaRPr lang="en-US" sz="1400" dirty="0"/>
          </a:p>
        </p:txBody>
      </p:sp>
      <p:sp>
        <p:nvSpPr>
          <p:cNvPr id="10" name="Shape 8"/>
          <p:cNvSpPr/>
          <p:nvPr/>
        </p:nvSpPr>
        <p:spPr>
          <a:xfrm>
            <a:off x="457200" y="3108960"/>
            <a:ext cx="8229600" cy="1371600"/>
          </a:xfrm>
          <a:prstGeom prst="roundRect">
            <a:avLst>
              <a:gd name="adj" fmla="val 8000"/>
            </a:avLst>
          </a:prstGeom>
          <a:solidFill>
            <a:srgbClr val="7A3A20"/>
          </a:solidFill>
          <a:ln w="12700">
            <a:solidFill>
              <a:srgbClr val="7A3A20"/>
            </a:solidFill>
            <a:prstDash val="solid"/>
          </a:ln>
        </p:spPr>
      </p:sp>
      <p:sp>
        <p:nvSpPr>
          <p:cNvPr id="11" name="Text 9"/>
          <p:cNvSpPr txBox="1"/>
          <p:nvPr/>
        </p:nvSpPr>
        <p:spPr>
          <a:xfrm>
            <a:off x="594360" y="3200400"/>
            <a:ext cx="7955280" cy="320040"/>
          </a:xfrm>
          <a:prstGeom prst="rect">
            <a:avLst/>
          </a:prstGeom>
          <a:noFill/>
          <a:ln/>
        </p:spPr>
        <p:txBody>
          <a:bodyPr wrap="square" lIns="0" tIns="0" rIns="0" bIns="0" rtlCol="0" anchor="ctr"/>
          <a:lstStyle/>
          <a:p>
            <a:pPr indent="0" marL="0">
              <a:buNone/>
            </a:pPr>
            <a:r>
              <a:rPr lang="en-US" sz="1600" b="1" dirty="0">
                <a:solidFill>
                  <a:srgbClr val="E0C375"/>
                </a:solidFill>
                <a:latin typeface="Cambria" pitchFamily="34" charset="0"/>
                <a:ea typeface="Cambria" pitchFamily="34" charset="-122"/>
                <a:cs typeface="Cambria" pitchFamily="34" charset="-120"/>
              </a:rPr>
              <a:t>Kết quả · Tồn tại</a:t>
            </a:r>
            <a:endParaRPr lang="en-US" sz="1600" dirty="0"/>
          </a:p>
        </p:txBody>
      </p:sp>
      <p:sp>
        <p:nvSpPr>
          <p:cNvPr id="12" name="Text 10"/>
          <p:cNvSpPr txBox="1"/>
          <p:nvPr/>
        </p:nvSpPr>
        <p:spPr>
          <a:xfrm>
            <a:off x="594360" y="3566160"/>
            <a:ext cx="7955280" cy="8229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Đủ 8 màn, 3 flow có nhánh lỗi, 9 component, handoff đủ 6 mục</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Tồn tại: lần đo tương phản đầu bị sai, đã sửa token; [điền thêm]</a:t>
            </a:r>
            <a:endParaRPr lang="en-US" sz="1400" dirty="0"/>
          </a:p>
        </p:txBody>
      </p:sp>
      <p:sp>
        <p:nvSpPr>
          <p:cNvPr id="13" name="Text 11"/>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200" i="1" dirty="0">
                <a:solidFill>
                  <a:srgbClr val="E0C375"/>
                </a:solidFill>
                <a:latin typeface="Calibri" pitchFamily="34" charset="0"/>
                <a:ea typeface="Calibri" pitchFamily="34" charset="-122"/>
                <a:cs typeface="Calibri" pitchFamily="34" charset="-120"/>
              </a:rPr>
              <a:t>Minh chứng: handoff/flutter-handoff.md · GitHub · Figma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PRM323 Lab 2 - BreakBite</dc:title>
  <dc:subject>PptxGenJS Presentation</dc:subject>
  <dc:creator>PptxGenJS</dc:creator>
  <cp:lastModifiedBy>PptxGenJS</cp:lastModifiedBy>
  <cp:revision>1</cp:revision>
  <dcterms:created xsi:type="dcterms:W3CDTF">2026-10-17T07:05:14Z</dcterms:created>
  <dcterms:modified xsi:type="dcterms:W3CDTF">2026-10-17T07:05:14Z</dcterms:modified>
</cp:coreProperties>
</file>