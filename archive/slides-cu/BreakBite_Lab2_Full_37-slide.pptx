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3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6B5B52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6B5B52"/>
                </a:solidFill>
                <a:latin typeface="Calibri"/>
              </a:rPr>
              <a:t>Impact × Feasibility (tối đa 25)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Điểm I × F</c:v>
                </c:pt>
              </c:strCache>
            </c:strRef>
          </c:tx>
          <c:spPr>
            <a:solidFill>
              <a:srgbClr val="F69D3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E1B1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 · App đặt trước</c:v>
                  </c:pt>
                  <c:pt idx="1">
                    <c:v>B · Web QR</c:v>
                  </c:pt>
                  <c:pt idx="2">
                    <c:v>C · Hàng chờ ảo</c:v>
                  </c:pt>
                  <c:pt idx="3">
                    <c:v>D · Chatbot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12</c:v>
                </c:pt>
                <c:pt idx="2">
                  <c:v>9</c:v>
                </c:pt>
                <c:pt idx="3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E1B12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E1B1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Số nhân vật nhắc (/5)</c:v>
                </c:pt>
              </c:strCache>
            </c:strRef>
          </c:tx>
          <c:spPr>
            <a:solidFill>
              <a:srgbClr val="B4530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E1B1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Muốn biết trước thời gian, trạng thái quán</c:v>
                  </c:pt>
                  <c:pt idx="1">
                    <c:v>Hàng chờ giờ nghỉ → bỏ bữa, trễ lớp</c:v>
                  </c:pt>
                  <c:pt idx="2">
                    <c:v>Cầm máy một tay, ghét nút trên cao</c:v>
                  </c:pt>
                  <c:pt idx="3">
                    <c:v>App giao không vào được tòa nhà/lab</c:v>
                  </c:pt>
                  <c:pt idx="4">
                    <c:v>Ngại phí ẩn, muốn thấy tổng sớm</c:v>
                  </c:pt>
                  <c:pt idx="5">
                    <c:v>Không muốn đăng ký trước</c:v>
                  </c:pt>
                  <c:pt idx="6">
                    <c:v>Muốn trả tiền mặt khi lấy</c:v>
                  </c:pt>
                  <c:pt idx="7">
                    <c:v>Lỗi thanh toán mất giỏ hàng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</c:v>
                </c:pt>
                <c:pt idx="1">
                  <c:v>3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E1B12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E1B1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6B5B52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6B5B52"/>
                </a:solidFill>
                <a:latin typeface="Calibri"/>
              </a:rPr>
              <a:t>Số phát hiện theo vòng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Phát hiện</c:v>
                </c:pt>
              </c:strCache>
            </c:strRef>
          </c:tx>
          <c:spPr>
            <a:solidFill>
              <a:srgbClr val="B4530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E1B1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R0 · Phản biện P0</c:v>
                  </c:pt>
                  <c:pt idx="1">
                    <c:v>R5 · Phản biện P1</c:v>
                  </c:pt>
                  <c:pt idx="2">
                    <c:v>R1 · Critique đầu (Gemini)</c:v>
                  </c:pt>
                  <c:pt idx="3">
                    <c:v>R2 · Đo lại WCAG</c:v>
                  </c:pt>
                  <c:pt idx="4">
                    <c:v>R3 · Phản biện persona</c:v>
                  </c:pt>
                  <c:pt idx="5">
                    <c:v>R4 · Critique bổ sung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1</c:v>
                </c:pt>
                <c:pt idx="4">
                  <c:v>3</c:v>
                </c:pt>
                <c:pt idx="5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E1B12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E1B1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Giới thiệu: tên, MSSV, đề tài. Một câu về vấn đề: sinh viên ở KTX có giờ nghỉ ngắn, hàng chờ căn tin làm bỏ bữa hoặc trễ lớp.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Đi nhanh qua 12 phần.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Nêu ý tưởng, ai dùng, và khác gì app giao hàng.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Đọc problem statement. Nhấn mạnh đã bỏ phần giải pháp ra khỏi câu vấn đề (quyết định D18).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 4 hướng. Chọn app (20 điểm). Từ chối chuyển sang web QR vì đề bắt buộc app mobile — giữ web làm dự phòng.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Nói rõ: bằng chứng thật mới có về sản phẩm (source web BreakBite) và thị trường; dữ liệu người dùng hiện là phỏng vấn mô phỏng AI, gắn nhãn Assumed. Kế hoạch phỏng vấn 6 SV thật đã có.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Mỗi thanh là số nhân vật nhắc tới ý đó. Nhấn mạnh: đây là giả thuyết; theo NN/g người dùng giả lập dễ đồng thuận hơn người thật.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Mỗi insight đi kèm nguồn và mức tin cậy, rồi ra một quy tắc thiết kế cụ thể.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Nguyễn Minh Quân: đọc mục tiêu và khó khăn chính. Câu trích là từ phỏng vấn mô phỏng AI, nói rõ điều đó.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Trần Mỹ Linh: đọc mục tiêu và khó khăn chính. Câu trích là từ phỏng vấn mô phỏng AI, nói rõ điều đó.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Cô Hạnh: đọc mục tiêu và khó khăn chính. Câu trích là từ phỏng vấn mô phỏng AI, nói rõ điều đó.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Giải thích vì sao Quân là Primary: nhóm đau nhất và mua ở trường thường xuyên nhất. Anti-persona giúp giới hạn phạm vi.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Entry: Onboarding chỉ hiện lần đầu. Primary: 4 tab dưới đáy. Secondary: Chi tiết, Giỏ, Checkout. Biến thể không tính là màn riêng.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Đây là luồng chính và cũng là luồng dùng để đo chỉ số &lt; 35 giây, ≤ 8 chạm.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Luồng của persona P02 nhạy cảm về giá.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Luồng lỗi bắt buộc. Nói thật: insight của luồng này chỉ có 1 nguồn mô phỏng.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Prompt có đủ 5 phần. Ảnh bên phải là bản Stitch đầu tiên.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Vòng 1. Kể thêm việc tự đo lại và phát hiện AI nói sai.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Vòng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Vòng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Đọc 6 phát hiện tiêu biểu. Có cả phát hiện mức Cao về tương phản và ảnh giữ chỗ.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Số liệu đếm từ file Excel. Nhấn mạnh có 2 lần từ chối thật.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 ví dụ. Phần Reject: đăng nhập tích điểm bị từ chối vì persona không muốn đăng ký và mục tiêu &lt; 35 giây.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Chèn ảnh Figma sau khi đã sửa.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sánh bố cục khung xám và bản cuối; mỗi màn một hành động chính.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sánh bố cục khung xám và bản cuối; mỗi màn một hành động chính.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Empty và Error là ảnh Stitch thật. Loading và Success cần chèn từ Figma.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Bảng màu đã sửa sau khi đo tương phản. Nói rõ token nào đổi và vì sao.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Mở Figma để chứng minh Auto Layout, variant và instance.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Lần đo đầu bị sai (ghi 3,08:1). Đã đo lại bằng công thức WCAG và đổi token. Chữ 14sp đậm không phải chữ lớn.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Chèn ảnh 3 cặp. Giải thích lề giữ 16 dp, nội dung giãn ngang, không cuộn ngang. ≥ 600 dp chỉ mô tả trong handoff.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Chuyển sang Figma Present và chạy lần lượt F1, F2, F3.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từng nhánh lỗi.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Hai bảng ánh xạ toàn cục.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Một lập trình viên chưa biết dự án có thể dựng màn hình chỉ từ handoff.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Kết: một câu giá trị, AI giúp gì, mình làm gì. Mời hỏi đáp.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ikan382/prm393-lab2" TargetMode="External"/><Relationship Id="rId3" Type="http://schemas.openxmlformats.org/officeDocument/2006/relationships/hyperlink" Target="https://www.figma.com/design/JeWtr0nQ6pD2cPzjUMqU6A/Untitled?node-id=1-6" TargetMode="External"/><Relationship Id="rId1" Type="http://schemas.openxmlformats.org/officeDocument/2006/relationships/image" Target="../media/image-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22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914400"/>
            <a:ext cx="4754880" cy="4754880"/>
          </a:xfrm>
          <a:prstGeom prst="ellipse">
            <a:avLst/>
          </a:prstGeom>
          <a:solidFill>
            <a:srgbClr val="7A3A20"/>
          </a:solidFill>
          <a:ln w="12700">
            <a:solidFill>
              <a:srgbClr val="7A3A20"/>
            </a:solidFill>
            <a:prstDash val="solid"/>
          </a:ln>
        </p:spPr>
      </p:sp>
      <p:pic>
        <p:nvPicPr>
          <p:cNvPr id="3" name="Image 0" descr="D:\Study\FPTU\Sem8\PRM323\prm393-lab2\assets\stitch\01_initial_stitch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0" y="1874520"/>
            <a:ext cx="3539843" cy="28346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1520" y="91440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69D39"/>
          </a:solidFill>
          <a:ln w="12700">
            <a:solidFill>
              <a:srgbClr val="F69D3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9144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PRM323 · Lab 2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55448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BreakBite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60604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3E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món trước, nhận tại quầy — cho sinh viên chỉ có 15 phút giữa hai slot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5661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0C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UI/UX có hỗ trợ AI · Google Stitch → Figma → Flutter handoff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48056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E0C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trình bày: </a:t>
            </a:r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[Họ tên] — [MSSV]</a:t>
            </a:r>
            <a:endParaRPr lang="en-US" sz="15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E0C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</a:t>
            </a:r>
            <a:pPr algn="l" indent="0" marL="0">
              <a:spcAft>
                <a:spcPts val="600"/>
              </a:spcAft>
              <a:buNone/>
            </a:pPr>
            <a:r>
              <a:rPr lang="en-US" sz="15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github.com/Mikan382/prm393-lab2</a:t>
            </a:r>
            <a:endParaRPr lang="en-US" sz="15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E0C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Figma: </a:t>
            </a:r>
            <a:pPr algn="l" indent="0" marL="0">
              <a:spcAft>
                <a:spcPts val="600"/>
              </a:spcAft>
              <a:buNone/>
            </a:pPr>
            <a:r>
              <a:rPr lang="en-US" sz="15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Mở file thiết kế (quyền xem)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622B14"/>
          </a:solidFill>
          <a:ln w="12700">
            <a:solidFill>
              <a:srgbClr val="622B1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6517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Nội dung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0C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phần theo hướng dẫn trình bày Lab 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389120" y="8686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166360" y="868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389120" y="17830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5166360" y="1783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Persona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26974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166360" y="2697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Information Architecture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389120" y="36118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36118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Main User Flows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0" y="45262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5166360" y="45262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UI Generation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389120" y="54406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5166360" y="5440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Iterations &amp; Critique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8686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9052560" y="868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Decisions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275320" y="17830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9052560" y="1783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Wireframe → Final UI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26974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9052560" y="2697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System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8275320" y="36118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9052560" y="36118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Accessibility / Responsive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8275320" y="45262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9052560" y="45262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Prototype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8275320" y="54406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9052560" y="5440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Flutter Handoff &amp; Summary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FTACODE MOBILE — APP ĐẶT TRƯỚC, NHẬN TẠI QUẦY TRONG TRƯỜNG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README.md · ux/p0-problem-framing.md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63040"/>
            <a:ext cx="54864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162763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Ý tưởng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084832"/>
            <a:ext cx="51206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Kênh mobile của quán BreakBite (mì trộn, tacos, nước). Sinh viên đặt và trả tiền trước, hẹn giờ, tới quầy lấy theo mã — không xếp hàng.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2926080"/>
            <a:ext cx="54864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309067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Người dùng chính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3547872"/>
            <a:ext cx="51206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viên ở ký túc xá, lịch học dày, chỉ có khoảng 15 phút giữa hai slot (persona P01).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4389120"/>
            <a:ext cx="54864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455371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Phạm vi Lab 2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5010912"/>
            <a:ext cx="512064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màn hình 360 × 800 dp · 3 user flow có nhánh lỗi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 + 9 component · prototype Figma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Flutter (không viết code)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309360" y="1463040"/>
            <a:ext cx="5349240" cy="4709160"/>
          </a:xfrm>
          <a:prstGeom prst="roundRect">
            <a:avLst>
              <a:gd name="adj" fmla="val 1942"/>
            </a:avLst>
          </a:prstGeom>
          <a:solidFill>
            <a:srgbClr val="FFF5E5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37960" y="162763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Khác gì cách đang có?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2148840"/>
          <a:ext cx="489204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234440"/>
                <a:gridCol w="1005840"/>
                <a:gridCol w="14173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2B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Grab / ShopeeFood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2B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Căn tin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2B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BreakBite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2B1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Cách nhận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Giao tận nơi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Xếp hàng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Đặt trước, lấy tại quầy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Phí giao + dịch vụ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phí giao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Vào tòa nhà / lab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(giả lập A1, A5)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cần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Biết trạng thái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Theo dõi tài xế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Nghe gọi số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Badge quán + 4 bước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 16"/>
          <p:cNvSpPr txBox="1"/>
          <p:nvPr/>
        </p:nvSpPr>
        <p:spPr>
          <a:xfrm>
            <a:off x="6537960" y="544068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Nguồn: ux/research.md mục 1.2 · cột Grab/Shopee một phần từ phỏng vấn mô phỏng AI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Persona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 ĐỀ CỐT LÕI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ux/p0-problem-framing.md mục 2 · ux/p1-research.md mục 4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63040"/>
            <a:ext cx="11109960" cy="1234440"/>
          </a:xfrm>
          <a:prstGeom prst="roundRect">
            <a:avLst>
              <a:gd name="adj" fmla="val 7407"/>
            </a:avLst>
          </a:prstGeom>
          <a:solidFill>
            <a:srgbClr val="622B14"/>
          </a:solidFill>
          <a:ln w="9525">
            <a:solidFill>
              <a:srgbClr val="622B1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55448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C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 </a:t>
            </a:r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viên ở ký túc xá có lịch học dày thường không mua kịp đồ ăn trong giờ nghỉ ngắn giữa hai slot, khi hàng chờ ở căn tin dồn đúng giờ nghỉ chung, nên họ bỏ bữa hoặc vào lớp trễ.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880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ĐIỂM ĐAU CỐT LÕI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32461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31520" y="3429000"/>
            <a:ext cx="548640" cy="548640"/>
          </a:xfrm>
          <a:prstGeom prst="ellipse">
            <a:avLst/>
          </a:prstGeom>
          <a:solidFill>
            <a:srgbClr val="F69D3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417320" y="34290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Hàng chờ đúng giờ nghỉ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4114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Bỏ bữa hoặc vào lớp trễ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4681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INS-01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383280" y="32461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566160" y="3429000"/>
            <a:ext cx="548640" cy="548640"/>
          </a:xfrm>
          <a:prstGeom prst="ellipse">
            <a:avLst/>
          </a:prstGeom>
          <a:solidFill>
            <a:srgbClr val="F69D3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56616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4251960" y="34290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Không biết trước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3566160" y="4114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Quán mở/đóng, còn món, bao lâu xong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3566160" y="4681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INS-02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217920" y="32461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400800" y="3429000"/>
            <a:ext cx="548640" cy="548640"/>
          </a:xfrm>
          <a:prstGeom prst="ellipse">
            <a:avLst/>
          </a:prstGeom>
          <a:solidFill>
            <a:srgbClr val="F69D3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0080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7086600" y="34290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Phí phát sinh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6400800" y="4114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tiền chỉ hiện ở bước cuối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6400800" y="4681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INS-04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9052560" y="32461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235440" y="3429000"/>
            <a:ext cx="548640" cy="54864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23544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9921240" y="34290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Lỗi thanh toán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9235440" y="4114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Mất giỏ hàng khi mạng yếu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9235440" y="4681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INS-06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548640" y="5257800"/>
            <a:ext cx="11109960" cy="960120"/>
          </a:xfrm>
          <a:prstGeom prst="roundRect">
            <a:avLst>
              <a:gd name="adj" fmla="val 9524"/>
            </a:avLst>
          </a:prstGeom>
          <a:solidFill>
            <a:srgbClr val="FFF5E5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22960" y="530352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might we… </a:t>
            </a:r>
            <a:pPr algn="l" indent="0" marL="0">
              <a:buNone/>
            </a:pPr>
            <a:r>
              <a:rPr lang="en-US" sz="1700" dirty="0">
                <a:solidFill>
                  <a:srgbClr val="2E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Làm sao để sinh viên có đồ ăn trong giờ nghỉ ngắn mà không phải xếp hàng?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Persona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· CÁC HƯỚNG ĐÃ CÂN NHẮC — IMPACT × FEASIBILITY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ux/p0-problem-framing.md mục 1 · quyết định D20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463040"/>
          <a:ext cx="58521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6675120" y="1463040"/>
            <a:ext cx="49834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858000" y="162763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858000" y="16276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6858000" y="2011680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Chọn A · App đặt trước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858000" y="246888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Gỡ được cả hai pain point chính (thời gian + thông tin) và khớp phạm vi Lab 2 (app mobile, handoff Flutter).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675120" y="3200400"/>
            <a:ext cx="49834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858000" y="3364992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858000" y="336499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PHÒNG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6858000" y="3749040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Giữ B · Web QR làm dự phòng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6858000" y="420624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Phỏng vấn mô phỏng A3 ngại cài thêm app → rủi ro R2. Web BreakBite đã có sẵn.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675120" y="4937760"/>
            <a:ext cx="49834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858000" y="510235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858000" y="51023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6858000" y="5486400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D20 · Từ chối chuyển sang B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6858000" y="5943600"/>
            <a:ext cx="4617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Ràng buộc thật: đề yêu cầu app mobile 360 × 800 dp.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Persona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· RESEARCH — PHƯƠNG PHÁP &amp; CÂU HỎI NGHIÊN CỨU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ux/p1-research.md mục 1–3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63040"/>
            <a:ext cx="566928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6002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CÂU HỎI NGHIÊN CỨU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2011680"/>
            <a:ext cx="5212080" cy="548640"/>
          </a:xfrm>
          <a:prstGeom prst="roundRect">
            <a:avLst>
              <a:gd name="adj" fmla="val 16667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14400" y="20116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600200" y="20116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Giữa hai slot thật sự có bao nhiêu phút?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77240" y="2670048"/>
            <a:ext cx="5212080" cy="548640"/>
          </a:xfrm>
          <a:prstGeom prst="roundRect">
            <a:avLst>
              <a:gd name="adj" fmla="val 16667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4400" y="267004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267004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Hàng chờ dài bao lâu, có làm bỏ mua không?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777240" y="3328416"/>
            <a:ext cx="5212080" cy="548640"/>
          </a:xfrm>
          <a:prstGeom prst="roundRect">
            <a:avLst>
              <a:gd name="adj" fmla="val 16667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14400" y="332841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600200" y="332841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 biết gì trước khi quyết định mua?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777240" y="3986784"/>
            <a:ext cx="5212080" cy="548640"/>
          </a:xfrm>
          <a:prstGeom prst="roundRect">
            <a:avLst>
              <a:gd name="adj" fmla="val 16667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14400" y="3986784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600200" y="398678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chịu cài app riêng của quán không?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777240" y="4645152"/>
            <a:ext cx="5212080" cy="548640"/>
          </a:xfrm>
          <a:prstGeom prst="roundRect">
            <a:avLst>
              <a:gd name="adj" fmla="val 16667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14400" y="464515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RQ5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1600200" y="464515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thanh toán lỗi, đã làm gì?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777240" y="5303520"/>
            <a:ext cx="5212080" cy="548640"/>
          </a:xfrm>
          <a:prstGeom prst="roundRect">
            <a:avLst>
              <a:gd name="adj" fmla="val 16667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14400" y="53035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RQ6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1600200" y="53035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Quầy có làm kịp đơn dồn giờ nghỉ không?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6492240" y="1463040"/>
            <a:ext cx="5166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675120" y="15727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Desk research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6675120" y="196596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Thị trường, đối thủ, source web BreakBite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9646920" y="1810512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646920" y="181051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làm · E01–E09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492240" y="2670048"/>
            <a:ext cx="5166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675120" y="277977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Phỏng vấn mô phỏng AI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6675120" y="317296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hồ sơ SV, 10 câu/người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9646920" y="3017520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646920" y="301752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làm · SIM-A1…A5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492240" y="3877056"/>
            <a:ext cx="5166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675120" y="398678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Phỏng vấn người thật</a:t>
            </a:r>
            <a:endParaRPr lang="en-US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6675120" y="4379976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SV (4 P01, 2 P02) + 1 nhân viên quầy</a:t>
            </a:r>
            <a:endParaRPr lang="en-US" sz="1250" dirty="0"/>
          </a:p>
        </p:txBody>
      </p:sp>
      <p:sp>
        <p:nvSpPr>
          <p:cNvPr id="41" name="Shape 38"/>
          <p:cNvSpPr/>
          <p:nvPr/>
        </p:nvSpPr>
        <p:spPr>
          <a:xfrm>
            <a:off x="9646920" y="4224528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9646920" y="422452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hoạch · chưa làm</a:t>
            </a:r>
            <a:endParaRPr lang="en-US" sz="1300" dirty="0"/>
          </a:p>
        </p:txBody>
      </p:sp>
      <p:sp>
        <p:nvSpPr>
          <p:cNvPr id="43" name="Shape 40"/>
          <p:cNvSpPr/>
          <p:nvPr/>
        </p:nvSpPr>
        <p:spPr>
          <a:xfrm>
            <a:off x="6492240" y="5084064"/>
            <a:ext cx="5166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675120" y="51937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 sát hàng chờ</a:t>
            </a:r>
            <a:endParaRPr lang="en-US" sz="1500" dirty="0"/>
          </a:p>
        </p:txBody>
      </p:sp>
      <p:sp>
        <p:nvSpPr>
          <p:cNvPr id="45" name="Text 42"/>
          <p:cNvSpPr txBox="1"/>
          <p:nvPr/>
        </p:nvSpPr>
        <p:spPr>
          <a:xfrm>
            <a:off x="6675120" y="5586984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khung giờ nghỉ, bấm giờ 5 người</a:t>
            </a:r>
            <a:endParaRPr lang="en-US" sz="1250" dirty="0"/>
          </a:p>
        </p:txBody>
      </p:sp>
      <p:sp>
        <p:nvSpPr>
          <p:cNvPr id="46" name="Shape 43"/>
          <p:cNvSpPr/>
          <p:nvPr/>
        </p:nvSpPr>
        <p:spPr>
          <a:xfrm>
            <a:off x="9646920" y="5431536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9646920" y="543153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hoạch · chưa làm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Persona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PHỎNG VẤN MÔ PHỎNG AI · N = 5 NHÂN VẬT (CHƯA PHẢI DỮ LIỆU THẬT)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ux/research.md mục 3 · ai/ai-persona-interviews.md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417320"/>
          <a:ext cx="749808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8321040" y="1463040"/>
            <a:ext cx="333756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503920" y="1554480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4/5</a:t>
            </a:r>
            <a:endParaRPr lang="en-US" sz="3400" dirty="0"/>
          </a:p>
        </p:txBody>
      </p:sp>
      <p:sp>
        <p:nvSpPr>
          <p:cNvPr id="11" name="Text 7"/>
          <p:cNvSpPr txBox="1"/>
          <p:nvPr/>
        </p:nvSpPr>
        <p:spPr>
          <a:xfrm>
            <a:off x="9829800" y="155448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muốn biết trước trạng thái quán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321040" y="2880360"/>
            <a:ext cx="333756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503920" y="2971800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3/5</a:t>
            </a:r>
            <a:endParaRPr lang="en-US" sz="3400" dirty="0"/>
          </a:p>
        </p:txBody>
      </p:sp>
      <p:sp>
        <p:nvSpPr>
          <p:cNvPr id="14" name="Text 10"/>
          <p:cNvSpPr txBox="1"/>
          <p:nvPr/>
        </p:nvSpPr>
        <p:spPr>
          <a:xfrm>
            <a:off x="9829800" y="297180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từng bỏ mua vì hàng chờ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21040" y="4297680"/>
            <a:ext cx="333756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503920" y="4389120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1/5</a:t>
            </a:r>
            <a:endParaRPr lang="en-US" sz="3400" dirty="0"/>
          </a:p>
        </p:txBody>
      </p:sp>
      <p:sp>
        <p:nvSpPr>
          <p:cNvPr id="17" name="Text 13"/>
          <p:cNvSpPr txBox="1"/>
          <p:nvPr/>
        </p:nvSpPr>
        <p:spPr>
          <a:xfrm>
            <a:off x="9829800" y="438912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 duy nhất của insight lỗi thanh toán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8321040" y="576072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mô phỏng, nhãn Assumed — không dùng để khẳng định tỉ lệ.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Persona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→ QUYẾT ĐỊNH THIẾT KẾ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ux/p1-research.md mục 4 · ux/persona-mapping.xlsx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63040"/>
            <a:ext cx="54864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5727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INS-01 · Hàng chờ giờ nghỉ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1965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BẰNG CHỨNG  SIM-A1, A2, A5 · tin cậy thấp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77240" y="2304288"/>
            <a:ext cx="5029200" cy="502920"/>
          </a:xfrm>
          <a:prstGeom prst="roundRect">
            <a:avLst>
              <a:gd name="adj" fmla="val 18182"/>
            </a:avLst>
          </a:prstGeom>
          <a:solidFill>
            <a:srgbClr val="F6E7D3"/>
          </a:solidFill>
          <a:ln w="9525">
            <a:solidFill>
              <a:srgbClr val="F6E7D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14400" y="230428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 </a:t>
            </a:r>
            <a:pPr algn="l" indent="0" marL="0">
              <a:buNone/>
            </a:pPr>
            <a:r>
              <a:rPr lang="en-US" sz="12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trước + hẹn giờ nhận (S05)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172200" y="1463040"/>
            <a:ext cx="54864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0" y="15727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INS-02 · Cần biết trước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0" y="1965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BẰNG CHỨNG  SIM-A1, A3, A4, A5 · E05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400800" y="2304288"/>
            <a:ext cx="5029200" cy="502920"/>
          </a:xfrm>
          <a:prstGeom prst="roundRect">
            <a:avLst>
              <a:gd name="adj" fmla="val 18182"/>
            </a:avLst>
          </a:prstGeom>
          <a:solidFill>
            <a:srgbClr val="F6E7D3"/>
          </a:solidFill>
          <a:ln w="9525">
            <a:solidFill>
              <a:srgbClr val="F6E7D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37960" y="230428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 </a:t>
            </a:r>
            <a:pPr algn="l" indent="0" marL="0">
              <a:buNone/>
            </a:pPr>
            <a:r>
              <a:rPr lang="en-US" sz="12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trạng thái Kiosk + thời gian ước tính (S02)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48640" y="3063240"/>
            <a:ext cx="54864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7240" y="31729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INS-04 · Ngại phí ẩn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3566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BẰNG CHỨNG  SIM-A1, A2 · E06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777240" y="3904488"/>
            <a:ext cx="5029200" cy="502920"/>
          </a:xfrm>
          <a:prstGeom prst="roundRect">
            <a:avLst>
              <a:gd name="adj" fmla="val 18182"/>
            </a:avLst>
          </a:prstGeom>
          <a:solidFill>
            <a:srgbClr val="F6E7D3"/>
          </a:solidFill>
          <a:ln w="9525">
            <a:solidFill>
              <a:srgbClr val="F6E7D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14400" y="390448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 </a:t>
            </a:r>
            <a:pPr algn="l" indent="0" marL="0">
              <a:buNone/>
            </a:pPr>
            <a:r>
              <a:rPr lang="en-US" sz="12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 cộng dồn trên nút CTA, tổng ở giỏ (S04, S05)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172200" y="3063240"/>
            <a:ext cx="54864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0" y="31729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INS-05 · Không muốn đăng ký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6400800" y="3566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BẰNG CHỨNG  SIM-A1, A3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400800" y="3904488"/>
            <a:ext cx="5029200" cy="502920"/>
          </a:xfrm>
          <a:prstGeom prst="roundRect">
            <a:avLst>
              <a:gd name="adj" fmla="val 18182"/>
            </a:avLst>
          </a:prstGeom>
          <a:solidFill>
            <a:srgbClr val="F6E7D3"/>
          </a:solidFill>
          <a:ln w="9525">
            <a:solidFill>
              <a:srgbClr val="F6E7D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37960" y="390448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 </a:t>
            </a:r>
            <a:pPr algn="l" indent="0" marL="0">
              <a:buNone/>
            </a:pPr>
            <a:r>
              <a:rPr lang="en-US" sz="12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menu không cần tài khoản; từ chối đăng nhập tích điểm (D12)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48640" y="4663440"/>
            <a:ext cx="54864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77240" y="47731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INS-06 · Lỗi thanh toán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777240" y="5166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BẰNG CHỨNG  SIM-A5 (1 nguồn) · E03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777240" y="5504688"/>
            <a:ext cx="5029200" cy="502920"/>
          </a:xfrm>
          <a:prstGeom prst="roundRect">
            <a:avLst>
              <a:gd name="adj" fmla="val 18182"/>
            </a:avLst>
          </a:prstGeom>
          <a:solidFill>
            <a:srgbClr val="F6E7D3"/>
          </a:solidFill>
          <a:ln w="9525">
            <a:solidFill>
              <a:srgbClr val="F6E7D3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14400" y="550468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 </a:t>
            </a:r>
            <a:pPr algn="l" indent="0" marL="0">
              <a:buNone/>
            </a:pPr>
            <a:r>
              <a:rPr lang="en-US" sz="12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Màn phục hồi giữ giỏ, Thử lại / Tiền mặt (S06-ERR)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6172200" y="4663440"/>
            <a:ext cx="54864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400800" y="47731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Thao tác một tay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6400800" y="5166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BẰNG CHỨNG  SIM-A1, A5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400800" y="5504688"/>
            <a:ext cx="5029200" cy="502920"/>
          </a:xfrm>
          <a:prstGeom prst="roundRect">
            <a:avLst>
              <a:gd name="adj" fmla="val 18182"/>
            </a:avLst>
          </a:prstGeom>
          <a:solidFill>
            <a:srgbClr val="F6E7D3"/>
          </a:solidFill>
          <a:ln w="9525">
            <a:solidFill>
              <a:srgbClr val="F6E7D3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537960" y="550468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 </a:t>
            </a:r>
            <a:pPr algn="l" indent="0" marL="0">
              <a:buNone/>
            </a:pPr>
            <a:r>
              <a:rPr lang="en-US" sz="12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 ở đáy, vùng chạm ≥ 48 dp (DESIGN.md)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Persona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· PERSONA CHÍNH (PRIMARY)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ux/persona.md (12 trường lõi)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63040"/>
            <a:ext cx="6035040" cy="4754880"/>
          </a:xfrm>
          <a:prstGeom prst="roundRect">
            <a:avLst>
              <a:gd name="adj" fmla="val 1923"/>
            </a:avLst>
          </a:prstGeom>
          <a:solidFill>
            <a:srgbClr val="FFF5E5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1737360"/>
            <a:ext cx="868680" cy="868680"/>
          </a:xfrm>
          <a:prstGeom prst="ellipse">
            <a:avLst/>
          </a:prstGeom>
          <a:solidFill>
            <a:srgbClr val="622B14"/>
          </a:solidFill>
          <a:ln w="12700">
            <a:solidFill>
              <a:srgbClr val="622B1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17373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874520" y="171907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Nguyễn Minh Quân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187452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tuổi · SV năm 2 KTPM · ở ký túc xá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22960" y="278892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622B14"/>
          </a:solidFill>
          <a:ln w="12700">
            <a:solidFill>
              <a:srgbClr val="622B1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27889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3337560"/>
            <a:ext cx="5577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3 slot/ngày, nghỉ ~15 phút, ~5 phút đi bộ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tầm trung, 360–412 dp, cầm máy một tay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bằng QR ngân hàng; mạng trong tòa nhà chập chờn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tiêu: đặt xong &lt; 35 giây, ≤ 8 chạm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812280" y="1463040"/>
            <a:ext cx="484632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040880" y="16459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Khó khăn chính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7040880" y="2148840"/>
            <a:ext cx="4389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Hàng chờ đúng giờ nghỉ → bỏ bữa, trễ lớp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biết quán mở, còn món, bao lâu xong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Nút nhỏ hoặc ở trên cao, khó bấm khi đi bộ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muốn đăng ký chỉ để xem menu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7040880" y="434340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“Thấy hàng dài là bỏ luôn, nhịn tới trưa.”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7040880" y="56235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nói đại diện — Phỏng vấn mô phỏng AI (SIM-A1)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Persona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· PERSONA PHỤ (SECONDARY)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ux/persona.md (12 trường lõi)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63040"/>
            <a:ext cx="6035040" cy="4754880"/>
          </a:xfrm>
          <a:prstGeom prst="roundRect">
            <a:avLst>
              <a:gd name="adj" fmla="val 1923"/>
            </a:avLst>
          </a:prstGeom>
          <a:solidFill>
            <a:srgbClr val="FFF5E5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1737360"/>
            <a:ext cx="868680" cy="8686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17373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874520" y="171907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Trần Mỹ Linh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187452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tuổi · SV năm 1 Thiết kế · ở trọ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22960" y="278892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27889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3337560"/>
            <a:ext cx="5577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Ngân sách ~40.000đ/ngày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 cũ, ví MoMo, dùng hai tay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Ít dùng app giao hàng vì phí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tiêu: thấy tổng tiền thật trước khi trả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812280" y="1463040"/>
            <a:ext cx="484632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040880" y="16459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Khó khăn chính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7040880" y="2148840"/>
            <a:ext cx="4389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Phí ship + phí dịch vụ cao hơn cả món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tiền chỉ hiện ở bước cuối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Chữ nhỏ phải phóng to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7040880" y="434340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“Mình thích thấy trước tổng tiền, đừng tới bước cuối mới hiện thêm phí.”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7040880" y="56235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nói đại diện — Phỏng vấn mô phỏng AI (SIM-A2)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Persona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· PERSONA HỖ TRỢ (SUPPORTING)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ux/persona.md (12 trường lõi)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63040"/>
            <a:ext cx="6035040" cy="4754880"/>
          </a:xfrm>
          <a:prstGeom prst="roundRect">
            <a:avLst>
              <a:gd name="adj" fmla="val 1923"/>
            </a:avLst>
          </a:prstGeom>
          <a:solidFill>
            <a:srgbClr val="FFF5E5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1737360"/>
            <a:ext cx="868680" cy="868680"/>
          </a:xfrm>
          <a:prstGeom prst="ellipse">
            <a:avLst/>
          </a:prstGeom>
          <a:solidFill>
            <a:srgbClr val="7A3A20"/>
          </a:solidFill>
          <a:ln w="12700">
            <a:solidFill>
              <a:srgbClr val="7A3A2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17373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874520" y="171907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Cô Hạnh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187452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 tuổi · nhân viên quầy Kiosk BreakBite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22960" y="278892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7A3A20"/>
          </a:solidFill>
          <a:ln w="12700">
            <a:solidFill>
              <a:srgbClr val="7A3A2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27889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3337560"/>
            <a:ext cx="5577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Đứng quầy giờ nghỉ, vừa nấu vừa trả món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dùng app khách, nhưng quyết định món có xong đúng giờ không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tiêu: trả một món đặt trước trong ~30 giây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812280" y="1463040"/>
            <a:ext cx="484632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040880" y="16459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Khó khăn chính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7040880" y="2148840"/>
            <a:ext cx="4389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đứng chờ kiểm tra chuyển khoản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huỷ khi món đã nấu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 bận, ít thời gian nhìn điện thoại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Persona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· ANTI-PERSONA (NHÓM KHÔNG NHẮM TỚI) &amp; CƠ SỞ CHỌN PERSONA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ux/persona.md mục 0 · ux/research.md mục 5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63040"/>
            <a:ext cx="5394960" cy="4754880"/>
          </a:xfrm>
          <a:prstGeom prst="roundRect">
            <a:avLst>
              <a:gd name="adj" fmla="val 1923"/>
            </a:avLst>
          </a:prstGeom>
          <a:solidFill>
            <a:srgbClr val="FFF5E5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1737360"/>
            <a:ext cx="868680" cy="868680"/>
          </a:xfrm>
          <a:prstGeom prst="ellipse">
            <a:avLst/>
          </a:prstGeom>
          <a:solidFill>
            <a:srgbClr val="8A7A70"/>
          </a:solidFill>
          <a:ln w="12700">
            <a:solidFill>
              <a:srgbClr val="8A7A7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17373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874520" y="17373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Tuấn &amp; Hà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1874520" y="2240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 năm 3–4 · ít lên trường hoặc mang cơm từ nhà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288036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 ở trường rất ít, không bị áp lực giờ nghỉ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muốn tải thêm app (Tuấn)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Thích trả tiền mặt (Hà)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44348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“Phải tải thêm một app nữa chỉ để mua đồ ở trường thì mình không tải.”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5440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Phỏng vấn mô phỏng AI (SIM-A3) · ghi thành rủi ro R2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6217920" y="14630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Vì sao Quân là persona chính?</a:t>
            </a:r>
            <a:endParaRPr lang="en-US" sz="1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965960"/>
          <a:ext cx="5440680" cy="914400"/>
        </p:xfrm>
        <a:graphic>
          <a:graphicData uri="http://schemas.openxmlformats.org/drawingml/2006/table">
            <a:tbl>
              <a:tblPr/>
              <a:tblGrid>
                <a:gridCol w="3063240"/>
                <a:gridCol w="777240"/>
                <a:gridCol w="777240"/>
                <a:gridCol w="8229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Nhu cầu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2B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2B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2B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2B1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Đặt nhanh trong giờ nghỉ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Biết trạng thái quán, thời gian chờ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Thấy tổng tiền sớm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Phục hồi khi thanh toán lỗi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Mã nhận đồ dễ đối chiếu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4"/>
          <p:cNvSpPr txBox="1"/>
          <p:nvPr/>
        </p:nvSpPr>
        <p:spPr>
          <a:xfrm>
            <a:off x="6217920" y="480060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nhu cầu chính · ○ nhu cầu phụ — Coverage Matrix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217920" y="5212080"/>
            <a:ext cx="5440680" cy="1005840"/>
          </a:xfrm>
          <a:prstGeom prst="roundRect">
            <a:avLst>
              <a:gd name="adj" fmla="val 9091"/>
            </a:avLst>
          </a:prstGeom>
          <a:solidFill>
            <a:srgbClr val="F6E7D3"/>
          </a:solidFill>
          <a:ln w="9525">
            <a:solidFill>
              <a:srgbClr val="F6E7D3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400800" y="521208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đau nhất (bỏ bữa, trễ lớp) và mua ở trường thường xuyên nhất → quyết định layout và luồng chính.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Information Architecture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TRÚC ĐIỀU HƯỚNG — 8 MÀN HÌNH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ux/user-flow.md mục 1 · Figma Page 01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Entry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192024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1920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S01 Onboarding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3063240" y="19202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hiện lần mở đầu, có nút Bỏ qua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2606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Primary — Bottom navigation (4 tab)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548640" y="306324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622B14"/>
          </a:solidFill>
          <a:ln w="12700">
            <a:solidFill>
              <a:srgbClr val="622B1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063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S02 Trang chủ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3063240" y="30632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Trạng thái quán, gợi ý nhanh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3593592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622B14"/>
          </a:solidFill>
          <a:ln w="12700">
            <a:solidFill>
              <a:srgbClr val="622B1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35935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S03 Thực đơn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3063240" y="359359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mục, tìm kiếm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48640" y="4123944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622B14"/>
          </a:solidFill>
          <a:ln w="12700">
            <a:solidFill>
              <a:srgbClr val="622B1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" y="412394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S07 Theo dõi đơn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3063240" y="412394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Tiến trình 4 bước, mã nhận đồ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48640" y="4654296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622B14"/>
          </a:solidFill>
          <a:ln w="12700">
            <a:solidFill>
              <a:srgbClr val="622B1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48640" y="465429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S08 Lịch sử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3063240" y="465429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lại đơn cũ 1 chạm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6309360" y="1463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Secondary — màn con</a:t>
            </a:r>
            <a:endParaRPr lang="en-US" sz="1700" dirty="0"/>
          </a:p>
        </p:txBody>
      </p:sp>
      <p:sp>
        <p:nvSpPr>
          <p:cNvPr id="26" name="Shape 23"/>
          <p:cNvSpPr/>
          <p:nvPr/>
        </p:nvSpPr>
        <p:spPr>
          <a:xfrm>
            <a:off x="6309360" y="192024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69D39"/>
          </a:solidFill>
          <a:ln w="12700">
            <a:solidFill>
              <a:srgbClr val="F69D39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309360" y="1920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S04 Chi tiết món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8823960" y="19202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Topping, số lượng, giá cộng dồn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309360" y="2450592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69D39"/>
          </a:solidFill>
          <a:ln w="12700">
            <a:solidFill>
              <a:srgbClr val="F69D39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309360" y="24505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S05 Giỏ hàng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8823960" y="245059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giảm giá, hẹn giờ nhận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6309360" y="2980944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69D39"/>
          </a:solidFill>
          <a:ln w="12700">
            <a:solidFill>
              <a:srgbClr val="F69D39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309360" y="298094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S06 Thanh toán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8823960" y="298094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/ ví / tiền mặt, dialog xác nhận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6309360" y="3657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Biến thể trạng thái &amp; dialog (không tính màn)</a:t>
            </a:r>
            <a:endParaRPr lang="en-US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6309360" y="4114800"/>
            <a:ext cx="5303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S05 · Giỏ hàng trống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S06-ERR · Lỗi thanh toán &amp; phục hồi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 xác nhận đặt / huỷ đơn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skeleton · Error · Success</a:t>
            </a:r>
            <a:endParaRPr lang="en-US" sz="1350" dirty="0"/>
          </a:p>
        </p:txBody>
      </p:sp>
      <p:sp>
        <p:nvSpPr>
          <p:cNvPr id="37" name="Shape 34"/>
          <p:cNvSpPr/>
          <p:nvPr/>
        </p:nvSpPr>
        <p:spPr>
          <a:xfrm>
            <a:off x="548640" y="5394960"/>
            <a:ext cx="5577840" cy="822960"/>
          </a:xfrm>
          <a:prstGeom prst="roundRect">
            <a:avLst>
              <a:gd name="adj" fmla="val 11111"/>
            </a:avLst>
          </a:prstGeom>
          <a:solidFill>
            <a:srgbClr val="F6E7D3"/>
          </a:solidFill>
          <a:ln w="9525">
            <a:solidFill>
              <a:srgbClr val="F6E7D3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731520" y="539496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bottom nav? Persona thao tác bằng ngón cái khi đi bộ (DP3).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Main User Flows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1 — ĐẶT NHANH, NHẬN TẠI QUẦY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ux/user-flow.md mục 2.1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S02 Trang chủ → Goal: có mã nhận đồ · tối đa 8 chạm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1920240"/>
            <a:ext cx="1336330" cy="1051560"/>
          </a:xfrm>
          <a:prstGeom prst="roundRect">
            <a:avLst>
              <a:gd name="adj" fmla="val 6957"/>
            </a:avLst>
          </a:prstGeom>
          <a:solidFill>
            <a:srgbClr val="F6E7D3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1792" y="1975104"/>
            <a:ext cx="119002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S02 Home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Bấm combo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921546" y="2354580"/>
            <a:ext cx="219456" cy="182880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77578" y="1920240"/>
            <a:ext cx="133633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250730" y="1975104"/>
            <a:ext cx="119002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S04 Chi tiết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Topping, giá tự cộng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550485" y="2354580"/>
            <a:ext cx="219456" cy="182880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806517" y="1920240"/>
            <a:ext cx="133633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879669" y="1975104"/>
            <a:ext cx="119002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S05 Giỏ hàng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Hẹn giờ nhận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179423" y="2354580"/>
            <a:ext cx="219456" cy="182880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35455" y="1920240"/>
            <a:ext cx="133633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508607" y="1975104"/>
            <a:ext cx="119002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S06 Thanh toán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Tiền mặt / QR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808361" y="2354580"/>
            <a:ext cx="219456" cy="182880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064393" y="1920240"/>
            <a:ext cx="133633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137545" y="1975104"/>
            <a:ext cx="119002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nhận đặt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437299" y="2354580"/>
            <a:ext cx="219456" cy="182880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693331" y="1920240"/>
            <a:ext cx="133633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766483" y="1975104"/>
            <a:ext cx="119002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Gửi đơn tới bếp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10066238" y="2354580"/>
            <a:ext cx="219456" cy="182880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0322270" y="1920240"/>
            <a:ext cx="1336330" cy="1051560"/>
          </a:xfrm>
          <a:prstGeom prst="roundRect">
            <a:avLst>
              <a:gd name="adj" fmla="val 6957"/>
            </a:avLst>
          </a:prstGeom>
          <a:solidFill>
            <a:srgbClr val="E3F1E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0395422" y="1975104"/>
            <a:ext cx="119002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S07 Theo dõi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#A-204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548640" y="3291840"/>
            <a:ext cx="5486400" cy="2926080"/>
          </a:xfrm>
          <a:prstGeom prst="roundRect">
            <a:avLst>
              <a:gd name="adj" fmla="val 3125"/>
            </a:avLst>
          </a:prstGeom>
          <a:solidFill>
            <a:srgbClr val="FFF5E5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77240" y="3429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Nhánh thay thế / lỗi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777240" y="388620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Quán đang đóng → badge + không cho đặt (S02)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ở mọi bước quay về màn trước, giỏ hàng được giữ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Đơn cũ: S08 Lịch sử → Đặt lại → S05</a:t>
            </a:r>
            <a:endParaRPr lang="en-US" sz="1350" dirty="0"/>
          </a:p>
        </p:txBody>
      </p:sp>
      <p:sp>
        <p:nvSpPr>
          <p:cNvPr id="32" name="Shape 29"/>
          <p:cNvSpPr/>
          <p:nvPr/>
        </p:nvSpPr>
        <p:spPr>
          <a:xfrm>
            <a:off x="6263640" y="3291840"/>
            <a:ext cx="539496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33" name="Text 30"/>
          <p:cNvSpPr txBox="1"/>
          <p:nvPr/>
        </p:nvSpPr>
        <p:spPr>
          <a:xfrm>
            <a:off x="6355080" y="3291840"/>
            <a:ext cx="5212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Chèn sơ đồ flow từ Figma Page 01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(sau khi sửa mã màn hình cho khớp repo)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Main User Flows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2 — TUỲ CHỈNH MÓN &amp; MÃ GIẢM GIÁ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ux/user-flow.md mục 2.2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S03 Thực đơn → Goal: thanh toán với giá ưu đãi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1920240"/>
            <a:ext cx="1336330" cy="1051560"/>
          </a:xfrm>
          <a:prstGeom prst="roundRect">
            <a:avLst>
              <a:gd name="adj" fmla="val 6957"/>
            </a:avLst>
          </a:prstGeom>
          <a:solidFill>
            <a:srgbClr val="F6E7D3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1792" y="1975104"/>
            <a:ext cx="119002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S03 Thực đơn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Lọc Mì trộn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921546" y="2354580"/>
            <a:ext cx="219456" cy="182880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77578" y="1920240"/>
            <a:ext cx="133633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250730" y="1975104"/>
            <a:ext cx="119002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S04 Chi tiết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Mức cay + 2 topping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550485" y="2354580"/>
            <a:ext cx="219456" cy="182880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806517" y="1920240"/>
            <a:ext cx="133633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879669" y="1975104"/>
            <a:ext cx="119002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S05 Giỏ hàng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Nhập FTASV20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179423" y="2354580"/>
            <a:ext cx="219456" cy="182880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35455" y="1920240"/>
            <a:ext cx="1336330" cy="1051560"/>
          </a:xfrm>
          <a:prstGeom prst="roundRect">
            <a:avLst>
              <a:gd name="adj" fmla="val 6957"/>
            </a:avLst>
          </a:prstGeom>
          <a:solidFill>
            <a:srgbClr val="FBE3E0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508607" y="1975104"/>
            <a:ext cx="119002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sai?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lỗi + lý do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808361" y="2354580"/>
            <a:ext cx="219456" cy="182880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064393" y="1920240"/>
            <a:ext cx="133633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137545" y="1975104"/>
            <a:ext cx="119002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đúng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giá hiển thị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437299" y="2354580"/>
            <a:ext cx="219456" cy="182880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693331" y="1920240"/>
            <a:ext cx="133633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766483" y="1975104"/>
            <a:ext cx="119002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S06 Thanh toán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ngân hàng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10066238" y="2354580"/>
            <a:ext cx="219456" cy="182880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0322270" y="1920240"/>
            <a:ext cx="1336330" cy="1051560"/>
          </a:xfrm>
          <a:prstGeom prst="roundRect">
            <a:avLst>
              <a:gd name="adj" fmla="val 6957"/>
            </a:avLst>
          </a:prstGeom>
          <a:solidFill>
            <a:srgbClr val="E3F1E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0395422" y="1975104"/>
            <a:ext cx="119002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S07 Theo dõi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Đang làm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548640" y="3291840"/>
            <a:ext cx="5486400" cy="2926080"/>
          </a:xfrm>
          <a:prstGeom prst="roundRect">
            <a:avLst>
              <a:gd name="adj" fmla="val 3125"/>
            </a:avLst>
          </a:prstGeom>
          <a:solidFill>
            <a:srgbClr val="FFF5E5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77240" y="3429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Nhánh thay thế / lỗi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777240" y="388620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sai/hết hạn: icon + câu lý do cụ thể, nhập lại (D03)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tiền luôn hiện trước bước chọn phương thức (P02)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Bỏ mã: tổng quay về giá gốc</a:t>
            </a:r>
            <a:endParaRPr lang="en-US" sz="1350" dirty="0"/>
          </a:p>
        </p:txBody>
      </p:sp>
      <p:sp>
        <p:nvSpPr>
          <p:cNvPr id="32" name="Shape 29"/>
          <p:cNvSpPr/>
          <p:nvPr/>
        </p:nvSpPr>
        <p:spPr>
          <a:xfrm>
            <a:off x="6263640" y="3291840"/>
            <a:ext cx="539496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33" name="Text 30"/>
          <p:cNvSpPr txBox="1"/>
          <p:nvPr/>
        </p:nvSpPr>
        <p:spPr>
          <a:xfrm>
            <a:off x="6355080" y="3291840"/>
            <a:ext cx="5212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Chèn sơ đồ flow từ Figma Page 01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(sau khi sửa mã màn hình cho khớp repo)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Main User Flows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3 — LỖI THANH TOÁN &amp; PHỤC HỒI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ux/user-flow.md mục 2.3 · quyết định D24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S06 Thanh toán → Goal: đơn không bị mất khi cổng thanh toán lỗi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1920240"/>
            <a:ext cx="1607820" cy="1051560"/>
          </a:xfrm>
          <a:prstGeom prst="roundRect">
            <a:avLst>
              <a:gd name="adj" fmla="val 6957"/>
            </a:avLst>
          </a:prstGeom>
          <a:solidFill>
            <a:srgbClr val="F6E7D3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1792" y="1975104"/>
            <a:ext cx="146151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S06 Thanh toán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MoMo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193036" y="2354580"/>
            <a:ext cx="219456" cy="182880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449068" y="1920240"/>
            <a:ext cx="16078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522220" y="1975104"/>
            <a:ext cx="146151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nối cổng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093464" y="2354580"/>
            <a:ext cx="219456" cy="182880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349496" y="1920240"/>
            <a:ext cx="1607820" cy="1051560"/>
          </a:xfrm>
          <a:prstGeom prst="roundRect">
            <a:avLst>
              <a:gd name="adj" fmla="val 6957"/>
            </a:avLst>
          </a:prstGeom>
          <a:solidFill>
            <a:srgbClr val="FBE3E0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422648" y="1975104"/>
            <a:ext cx="146151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Mạng yếu / hết hạn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993892" y="2354580"/>
            <a:ext cx="219456" cy="182880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249924" y="1920240"/>
            <a:ext cx="16078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323076" y="1975104"/>
            <a:ext cx="146151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S06-ERR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Giỏ hàng vẫn giữ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894320" y="2354580"/>
            <a:ext cx="219456" cy="182880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150352" y="1920240"/>
            <a:ext cx="16078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23504" y="1975104"/>
            <a:ext cx="146151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Lựa chọn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Thử lại / Tiền mặt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794748" y="2354580"/>
            <a:ext cx="219456" cy="182880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0050780" y="1920240"/>
            <a:ext cx="1607820" cy="1051560"/>
          </a:xfrm>
          <a:prstGeom prst="roundRect">
            <a:avLst>
              <a:gd name="adj" fmla="val 6957"/>
            </a:avLst>
          </a:prstGeom>
          <a:solidFill>
            <a:srgbClr val="E3F1E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123932" y="1975104"/>
            <a:ext cx="146151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S07 Theo dõi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Đơn đã tạo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48640" y="3291840"/>
            <a:ext cx="5486400" cy="2926080"/>
          </a:xfrm>
          <a:prstGeom prst="roundRect">
            <a:avLst>
              <a:gd name="adj" fmla="val 3125"/>
            </a:avLst>
          </a:prstGeom>
          <a:solidFill>
            <a:srgbClr val="FFF5E5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77240" y="3429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Nhánh thay thế / lỗi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777240" y="388620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Thử lại thanh toán → quay về bước loading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tiền mặt tại quầy → tạo đơn ngay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bao giờ xoá giỏ hàng khi lỗi (DP5)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chỉ có 1 nguồn mô phỏng — giữ vì đề bắt buộc flow lỗi (D24)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6263640" y="3291840"/>
            <a:ext cx="539496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30" name="Text 27"/>
          <p:cNvSpPr txBox="1"/>
          <p:nvPr/>
        </p:nvSpPr>
        <p:spPr>
          <a:xfrm>
            <a:off x="6355080" y="3291840"/>
            <a:ext cx="5212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Chèn sơ đồ flow từ Figma Page 01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(sau khi sửa mã màn hình cho khớp repo)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UI Generation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STITCH — PROMPT DỰA TRÊN DESIGN.MD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design/DESIGN.md · ai/ai-design-log.md mục 2 · assets/stitch/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63040"/>
            <a:ext cx="585216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600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— 5 YẾU TỐ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0116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2194560" y="20116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SV, giờ nghỉ 15 phút, thao tác một tay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263347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2194560" y="263347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màn: Home, Chi tiết, Giỏ hàng, Theo dõi đơn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325526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tảng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2194560" y="325526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360 × 800 dp, Material Design 3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387705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Ràng buộc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2194560" y="3877056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Vùng chạm ≥ 48 × 48 dp, CTA ở vùng ngón cái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449884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Phong cách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2194560" y="449884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 #FFF5E5, cam #F69D39, nâu #622B14, Nunito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777240" y="5212080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F6E7D3"/>
          </a:solidFill>
          <a:ln w="9525">
            <a:solidFill>
              <a:srgbClr val="F6E7D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14400" y="521208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học  </a:t>
            </a:r>
            <a:pPr algn="l" indent="0" marL="0">
              <a:buNone/>
            </a:pPr>
            <a:r>
              <a:rPr lang="en-US" sz="12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ghi "chữ trắng trên #F69D39 đạt WCAG" — đo lại chỉ 2,14:1. Phải tự kiểm số AI đưa ra.</a:t>
            </a:r>
            <a:endParaRPr lang="en-US" sz="1250" dirty="0"/>
          </a:p>
        </p:txBody>
      </p:sp>
      <p:pic>
        <p:nvPicPr>
          <p:cNvPr id="22" name="Image 0" descr="D:\Study\FPTU\Sem8\PRM323\prm393-lab2\assets\stitch\02_initial_stitch_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463040"/>
            <a:ext cx="1112818" cy="425196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675120" y="5760720"/>
            <a:ext cx="1112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tiết</a:t>
            </a:r>
            <a:endParaRPr lang="en-US" sz="1100" dirty="0"/>
          </a:p>
        </p:txBody>
      </p:sp>
      <p:pic>
        <p:nvPicPr>
          <p:cNvPr id="24" name="Image 1" descr="D:\Study\FPTU\Sem8\PRM323\prm393-lab2\assets\stitch\03_initial_stitch_c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6538" y="1463040"/>
            <a:ext cx="1287214" cy="425196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8016538" y="5760720"/>
            <a:ext cx="12872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Giỏ hàng</a:t>
            </a:r>
            <a:endParaRPr lang="en-US" sz="1100" dirty="0"/>
          </a:p>
        </p:txBody>
      </p:sp>
      <p:pic>
        <p:nvPicPr>
          <p:cNvPr id="26" name="Image 2" descr="D:\Study\FPTU\Sem8\PRM323\prm393-lab2\assets\stitch\04_initial_stitch_track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2352" y="1463040"/>
            <a:ext cx="1229082" cy="425196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532352" y="5760720"/>
            <a:ext cx="12290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6675120" y="60350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gốc từ Google Stitch — assets/stitch/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Iterations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I01 · CTA KHÓ ĐỌC &amp; BỊ CHÌM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ai/ai-design-log.md mục 3 · ai/ai-evaluation-log.xlsx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554480"/>
            <a:ext cx="49377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Nút "Thêm vào giỏ", "Thanh toán" chữ trắng trên cam nhạt; CTA trôi theo nội dung cuộn.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refinement: Ghim CTA xuống đáy, hiện giá động trên nút.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CTA rõ hơn, nhưng đo lại chữ trắng/#F69D39 chỉ 2,14:1 → sửa tiếp ở D06 (chữ nâu, 5,23:1).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760720" y="1463040"/>
            <a:ext cx="2834640" cy="475488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10" name="Text 7"/>
          <p:cNvSpPr txBox="1"/>
          <p:nvPr/>
        </p:nvSpPr>
        <p:spPr>
          <a:xfrm>
            <a:off x="5852160" y="1463040"/>
            <a:ext cx="2651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Stitch — TRƯỚC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(chụp lại từ lịch sử Stitch)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823960" y="1463040"/>
            <a:ext cx="2834640" cy="475488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12" name="Text 9"/>
          <p:cNvSpPr txBox="1"/>
          <p:nvPr/>
        </p:nvSpPr>
        <p:spPr>
          <a:xfrm>
            <a:off x="8915400" y="1463040"/>
            <a:ext cx="2651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Stitch — SAU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(chụp lại từ lịch sử Stitch)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Iterations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I02 · THIẾU GIỎ TRỐNG &amp; DỄ XOÁ NHẦM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ai/ai-design-log.md mục 3 · ai/ai-evaluation-log.xlsx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554480"/>
            <a:ext cx="49377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Xoá hết món thì màn trắng trơn; giảm số lượng về 0 là món biến mất ngay.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refinement: Thêm empty state có thông điệp + 1 hành động; dialog xác nhận khi xoá.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Giỏ hàng không còn ngõ cụt; giảm xoá nhầm khi vừa đi vừa bấm.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760720" y="1463040"/>
            <a:ext cx="2834640" cy="475488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10" name="Text 7"/>
          <p:cNvSpPr txBox="1"/>
          <p:nvPr/>
        </p:nvSpPr>
        <p:spPr>
          <a:xfrm>
            <a:off x="5852160" y="1463040"/>
            <a:ext cx="2651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Stitch — TRƯỚC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(chụp lại từ lịch sử Stitch)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823960" y="1463040"/>
            <a:ext cx="2834640" cy="475488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12" name="Text 9"/>
          <p:cNvSpPr txBox="1"/>
          <p:nvPr/>
        </p:nvSpPr>
        <p:spPr>
          <a:xfrm>
            <a:off x="8915400" y="1463040"/>
            <a:ext cx="2651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Stitch — SAU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(chụp lại từ lịch sử Stitch)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Iterations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I03 · LỖI THANH TOÁN LÀ NGÕ CỤT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ai/ai-design-log.md mục 3 · ai/ai-evaluation-log.xlsx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554480"/>
            <a:ext cx="49377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Timeout chỉ báo toast đỏ rồi về Home, xoá sạch giỏ hàng.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refinement: Màn S06-ERR: giải thích bằng ngôn ngữ thường, giữ giỏ, 2 lối: Thử lại / Tiền mặt.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Flow 3 có phục hồi; nhãn nút được thống nhất ở D16.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760720" y="1463040"/>
            <a:ext cx="2834640" cy="475488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10" name="Text 7"/>
          <p:cNvSpPr txBox="1"/>
          <p:nvPr/>
        </p:nvSpPr>
        <p:spPr>
          <a:xfrm>
            <a:off x="5852160" y="1463040"/>
            <a:ext cx="2651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Stitch — TRƯỚC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(chụp lại từ lịch sử Stitch)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823960" y="1463040"/>
            <a:ext cx="2834640" cy="475488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12" name="Text 9"/>
          <p:cNvSpPr txBox="1"/>
          <p:nvPr/>
        </p:nvSpPr>
        <p:spPr>
          <a:xfrm>
            <a:off x="8915400" y="1463040"/>
            <a:ext cx="2651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Stitch — SAU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(chụp lại từ lịch sử Stitch)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UX Critique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HIỆN UX GẮN MÀN HÌNH — NIELSEN · WCAG · PERSONA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ai/ai-design-log.md mục 4 + Phụ lục A · ai/ai-evaluation-log.xlsx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1099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3383280"/>
                <a:gridCol w="3200400"/>
                <a:gridCol w="822960"/>
                <a:gridCol w="7772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Màn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2B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Tiêu chí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2B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Vấn đề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2B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Đề xuất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2B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Mức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2B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QĐ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2B1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S02 Home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Nielsen #1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thấy quầy mở / tạm dừng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Badge trạng thái Kiosk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S04 Chi tiết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Nielsen #6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Giá topping không cộng dồn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Giá động trên CTA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Toàn app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WCAG 1.4.3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Chữ trắng / cam = 2,14:1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Chữ nút nâu #622B14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S02 Home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Nielsen #2, #6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Ảnh món là ô giữ chỗ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Dùng ảnh món thật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S04 Chi tiết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WCAG 2.5.5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Nút +/- ~24–28 dp, sát CTA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Vùng chạm 48 dp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Vừa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S06-ERR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Nielsen #9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Lộ mã lỗi #PAY_402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Đưa vào "Mã tham chiếu"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Thấp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48640" y="5715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Tổng: 28 phát hiện qua 6 vòng đánh giá (Gemini + Claude + đo WCAG), 0 phát hiện chưa có quyết định.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UX Critique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HỢP CÁC VÒNG AI ĐÁNH GIÁ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ai/ai-evaluation-log.xlsx (sheet Summary)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463040"/>
          <a:ext cx="658368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7406640" y="1463040"/>
            <a:ext cx="4251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635240" y="155448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4400" dirty="0"/>
          </a:p>
        </p:txBody>
      </p:sp>
      <p:sp>
        <p:nvSpPr>
          <p:cNvPr id="11" name="Text 7"/>
          <p:cNvSpPr txBox="1"/>
          <p:nvPr/>
        </p:nvSpPr>
        <p:spPr>
          <a:xfrm>
            <a:off x="9052560" y="15544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Accept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7406640" y="3017520"/>
            <a:ext cx="4251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635240" y="310896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400" dirty="0"/>
          </a:p>
        </p:txBody>
      </p:sp>
      <p:sp>
        <p:nvSpPr>
          <p:cNvPr id="14" name="Text 10"/>
          <p:cNvSpPr txBox="1"/>
          <p:nvPr/>
        </p:nvSpPr>
        <p:spPr>
          <a:xfrm>
            <a:off x="9052560" y="310896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Modify</a:t>
            </a:r>
            <a:endParaRPr lang="en-US" sz="2200" dirty="0"/>
          </a:p>
        </p:txBody>
      </p:sp>
      <p:sp>
        <p:nvSpPr>
          <p:cNvPr id="15" name="Shape 11"/>
          <p:cNvSpPr/>
          <p:nvPr/>
        </p:nvSpPr>
        <p:spPr>
          <a:xfrm>
            <a:off x="7406640" y="4572000"/>
            <a:ext cx="4251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635240" y="466344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17" name="Text 13"/>
          <p:cNvSpPr txBox="1"/>
          <p:nvPr/>
        </p:nvSpPr>
        <p:spPr>
          <a:xfrm>
            <a:off x="9052560" y="466344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Reject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Decisions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· MODIFY · REJECT — LÝ DO GẮN PERSONA, HEURISTIC, RÀNG BUỘC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ai/ai-design-log.md mục 5 · design/design-decisions.md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63040"/>
            <a:ext cx="3611880" cy="393192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1627632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162763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01168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Giá topping cộng dồn trên nút CTA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2468880"/>
            <a:ext cx="32461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xuất: Gemini (C02)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 do: Nielsen #6 — không bắt nhẩm; P02 có ngân sách giới hạn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Áp dụng: S04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297680" y="1463040"/>
            <a:ext cx="3611880" cy="393192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80560" y="1627632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480560" y="162763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4480560" y="201168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Giữ nền cam, đổi chữ nút sang nâu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4480560" y="2468880"/>
            <a:ext cx="32461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xuất: chữ trắng trên #F69D39 (I01)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 do: WCAG 1.4.3 — đo lại 2,14:1; dùng ngoài nắng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quả: #622B14 trên #F69D39 = 5,23:1 (D06)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046720" y="1463040"/>
            <a:ext cx="3611880" cy="393192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229600" y="1627632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29600" y="162763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201168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Không thêm đăng nhập tích điểm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0" y="2468880"/>
            <a:ext cx="32461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xuất: Claude (Phụ lục A #9)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 do: A1, A3 bỏ app nếu bắt đăng ký; mục tiêu &lt; 35 giây, ≤ 8 chạm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Ngoài phạm vi Lab 2 (D12)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48640" y="5532120"/>
            <a:ext cx="11109960" cy="731520"/>
          </a:xfrm>
          <a:prstGeom prst="roundRect">
            <a:avLst>
              <a:gd name="adj" fmla="val 12500"/>
            </a:avLst>
          </a:prstGeom>
          <a:solidFill>
            <a:srgbClr val="F6E7D3"/>
          </a:solidFill>
          <a:ln w="9525">
            <a:solidFill>
              <a:srgbClr val="F6E7D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77240" y="55321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Còn: chỉ huỷ đơn trong 60 giây (D04 Modify, ràng buộc bếp) · không chuyển sang web QR (D20 Reject, ràng buộc đề bài).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Decisions — Evidence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THAY ĐỔI NHÌN THẤY TRÊN MÀN HÌNH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Figma Page 03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4173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· Giá động trên CTA (S04)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1828800"/>
            <a:ext cx="3611880" cy="438912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10" name="Text 7"/>
          <p:cNvSpPr txBox="1"/>
          <p:nvPr/>
        </p:nvSpPr>
        <p:spPr>
          <a:xfrm>
            <a:off x="640080" y="1828800"/>
            <a:ext cx="34290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Chèn ảnh Figma Page 03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(bản đã áp dụng quyết định)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297680" y="14173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· Chữ nút nâu 5,23:1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297680" y="1828800"/>
            <a:ext cx="3611880" cy="438912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4389120" y="1828800"/>
            <a:ext cx="34290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Chèn ảnh Figma Page 03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(bản đã áp dụng quyết định)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8046720" y="14173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· Không có màn đăng nhập (S02)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8046720" y="1828800"/>
            <a:ext cx="3611880" cy="438912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16" name="Text 13"/>
          <p:cNvSpPr txBox="1"/>
          <p:nvPr/>
        </p:nvSpPr>
        <p:spPr>
          <a:xfrm>
            <a:off x="8138160" y="1828800"/>
            <a:ext cx="34290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Chèn ảnh Figma Page 03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(bản đã áp dụng quyết định)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Wireframe → Final UI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 CỤC &amp; PHÂN CẤP — 4/8 MÀN CHÍNH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Figma Page 02 · Page 03 · assets/figma/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1554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S02 Trang chủ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05740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quán, gợi ý nhanh, giỏ trên app bar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2971800" y="1554480"/>
            <a:ext cx="1417320" cy="20574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12" name="Text 9"/>
          <p:cNvSpPr txBox="1"/>
          <p:nvPr/>
        </p:nvSpPr>
        <p:spPr>
          <a:xfrm>
            <a:off x="3063240" y="1554480"/>
            <a:ext cx="1234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480560" y="1554480"/>
            <a:ext cx="1417320" cy="20574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14" name="Text 11"/>
          <p:cNvSpPr txBox="1"/>
          <p:nvPr/>
        </p:nvSpPr>
        <p:spPr>
          <a:xfrm>
            <a:off x="4572000" y="1554480"/>
            <a:ext cx="1234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UI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72200" y="141732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55080" y="1554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S04 Chi tiết món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355080" y="205740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Topping checkbox 48 dp, CTA ghim đáy kèm giá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595360" y="1554480"/>
            <a:ext cx="1417320" cy="20574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19" name="Text 16"/>
          <p:cNvSpPr txBox="1"/>
          <p:nvPr/>
        </p:nvSpPr>
        <p:spPr>
          <a:xfrm>
            <a:off x="8686800" y="1554480"/>
            <a:ext cx="1234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10104120" y="1554480"/>
            <a:ext cx="1417320" cy="20574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21" name="Text 18"/>
          <p:cNvSpPr txBox="1"/>
          <p:nvPr/>
        </p:nvSpPr>
        <p:spPr>
          <a:xfrm>
            <a:off x="10195560" y="1554480"/>
            <a:ext cx="1234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UI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48640" y="3867912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31520" y="40050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S05 Giỏ hàng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731520" y="4507992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giảm giá, hẹn giờ nhận, tổng tiền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2971800" y="4005072"/>
            <a:ext cx="1417320" cy="20574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26" name="Text 23"/>
          <p:cNvSpPr txBox="1"/>
          <p:nvPr/>
        </p:nvSpPr>
        <p:spPr>
          <a:xfrm>
            <a:off x="3063240" y="4005072"/>
            <a:ext cx="1234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480560" y="4005072"/>
            <a:ext cx="1417320" cy="20574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28" name="Text 25"/>
          <p:cNvSpPr txBox="1"/>
          <p:nvPr/>
        </p:nvSpPr>
        <p:spPr>
          <a:xfrm>
            <a:off x="4572000" y="4005072"/>
            <a:ext cx="1234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UI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172200" y="3867912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355080" y="40050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S06 Thanh toán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6355080" y="4507992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 thức, dialog xác nhận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8595360" y="4005072"/>
            <a:ext cx="1417320" cy="20574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33" name="Text 30"/>
          <p:cNvSpPr txBox="1"/>
          <p:nvPr/>
        </p:nvSpPr>
        <p:spPr>
          <a:xfrm>
            <a:off x="8686800" y="4005072"/>
            <a:ext cx="1234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10104120" y="4005072"/>
            <a:ext cx="1417320" cy="20574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35" name="Text 32"/>
          <p:cNvSpPr txBox="1"/>
          <p:nvPr/>
        </p:nvSpPr>
        <p:spPr>
          <a:xfrm>
            <a:off x="10195560" y="4005072"/>
            <a:ext cx="1234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UI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Wireframe → Final UI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NHẤT QUÁN CÁC MÀN CHỨC NĂNG — 4/8 MÀN CÒN LẠI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Figma Page 02 · Page 03 · assets/figma/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1554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S01 Onboarding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05740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 trị cốt lõi, nút Bắt đầu + Bỏ qua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2971800" y="1554480"/>
            <a:ext cx="1417320" cy="20574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12" name="Text 9"/>
          <p:cNvSpPr txBox="1"/>
          <p:nvPr/>
        </p:nvSpPr>
        <p:spPr>
          <a:xfrm>
            <a:off x="3063240" y="1554480"/>
            <a:ext cx="1234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480560" y="1554480"/>
            <a:ext cx="1417320" cy="20574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14" name="Text 11"/>
          <p:cNvSpPr txBox="1"/>
          <p:nvPr/>
        </p:nvSpPr>
        <p:spPr>
          <a:xfrm>
            <a:off x="4572000" y="1554480"/>
            <a:ext cx="1234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UI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72200" y="141732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55080" y="1554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S03 Thực đơn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355080" y="205740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mục, tìm kiếm, thẻ món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595360" y="1554480"/>
            <a:ext cx="1417320" cy="20574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19" name="Text 16"/>
          <p:cNvSpPr txBox="1"/>
          <p:nvPr/>
        </p:nvSpPr>
        <p:spPr>
          <a:xfrm>
            <a:off x="8686800" y="1554480"/>
            <a:ext cx="1234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10104120" y="1554480"/>
            <a:ext cx="1417320" cy="20574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21" name="Text 18"/>
          <p:cNvSpPr txBox="1"/>
          <p:nvPr/>
        </p:nvSpPr>
        <p:spPr>
          <a:xfrm>
            <a:off x="10195560" y="1554480"/>
            <a:ext cx="1234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UI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48640" y="3867912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31520" y="40050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S07 Theo dõi đơn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731520" y="4507992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#A-204 + QR, tiến trình 4 bước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2971800" y="4005072"/>
            <a:ext cx="1417320" cy="20574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26" name="Text 23"/>
          <p:cNvSpPr txBox="1"/>
          <p:nvPr/>
        </p:nvSpPr>
        <p:spPr>
          <a:xfrm>
            <a:off x="3063240" y="4005072"/>
            <a:ext cx="1234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480560" y="4005072"/>
            <a:ext cx="1417320" cy="20574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28" name="Text 25"/>
          <p:cNvSpPr txBox="1"/>
          <p:nvPr/>
        </p:nvSpPr>
        <p:spPr>
          <a:xfrm>
            <a:off x="4572000" y="4005072"/>
            <a:ext cx="1234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UI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172200" y="3867912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355080" y="40050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S08 Lịch sử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6355080" y="4507992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Đơn cũ, Đặt lại 1 chạm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8595360" y="4005072"/>
            <a:ext cx="1417320" cy="20574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33" name="Text 30"/>
          <p:cNvSpPr txBox="1"/>
          <p:nvPr/>
        </p:nvSpPr>
        <p:spPr>
          <a:xfrm>
            <a:off x="8686800" y="4005072"/>
            <a:ext cx="1234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10104120" y="4005072"/>
            <a:ext cx="1417320" cy="20574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35" name="Text 32"/>
          <p:cNvSpPr txBox="1"/>
          <p:nvPr/>
        </p:nvSpPr>
        <p:spPr>
          <a:xfrm>
            <a:off x="10195560" y="4005072"/>
            <a:ext cx="1234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UI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States &amp; Recovery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TRẠNG THÁI HỆ THỐNG — PHẢN HỒI RÕ RÀNG VÀ CÓ HƯỚNG XỬ LÝ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Figma Page 03 (biến thể) · assets/stitch/iteration2_after, iteration3_after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2697480" cy="48463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15544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EMPTY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9202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S05 · Giỏ hàng trống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83280" y="1417320"/>
            <a:ext cx="2697480" cy="48463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383280" y="15544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LOADING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3383280" y="19202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S06 · Đang gửi đơn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417320"/>
            <a:ext cx="2697480" cy="48463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217920" y="15544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6217920" y="19202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S06-ERR · Lỗi thanh toán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052560" y="1417320"/>
            <a:ext cx="2697480" cy="48463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052560" y="15544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9052560" y="19202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S07 · Đã nhận đơn</a:t>
            </a:r>
            <a:endParaRPr lang="en-US" sz="1200" dirty="0"/>
          </a:p>
        </p:txBody>
      </p:sp>
      <p:pic>
        <p:nvPicPr>
          <p:cNvPr id="20" name="Image 0" descr="D:\Study\FPTU\Sem8\PRM323\prm393-lab2\assets\stitch\iteration2_after_empty_st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955" y="2331720"/>
            <a:ext cx="1654850" cy="3749040"/>
          </a:xfrm>
          <a:prstGeom prst="rect">
            <a:avLst/>
          </a:prstGeom>
        </p:spPr>
      </p:pic>
      <p:pic>
        <p:nvPicPr>
          <p:cNvPr id="21" name="Image 1" descr="D:\Study\FPTU\Sem8\PRM323\prm393-lab2\assets\stitch\iteration3_after_error_handl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327" y="2331720"/>
            <a:ext cx="1332667" cy="374904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3520440" y="2331720"/>
            <a:ext cx="2423160" cy="374904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23" name="Text 18"/>
          <p:cNvSpPr txBox="1"/>
          <p:nvPr/>
        </p:nvSpPr>
        <p:spPr>
          <a:xfrm>
            <a:off x="3611880" y="2331720"/>
            <a:ext cx="22402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Chèn biến thể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từ Figma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9189720" y="2331720"/>
            <a:ext cx="2423160" cy="374904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25" name="Text 20"/>
          <p:cNvSpPr txBox="1"/>
          <p:nvPr/>
        </p:nvSpPr>
        <p:spPr>
          <a:xfrm>
            <a:off x="9281160" y="2331720"/>
            <a:ext cx="22402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Chèn biến thể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từ Figma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System — Foundations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TẢNG THIẾT KẾ · FIGMA PAGE 04 (VARIABLES)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design/DESIGN.md mục 2 · 2.5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658368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TOKENS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1965960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F69D39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04088" y="2788920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04088" y="320040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#F69D39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1673352" y="1965960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622B14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600200" y="2788920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on-primary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20040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#622B14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2569464" y="1965960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B45309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496312" y="2788920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primary-text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2496312" y="320040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#B45309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465576" y="1965960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FFF5E5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392424" y="2788920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3392424" y="320040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#FFF5E5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361688" y="1965960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8A5D48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288536" y="2788920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text-secondary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4288536" y="320040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#8A5D48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257800" y="1965960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B91C1C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184648" y="2788920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5184648" y="320040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#B91C1C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153912" y="1965960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15803D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080760" y="2788920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6080760" y="320040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#15803D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7360920" y="1417320"/>
            <a:ext cx="429768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589520" y="1554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 · Nunito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7589520" y="1920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2200" dirty="0"/>
          </a:p>
        </p:txBody>
      </p:sp>
      <p:sp>
        <p:nvSpPr>
          <p:cNvPr id="34" name="Text 31"/>
          <p:cNvSpPr txBox="1"/>
          <p:nvPr/>
        </p:nvSpPr>
        <p:spPr>
          <a:xfrm>
            <a:off x="9464040" y="1920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sp · Bold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7589520" y="23957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</a:t>
            </a:r>
            <a:endParaRPr lang="en-US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9464040" y="23957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sp · Bold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7589520" y="287121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9464040" y="287121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sp · SemiBold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7589520" y="334670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9464040" y="334670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14–15 sp · Regular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548640" y="4114800"/>
            <a:ext cx="3657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77240" y="4251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SPACING · lưới 4 dp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777240" y="4983480"/>
            <a:ext cx="137160" cy="137160"/>
          </a:xfrm>
          <a:prstGeom prst="rect">
            <a:avLst/>
          </a:prstGeom>
          <a:solidFill>
            <a:srgbClr val="622B14"/>
          </a:solidFill>
          <a:ln w="12700">
            <a:solidFill>
              <a:srgbClr val="622B14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85800" y="5257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1325880" y="4937760"/>
            <a:ext cx="182880" cy="182880"/>
          </a:xfrm>
          <a:prstGeom prst="rect">
            <a:avLst/>
          </a:prstGeom>
          <a:solidFill>
            <a:srgbClr val="622B14"/>
          </a:solidFill>
          <a:ln w="12700">
            <a:solidFill>
              <a:srgbClr val="622B14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1234440" y="5257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1874520" y="4892040"/>
            <a:ext cx="228600" cy="228600"/>
          </a:xfrm>
          <a:prstGeom prst="rect">
            <a:avLst/>
          </a:prstGeom>
          <a:solidFill>
            <a:srgbClr val="622B14"/>
          </a:solidFill>
          <a:ln w="12700">
            <a:solidFill>
              <a:srgbClr val="622B14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1783080" y="5257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2423160" y="4846320"/>
            <a:ext cx="274320" cy="274320"/>
          </a:xfrm>
          <a:prstGeom prst="rect">
            <a:avLst/>
          </a:prstGeom>
          <a:solidFill>
            <a:srgbClr val="622B14"/>
          </a:solidFill>
          <a:ln w="12700">
            <a:solidFill>
              <a:srgbClr val="622B14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2331720" y="5257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2971800" y="4754880"/>
            <a:ext cx="365760" cy="365760"/>
          </a:xfrm>
          <a:prstGeom prst="rect">
            <a:avLst/>
          </a:prstGeom>
          <a:solidFill>
            <a:srgbClr val="622B14"/>
          </a:solidFill>
          <a:ln w="12700">
            <a:solidFill>
              <a:srgbClr val="622B14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2880360" y="5257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3520440" y="4663440"/>
            <a:ext cx="457200" cy="457200"/>
          </a:xfrm>
          <a:prstGeom prst="rect">
            <a:avLst/>
          </a:prstGeom>
          <a:solidFill>
            <a:srgbClr val="622B14"/>
          </a:solidFill>
          <a:ln w="12700">
            <a:solidFill>
              <a:srgbClr val="622B14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3429000" y="5257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100" dirty="0"/>
          </a:p>
        </p:txBody>
      </p:sp>
      <p:sp>
        <p:nvSpPr>
          <p:cNvPr id="55" name="Text 52"/>
          <p:cNvSpPr txBox="1"/>
          <p:nvPr/>
        </p:nvSpPr>
        <p:spPr>
          <a:xfrm>
            <a:off x="777240" y="5669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Lề màn hình 16 dp</a:t>
            </a:r>
            <a:endParaRPr lang="en-US" sz="1200" dirty="0"/>
          </a:p>
        </p:txBody>
      </p:sp>
      <p:sp>
        <p:nvSpPr>
          <p:cNvPr id="56" name="Shape 53"/>
          <p:cNvSpPr/>
          <p:nvPr/>
        </p:nvSpPr>
        <p:spPr>
          <a:xfrm>
            <a:off x="4389120" y="4114800"/>
            <a:ext cx="3657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4617720" y="4251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RADIUS</a:t>
            </a:r>
            <a:endParaRPr lang="en-US" sz="1200" dirty="0"/>
          </a:p>
        </p:txBody>
      </p:sp>
      <p:sp>
        <p:nvSpPr>
          <p:cNvPr id="58" name="Shape 55"/>
          <p:cNvSpPr/>
          <p:nvPr/>
        </p:nvSpPr>
        <p:spPr>
          <a:xfrm>
            <a:off x="4617720" y="470916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F6E7D3"/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4572000" y="54864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dp</a:t>
            </a:r>
            <a:endParaRPr lang="en-US" sz="1100" dirty="0"/>
          </a:p>
        </p:txBody>
      </p:sp>
      <p:sp>
        <p:nvSpPr>
          <p:cNvPr id="60" name="Shape 57"/>
          <p:cNvSpPr/>
          <p:nvPr/>
        </p:nvSpPr>
        <p:spPr>
          <a:xfrm>
            <a:off x="5440680" y="470916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F6E7D3"/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5394960" y="54864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dp</a:t>
            </a:r>
            <a:endParaRPr lang="en-US" sz="1100" dirty="0"/>
          </a:p>
        </p:txBody>
      </p:sp>
      <p:sp>
        <p:nvSpPr>
          <p:cNvPr id="62" name="Shape 59"/>
          <p:cNvSpPr/>
          <p:nvPr/>
        </p:nvSpPr>
        <p:spPr>
          <a:xfrm>
            <a:off x="6263640" y="4709160"/>
            <a:ext cx="685800" cy="685800"/>
          </a:xfrm>
          <a:prstGeom prst="roundRect">
            <a:avLst>
              <a:gd name="adj" fmla="val 26667"/>
            </a:avLst>
          </a:prstGeom>
          <a:solidFill>
            <a:srgbClr val="F6E7D3"/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6217920" y="54864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dp</a:t>
            </a:r>
            <a:endParaRPr lang="en-US" sz="1100" dirty="0"/>
          </a:p>
        </p:txBody>
      </p:sp>
      <p:sp>
        <p:nvSpPr>
          <p:cNvPr id="64" name="Shape 61"/>
          <p:cNvSpPr/>
          <p:nvPr/>
        </p:nvSpPr>
        <p:spPr>
          <a:xfrm>
            <a:off x="7086600" y="4709160"/>
            <a:ext cx="685800" cy="685800"/>
          </a:xfrm>
          <a:prstGeom prst="roundRect">
            <a:avLst>
              <a:gd name="adj" fmla="val 40000"/>
            </a:avLst>
          </a:prstGeom>
          <a:solidFill>
            <a:srgbClr val="F6E7D3"/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7040880" y="54864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dp</a:t>
            </a:r>
            <a:endParaRPr lang="en-US" sz="1100" dirty="0"/>
          </a:p>
        </p:txBody>
      </p:sp>
      <p:sp>
        <p:nvSpPr>
          <p:cNvPr id="66" name="Shape 63"/>
          <p:cNvSpPr/>
          <p:nvPr/>
        </p:nvSpPr>
        <p:spPr>
          <a:xfrm>
            <a:off x="8229600" y="4114800"/>
            <a:ext cx="34290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8458200" y="4251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ELEVATION &amp; SIZE</a:t>
            </a:r>
            <a:endParaRPr lang="en-US" sz="1200" dirty="0"/>
          </a:p>
        </p:txBody>
      </p:sp>
      <p:sp>
        <p:nvSpPr>
          <p:cNvPr id="68" name="Text 65"/>
          <p:cNvSpPr txBox="1"/>
          <p:nvPr/>
        </p:nvSpPr>
        <p:spPr>
          <a:xfrm>
            <a:off x="8458200" y="461772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Elevation 1 · card, app bar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Elevation 2 · CTA ghim, bottom nav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Elevation 3 · dialog, toast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Vùng chạm ≥ 48 dp · CTA 52 dp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System — Components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COMPONENT BẮT BUỘC · VARIANTS / INSTANCES · FIGMA PAGE 05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Figma Page 05 · handoff/flutter-handoff.md mục 1.2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5120640" cy="457200"/>
          </a:xfrm>
          <a:prstGeom prst="roundRect">
            <a:avLst>
              <a:gd name="adj" fmla="val 20000"/>
            </a:avLst>
          </a:prstGeom>
          <a:solidFill>
            <a:srgbClr val="FFF5E5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1417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2240280" y="1417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· pressed · disabled · loading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1947672"/>
            <a:ext cx="51206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194767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field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2240280" y="19476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· focused · filled · error · disabled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2478024"/>
            <a:ext cx="5120640" cy="457200"/>
          </a:xfrm>
          <a:prstGeom prst="roundRect">
            <a:avLst>
              <a:gd name="adj" fmla="val 20000"/>
            </a:avLst>
          </a:prstGeom>
          <a:solidFill>
            <a:srgbClr val="FFF5E5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247802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2240280" y="247802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· pressed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48640" y="3008376"/>
            <a:ext cx="51206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300837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2240280" y="300837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tab, mỗi tab ở trạng thái chọn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48640" y="3538728"/>
            <a:ext cx="5120640" cy="457200"/>
          </a:xfrm>
          <a:prstGeom prst="roundRect">
            <a:avLst>
              <a:gd name="adj" fmla="val 20000"/>
            </a:avLst>
          </a:prstGeom>
          <a:solidFill>
            <a:srgbClr val="FFF5E5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31520" y="353872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bar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2240280" y="35387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· có action (giỏ hàng)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548640" y="4069080"/>
            <a:ext cx="51206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31520" y="4069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</a:t>
            </a:r>
            <a:endParaRPr lang="en-US" sz="1350" dirty="0"/>
          </a:p>
        </p:txBody>
      </p:sp>
      <p:sp>
        <p:nvSpPr>
          <p:cNvPr id="25" name="Text 22"/>
          <p:cNvSpPr txBox="1"/>
          <p:nvPr/>
        </p:nvSpPr>
        <p:spPr>
          <a:xfrm>
            <a:off x="2240280" y="40690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nhận · destructive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548640" y="4599432"/>
            <a:ext cx="5120640" cy="457200"/>
          </a:xfrm>
          <a:prstGeom prst="roundRect">
            <a:avLst>
              <a:gd name="adj" fmla="val 20000"/>
            </a:avLst>
          </a:prstGeom>
          <a:solidFill>
            <a:srgbClr val="FFF5E5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31520" y="459943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</a:t>
            </a:r>
            <a:endParaRPr lang="en-US" sz="1350" dirty="0"/>
          </a:p>
        </p:txBody>
      </p:sp>
      <p:sp>
        <p:nvSpPr>
          <p:cNvPr id="28" name="Text 25"/>
          <p:cNvSpPr txBox="1"/>
          <p:nvPr/>
        </p:nvSpPr>
        <p:spPr>
          <a:xfrm>
            <a:off x="2240280" y="459943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· spinner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548640" y="5129784"/>
            <a:ext cx="51206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31520" y="512978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</a:t>
            </a:r>
            <a:endParaRPr lang="en-US" sz="1350" dirty="0"/>
          </a:p>
        </p:txBody>
      </p:sp>
      <p:sp>
        <p:nvSpPr>
          <p:cNvPr id="31" name="Text 28"/>
          <p:cNvSpPr txBox="1"/>
          <p:nvPr/>
        </p:nvSpPr>
        <p:spPr>
          <a:xfrm>
            <a:off x="2240280" y="512978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 + câu + 1 hành động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548640" y="5660136"/>
            <a:ext cx="5120640" cy="457200"/>
          </a:xfrm>
          <a:prstGeom prst="roundRect">
            <a:avLst>
              <a:gd name="adj" fmla="val 20000"/>
            </a:avLst>
          </a:prstGeom>
          <a:solidFill>
            <a:srgbClr val="FFF5E5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31520" y="566013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350" dirty="0"/>
          </a:p>
        </p:txBody>
      </p:sp>
      <p:sp>
        <p:nvSpPr>
          <p:cNvPr id="34" name="Text 31"/>
          <p:cNvSpPr txBox="1"/>
          <p:nvPr/>
        </p:nvSpPr>
        <p:spPr>
          <a:xfrm>
            <a:off x="2240280" y="566013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 báo + nguyên nhân + Thử lại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5943600" y="1417320"/>
            <a:ext cx="571500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36" name="Text 33"/>
          <p:cNvSpPr txBox="1"/>
          <p:nvPr/>
        </p:nvSpPr>
        <p:spPr>
          <a:xfrm>
            <a:off x="6035040" y="1417320"/>
            <a:ext cx="5532120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Chèn ảnh Figma Page 05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(Button variants, Text field states, Navigation bar)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Accessibility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· READABILITY · TOUCH TARGET — WCAG 2.2 AA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design/design-decisions.md mục 2.1 · design/DESIGN.md mục 2.5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630936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55448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— đo bằng công thức WCAG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1965960"/>
            <a:ext cx="5852160" cy="868680"/>
          </a:xfrm>
          <a:prstGeom prst="roundRect">
            <a:avLst>
              <a:gd name="adj" fmla="val 10526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14400" y="196596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10,37:1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2423160" y="19659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Chữ chính #622B14 / nền #FFF5E5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77240" y="2990088"/>
            <a:ext cx="5852160" cy="868680"/>
          </a:xfrm>
          <a:prstGeom prst="roundRect">
            <a:avLst>
              <a:gd name="adj" fmla="val 10526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4400" y="2990088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5,23:1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2423160" y="2990088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Chữ nút #622B14 / cam #F69D39 (trước: trắng 2,14:1)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77240" y="4014216"/>
            <a:ext cx="5852160" cy="868680"/>
          </a:xfrm>
          <a:prstGeom prst="roundRect">
            <a:avLst>
              <a:gd name="adj" fmla="val 10526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14400" y="4014216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5,2:1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2423160" y="4014216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Chữ phụ #8A5D48 (trước: #966A55 4,33:1)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77240" y="5038344"/>
            <a:ext cx="5852160" cy="868680"/>
          </a:xfrm>
          <a:prstGeom prst="roundRect">
            <a:avLst>
              <a:gd name="adj" fmla="val 10526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14400" y="5038344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3,93:1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2423160" y="5038344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Viền ô nhập #8A7A70 / #FFF9F0 (ngưỡng 3:1)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7086600" y="1417320"/>
            <a:ext cx="4572000" cy="4800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315200" y="1554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READABILITY &amp; TOUCH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315200" y="1965960"/>
            <a:ext cx="4114800" cy="868680"/>
          </a:xfrm>
          <a:prstGeom prst="roundRect">
            <a:avLst>
              <a:gd name="adj" fmla="val 10526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452360" y="196596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14 sp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8686800" y="196596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Chữ nội dung (D15 nâng chữ phụ)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7315200" y="2990088"/>
            <a:ext cx="4114800" cy="868680"/>
          </a:xfrm>
          <a:prstGeom prst="roundRect">
            <a:avLst>
              <a:gd name="adj" fmla="val 10526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452360" y="2990088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48 dp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8686800" y="2990088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Vùng chạm; nút +/- sửa ở D13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7315200" y="4014216"/>
            <a:ext cx="4114800" cy="868680"/>
          </a:xfrm>
          <a:prstGeom prst="roundRect">
            <a:avLst>
              <a:gd name="adj" fmla="val 10526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452360" y="4014216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 + chữ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8686800" y="4014216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Trạng thái không chỉ dùng màu (WCAG 1.4.1)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7315200" y="5038344"/>
            <a:ext cx="4114800" cy="868680"/>
          </a:xfrm>
          <a:prstGeom prst="roundRect">
            <a:avLst>
              <a:gd name="adj" fmla="val 10526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452360" y="5038344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Ngưỡng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8686800" y="5038344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Chữ 14–15 sp đậm vẫn cần 4,5:1 — chữ lớn phải ≥ 18,7 px đậm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Responsive — 360 dp vs 412 dp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MÀN DÀI ĐƯỢC DỰNG LẠI Ở 412 DP · AUTO LAYOUT + FILL CONTAINER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Figma Page 03 · assets/figma/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3611880" cy="48006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S02 Trang chủ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31520" y="2011680"/>
            <a:ext cx="1508760" cy="36576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11" name="Text 8"/>
          <p:cNvSpPr txBox="1"/>
          <p:nvPr/>
        </p:nvSpPr>
        <p:spPr>
          <a:xfrm>
            <a:off x="822960" y="2011680"/>
            <a:ext cx="1325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 dp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423160" y="2011680"/>
            <a:ext cx="1554480" cy="36576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2514600" y="2011680"/>
            <a:ext cx="1371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412 dp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297680" y="1417320"/>
            <a:ext cx="3611880" cy="48006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48056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S04 Chi tiết món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480560" y="2011680"/>
            <a:ext cx="1508760" cy="36576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17" name="Text 14"/>
          <p:cNvSpPr txBox="1"/>
          <p:nvPr/>
        </p:nvSpPr>
        <p:spPr>
          <a:xfrm>
            <a:off x="4572000" y="2011680"/>
            <a:ext cx="1325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 dp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172200" y="2011680"/>
            <a:ext cx="1554480" cy="36576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19" name="Text 16"/>
          <p:cNvSpPr txBox="1"/>
          <p:nvPr/>
        </p:nvSpPr>
        <p:spPr>
          <a:xfrm>
            <a:off x="6263640" y="2011680"/>
            <a:ext cx="1371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412 dp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046720" y="1417320"/>
            <a:ext cx="3611880" cy="48006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2960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S05 Giỏ hàng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8229600" y="2011680"/>
            <a:ext cx="1508760" cy="36576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23" name="Text 20"/>
          <p:cNvSpPr txBox="1"/>
          <p:nvPr/>
        </p:nvSpPr>
        <p:spPr>
          <a:xfrm>
            <a:off x="8321040" y="2011680"/>
            <a:ext cx="1325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 dp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9921240" y="2011680"/>
            <a:ext cx="1554480" cy="36576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25" name="Text 22"/>
          <p:cNvSpPr txBox="1"/>
          <p:nvPr/>
        </p:nvSpPr>
        <p:spPr>
          <a:xfrm>
            <a:off x="10012680" y="2011680"/>
            <a:ext cx="1371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412 dp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Prototype — 3 Main Flows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PAGE 06 · ĐIỂM BẮT ĐẦU + HÀNH ĐỘNG + KẾT QUẢ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Figma Page 06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361188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160020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16002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1031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Đặt nhanh, nhận tại quầy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260604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S02 → S04 → S05 → S06 → dialog → loading → S07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34747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Bấm combo, chọn topping, hẹn giờ, trả tiền mặt, nhận mã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45262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TRỰC TIẾP · Figma Present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297680" y="1417320"/>
            <a:ext cx="361188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80560" y="160020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480560" y="16002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2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480560" y="21031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Tuỳ chỉnh &amp; mã giảm giá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4480560" y="260604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S03 → S04 → S05 (mã sai → đúng) → S06 → S07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4480560" y="34747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Mức cay, 2 topping, nhập FTASV20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4480560" y="45262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TRỰC TIẾP · Figma Present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046720" y="1417320"/>
            <a:ext cx="361188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229600" y="160020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29600" y="16002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3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8229600" y="21031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Lỗi thanh toán &amp; phục hồi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8229600" y="260604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S06 → loading → S06-ERR → Thử lại / Tiền mặt → S07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8229600" y="34747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Giỏ hàng được giữ, không ngõ cụt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8229600" y="45262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TRỰC TIẾP · Figma Present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48640" y="5166360"/>
            <a:ext cx="11109960" cy="1051560"/>
          </a:xfrm>
          <a:prstGeom prst="roundRect">
            <a:avLst>
              <a:gd name="adj" fmla="val 8696"/>
            </a:avLst>
          </a:prstGeom>
          <a:solidFill>
            <a:srgbClr val="FFF5E5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77240" y="516636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Phải thấy khi demo  </a:t>
            </a:r>
            <a:pPr algn="l" indent="0" marL="0">
              <a:buNone/>
            </a:pPr>
            <a:r>
              <a:rPr lang="en-US" sz="15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starting point riêng · dialog overlay · loading → kết quả · Back đúng · không ngõ cụt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Prototype — Error &amp; Recovery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NHÁNH CẦN DEMO THẬT, KHÔNG CHỈ TRÌNH ẢNH TĨNH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Figma Page 06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3611880" cy="48006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15544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 2 · Mã giảm giá sai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143000" y="2148840"/>
            <a:ext cx="2423160" cy="283464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11" name="Text 8"/>
          <p:cNvSpPr txBox="1"/>
          <p:nvPr/>
        </p:nvSpPr>
        <p:spPr>
          <a:xfrm>
            <a:off x="1234440" y="2148840"/>
            <a:ext cx="2240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Chèn ảnh màn lỗi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Figma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50749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S05: viền đỏ + icon + lý do "Mã chỉ áp dụng cho đơn từ 40.000đ" → nhập lại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297680" y="1417320"/>
            <a:ext cx="3611880" cy="48006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480560" y="15544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 3 · Thanh toán timeout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892040" y="2148840"/>
            <a:ext cx="2423160" cy="283464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16" name="Text 13"/>
          <p:cNvSpPr txBox="1"/>
          <p:nvPr/>
        </p:nvSpPr>
        <p:spPr>
          <a:xfrm>
            <a:off x="4983480" y="2148840"/>
            <a:ext cx="2240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Chèn ảnh màn lỗi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Figma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480560" y="50749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S06 → loading → S06-ERR "Giỏ hàng của bạn vẫn được giữ" → Thử lại / Tiền mặt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046720" y="1417320"/>
            <a:ext cx="3611880" cy="48006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29600" y="15544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Huỷ đơn · trong 60 giây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8641080" y="2148840"/>
            <a:ext cx="2423160" cy="283464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21" name="Text 18"/>
          <p:cNvSpPr txBox="1"/>
          <p:nvPr/>
        </p:nvSpPr>
        <p:spPr>
          <a:xfrm>
            <a:off x="8732520" y="2148840"/>
            <a:ext cx="2240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Chèn ảnh màn lỗi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Figma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0" y="50749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S07: dialog xác nhận destructive → huỷ; sau 60 giây nút ẩn (D04)</a:t>
            </a:r>
            <a:endParaRPr lang="en-US" sz="1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Flutter Handoff — Token → Widget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DESIGN/DESIGN.MD + FIGMA 04/05 → HANDOFF/FLUTTER-HANDOFF.MD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handoff/flutter-handoff.md mục 1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539496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554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DESIGN TOKENS → THEME</a:t>
            </a:r>
            <a:endParaRPr lang="en-US" sz="12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965960"/>
          <a:ext cx="49377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5603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2B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Flutter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2B1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color-primary #F69D39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ColorScheme.primary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color-on-primary #622B14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ColorScheme.onPrimary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color-error #B91C1C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ColorScheme.error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type-body-medium 14 sp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TextTheme.bodyMedium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spacing-md 16 dp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EdgeInsets.all(16)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radius-lg 16 dp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BorderRadius.circular(16)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263640" y="1417320"/>
            <a:ext cx="539496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492240" y="1554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FIGMA COMPONENT → FLUTTER WIDGET</a:t>
            </a:r>
            <a:endParaRPr lang="en-US" sz="1200" dirty="0"/>
          </a:p>
        </p:txBody>
      </p:sp>
      <p:graphicFrame>
        <p:nvGraphicFramePr>
          <p:cNvPr id="6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965960"/>
          <a:ext cx="49377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9260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2B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2B1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Button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FilledButton / OutlinedButton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field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TextFormField + validator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 + InkWell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Navigation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NavigationBar (&lt; 600 dp) / Rail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Dialog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AlertDialog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Loading / Empty / Error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Shimmer + state widgets + retry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Flutter Handoff — Đặc tả &amp; giới hạn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MÀN × 6 MỤC · PHẠM VI THIẾT KẾ, KHÔNG VIẾT CODE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handoff/flutter-handoff.md mục 2–3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576072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5544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MỖI MÀN — 6 MỤC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1965960"/>
            <a:ext cx="5303520" cy="566928"/>
          </a:xfrm>
          <a:prstGeom prst="roundRect">
            <a:avLst>
              <a:gd name="adj" fmla="val 16129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14400" y="1965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417320" y="196596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2926080" y="196596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· AppBar · phần cuộn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77240" y="2651760"/>
            <a:ext cx="5303520" cy="566928"/>
          </a:xfrm>
          <a:prstGeom prst="roundRect">
            <a:avLst>
              <a:gd name="adj" fmla="val 16129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4400" y="26517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417320" y="265176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2926080" y="265176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Figma → widget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77240" y="3337560"/>
            <a:ext cx="5303520" cy="566928"/>
          </a:xfrm>
          <a:prstGeom prst="roundRect">
            <a:avLst>
              <a:gd name="adj" fmla="val 16129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14400" y="33375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417320" y="333756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2926080" y="333756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· Loading · Empty · Error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777240" y="4023360"/>
            <a:ext cx="5303520" cy="566928"/>
          </a:xfrm>
          <a:prstGeom prst="roundRect">
            <a:avLst>
              <a:gd name="adj" fmla="val 16129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14400" y="40233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417320" y="402336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Interactions</a:t>
            </a:r>
            <a:endParaRPr lang="en-US" sz="1350" dirty="0"/>
          </a:p>
        </p:txBody>
      </p:sp>
      <p:sp>
        <p:nvSpPr>
          <p:cNvPr id="25" name="Text 22"/>
          <p:cNvSpPr txBox="1"/>
          <p:nvPr/>
        </p:nvSpPr>
        <p:spPr>
          <a:xfrm>
            <a:off x="2926080" y="402336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Validate, snackbar, giá động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777240" y="4709160"/>
            <a:ext cx="5303520" cy="566928"/>
          </a:xfrm>
          <a:prstGeom prst="roundRect">
            <a:avLst>
              <a:gd name="adj" fmla="val 16129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14400" y="47091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1417320" y="470916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350" dirty="0"/>
          </a:p>
        </p:txBody>
      </p:sp>
      <p:sp>
        <p:nvSpPr>
          <p:cNvPr id="29" name="Text 26"/>
          <p:cNvSpPr txBox="1"/>
          <p:nvPr/>
        </p:nvSpPr>
        <p:spPr>
          <a:xfrm>
            <a:off x="2926080" y="470916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Đến từ đâu, Back về đâu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777240" y="5394960"/>
            <a:ext cx="5303520" cy="566928"/>
          </a:xfrm>
          <a:prstGeom prst="roundRect">
            <a:avLst>
              <a:gd name="adj" fmla="val 16129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14400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1417320" y="539496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350" dirty="0"/>
          </a:p>
        </p:txBody>
      </p:sp>
      <p:sp>
        <p:nvSpPr>
          <p:cNvPr id="33" name="Text 30"/>
          <p:cNvSpPr txBox="1"/>
          <p:nvPr/>
        </p:nvSpPr>
        <p:spPr>
          <a:xfrm>
            <a:off x="2926080" y="539496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dp, bàn phím, chữ dài, ≥ 600 dp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6537960" y="1417320"/>
            <a:ext cx="512064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720840" y="158191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Sẵn sàng bàn giao</a:t>
            </a:r>
            <a:endParaRPr lang="en-US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6720840" y="2039112"/>
            <a:ext cx="475488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+ 2 bảng mapping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mục cho cả 8 màn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Hành vi màn ≥ 600 dp: NavigationRail, lưới 2–3 cột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6537960" y="3794760"/>
            <a:ext cx="512064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720840" y="395935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Tồn tại / cần làm tiếp</a:t>
            </a:r>
            <a:endParaRPr lang="en-US" sz="1600" dirty="0"/>
          </a:p>
        </p:txBody>
      </p:sp>
      <p:sp>
        <p:nvSpPr>
          <p:cNvPr id="39" name="Text 36"/>
          <p:cNvSpPr txBox="1"/>
          <p:nvPr/>
        </p:nvSpPr>
        <p:spPr>
          <a:xfrm>
            <a:off x="6720840" y="4416552"/>
            <a:ext cx="475488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phỏng vấn người thật — persona là proto-persona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usability test Flow 1 (&lt; 35 giây)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trước/sau Stitch và PNG Figma cần chụp lại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347472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109960" cy="1371600"/>
          </a:xfrm>
          <a:prstGeom prst="roundRect">
            <a:avLst>
              <a:gd name="adj" fmla="val 6667"/>
            </a:avLst>
          </a:prstGeom>
          <a:solidFill>
            <a:srgbClr val="622B14"/>
          </a:solidFill>
          <a:ln w="9525">
            <a:solidFill>
              <a:srgbClr val="622B1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4173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Ăn kịp giờ nghỉ — không phải xếp hàng.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031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3E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BreakBite giúp sinh viên đặt trước và lấy món tại quầy trong 15 phút giữa hai slot.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544068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3136392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giúp mình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593592"/>
            <a:ext cx="5074920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UI ban đầu nhanh (Stitch)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phỏng phỏng vấn để tạo giả thuyết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Phản biện theo Nielsen, WCAG, persona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log, tổng hợp đánh giá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2971800"/>
            <a:ext cx="544068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3136392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Mình vẫn phải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3593592"/>
            <a:ext cx="5074920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định vấn đề, chọn persona có lý do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đo lại — AI nói sai tương phản 2,14:1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Quyết định Accept / Modify / Reject (2 lần Reject)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rõ giới hạn: chưa có người dùng thật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622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774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Cảm ơn thầy và các bạn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3832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0C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Hỏi đáp · Demo Figma Present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BreakBite — PRM323 Lab 2</dc:title>
  <dc:subject>PptxGenJS Presentation</dc:subject>
  <dc:creator>PptxGenJS</dc:creator>
  <cp:lastModifiedBy>PptxGenJS</cp:lastModifiedBy>
  <cp:revision>1</cp:revision>
  <dcterms:created xsi:type="dcterms:W3CDTF">2026-10-19T12:54:40Z</dcterms:created>
  <dcterms:modified xsi:type="dcterms:W3CDTF">2026-10-19T12:54:40Z</dcterms:modified>
</cp:coreProperties>
</file>